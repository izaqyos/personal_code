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41"/>
    <p:restoredTop sz="94618"/>
  </p:normalViewPr>
  <p:slideViewPr>
    <p:cSldViewPr snapToGrid="0">
      <p:cViewPr varScale="1">
        <p:scale>
          <a:sx n="210" d="100"/>
          <a:sy n="210" d="100"/>
        </p:scale>
        <p:origin x="11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B205E-EAE8-35FB-6186-3B08FF179B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815A08AA-C80A-D32B-36BE-98CCEBE47E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BF279828-12B5-C208-21C0-147CA22832D9}"/>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5" name="Footer Placeholder 4">
            <a:extLst>
              <a:ext uri="{FF2B5EF4-FFF2-40B4-BE49-F238E27FC236}">
                <a16:creationId xmlns:a16="http://schemas.microsoft.com/office/drawing/2014/main" id="{663CBA16-E5BC-8230-E324-FC8AE3A7799C}"/>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E1C2A66-8FB4-0441-880E-0CAD656BF2A7}"/>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2565932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237FE-3D7B-C4C9-01B5-E5A4A4D6D60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F0B02CF5-BDD2-43CB-5664-B04F633CD5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D975700-3E4A-9AF1-3375-AC5B80F893EA}"/>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5" name="Footer Placeholder 4">
            <a:extLst>
              <a:ext uri="{FF2B5EF4-FFF2-40B4-BE49-F238E27FC236}">
                <a16:creationId xmlns:a16="http://schemas.microsoft.com/office/drawing/2014/main" id="{4B22DEDD-9667-3264-39D1-23E0B8E9D9A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4DD89CB-3064-1C0D-F037-A313795F07D1}"/>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630297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A52A8-4790-0D09-FD4E-75F6DF0ED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705A37B3-DBC7-887F-FFD4-7F49F6F161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2D336C-955E-DEF3-68BB-09FFBE06C459}"/>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5" name="Footer Placeholder 4">
            <a:extLst>
              <a:ext uri="{FF2B5EF4-FFF2-40B4-BE49-F238E27FC236}">
                <a16:creationId xmlns:a16="http://schemas.microsoft.com/office/drawing/2014/main" id="{EE092642-1B43-230E-F333-FAE7093BE15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251C3F1-4047-4A7A-1BF0-FBBBACEB4EBB}"/>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969524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098A-8D9A-8485-FB1F-B068AEE5F32C}"/>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8BABF59A-61EF-4436-6AF0-C48A069379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25E9725-D3D0-0312-3CAD-E3AC8445E5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488A1143-52CE-BE6B-7F6E-F7C35716D93F}"/>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6" name="Footer Placeholder 5">
            <a:extLst>
              <a:ext uri="{FF2B5EF4-FFF2-40B4-BE49-F238E27FC236}">
                <a16:creationId xmlns:a16="http://schemas.microsoft.com/office/drawing/2014/main" id="{EC5CC8D7-60CF-4C5F-9592-B80AFCE1E28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2451F10-820A-D1B8-9825-B0A08E460F41}"/>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2886438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1D258-ADD3-67A0-A217-DA66212175DA}"/>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C76EE73B-740E-7417-5676-CCEE76D4E9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BA5701-7320-8FC1-3F16-6F837A44E0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1F42F207-F6AA-0A1A-B78C-77ADEE1951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AFEB8A-308A-455A-2C42-55BB0F226C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AABD8C5C-AAB6-AF63-9343-80E2F1AF28C9}"/>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8" name="Footer Placeholder 7">
            <a:extLst>
              <a:ext uri="{FF2B5EF4-FFF2-40B4-BE49-F238E27FC236}">
                <a16:creationId xmlns:a16="http://schemas.microsoft.com/office/drawing/2014/main" id="{5DD185B4-1F0D-25D8-3CE3-04061712333B}"/>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9BB36542-4095-A569-F62D-21814249A083}"/>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3018660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021DC-143B-D415-A1CB-721C2A4109F5}"/>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CF6CB8FE-B868-6F25-9CBD-B5F916700C86}"/>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4" name="Footer Placeholder 3">
            <a:extLst>
              <a:ext uri="{FF2B5EF4-FFF2-40B4-BE49-F238E27FC236}">
                <a16:creationId xmlns:a16="http://schemas.microsoft.com/office/drawing/2014/main" id="{12B4933C-99A8-708F-8398-BE7A6A5039D9}"/>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7A80730B-B7C4-9E09-21B0-8CAFBF26B3DE}"/>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891820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50361F-3F99-4DFD-44F9-C6C65F49B96E}"/>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3" name="Footer Placeholder 2">
            <a:extLst>
              <a:ext uri="{FF2B5EF4-FFF2-40B4-BE49-F238E27FC236}">
                <a16:creationId xmlns:a16="http://schemas.microsoft.com/office/drawing/2014/main" id="{8B98F721-9F8B-F46A-8207-9D33F0A8B124}"/>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3E072BA9-FA4E-1390-6C7A-A65A601683F6}"/>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1924236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D6FC6-E608-928B-17EE-632FA0C61B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AC08F878-8962-3F57-EF93-045DCFB2C0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80D2D407-78C6-D07C-A2D6-995DE3BD07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5E5CDD-4C3F-1C85-A8FE-CDA768F4E7BE}"/>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6" name="Footer Placeholder 5">
            <a:extLst>
              <a:ext uri="{FF2B5EF4-FFF2-40B4-BE49-F238E27FC236}">
                <a16:creationId xmlns:a16="http://schemas.microsoft.com/office/drawing/2014/main" id="{8847C6E7-34EE-1A71-DB26-54CB8A8B9D9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2995C2E1-4742-F8A5-62EF-490DA94F7365}"/>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2141195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B1AB-7AE8-D9A4-7574-5C16985B14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3B9BAA35-BC18-3E32-C5BC-84D868EF53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4914C8A3-D179-1BA9-E70D-ED4EDA179D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CE0DEE-D517-9425-D6EE-8DEF6F9DD5DF}"/>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6" name="Footer Placeholder 5">
            <a:extLst>
              <a:ext uri="{FF2B5EF4-FFF2-40B4-BE49-F238E27FC236}">
                <a16:creationId xmlns:a16="http://schemas.microsoft.com/office/drawing/2014/main" id="{848AD052-28C1-AF7E-7FB3-4CB62BC42F0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1BE2708E-94AA-1E9F-FE8A-D9CD1D3C74B3}"/>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2952876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BB7F4-803B-67C6-4941-CDF4E905A52C}"/>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F3E01C24-7A6A-CB7B-10DD-9B3B2CA0FD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7A5195C-EE19-5187-311F-7F93D914531B}"/>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5" name="Footer Placeholder 4">
            <a:extLst>
              <a:ext uri="{FF2B5EF4-FFF2-40B4-BE49-F238E27FC236}">
                <a16:creationId xmlns:a16="http://schemas.microsoft.com/office/drawing/2014/main" id="{1A8A6BC9-C7FF-89E9-3C3E-24495786AF8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60D2EF4-4A2B-3ADD-955C-624533648A8A}"/>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1322543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227E00-68FA-F25C-3E7C-842FCFBEF4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49E6568-8BCF-B38F-9A13-5FC02077B0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3FF7ADA-4B41-3760-CE34-99F9A6C89E5F}"/>
              </a:ext>
            </a:extLst>
          </p:cNvPr>
          <p:cNvSpPr>
            <a:spLocks noGrp="1"/>
          </p:cNvSpPr>
          <p:nvPr>
            <p:ph type="dt" sz="half" idx="10"/>
          </p:nvPr>
        </p:nvSpPr>
        <p:spPr/>
        <p:txBody>
          <a:bodyPr/>
          <a:lstStyle/>
          <a:p>
            <a:fld id="{0D35037B-CDC6-7F48-B318-F573BFD47C49}" type="datetimeFigureOut">
              <a:rPr lang="en-IL" smtClean="0"/>
              <a:t>13/10/2024</a:t>
            </a:fld>
            <a:endParaRPr lang="en-IL"/>
          </a:p>
        </p:txBody>
      </p:sp>
      <p:sp>
        <p:nvSpPr>
          <p:cNvPr id="5" name="Footer Placeholder 4">
            <a:extLst>
              <a:ext uri="{FF2B5EF4-FFF2-40B4-BE49-F238E27FC236}">
                <a16:creationId xmlns:a16="http://schemas.microsoft.com/office/drawing/2014/main" id="{3E780B2C-BCEF-9D32-1350-BF8593B79DC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6F064D4-9E29-46AC-1185-A4F63D7EAC85}"/>
              </a:ext>
            </a:extLst>
          </p:cNvPr>
          <p:cNvSpPr>
            <a:spLocks noGrp="1"/>
          </p:cNvSpPr>
          <p:nvPr>
            <p:ph type="sldNum" sz="quarter" idx="12"/>
          </p:nvPr>
        </p:nvSpPr>
        <p:spPr/>
        <p:txBody>
          <a:bodyPr/>
          <a:lstStyle/>
          <a:p>
            <a:fld id="{52664BED-6D19-AE4B-8A79-6464D8F3BD39}" type="slidenum">
              <a:rPr lang="en-IL" smtClean="0"/>
              <a:t>‹#›</a:t>
            </a:fld>
            <a:endParaRPr lang="en-IL"/>
          </a:p>
        </p:txBody>
      </p:sp>
    </p:spTree>
    <p:extLst>
      <p:ext uri="{BB962C8B-B14F-4D97-AF65-F5344CB8AC3E}">
        <p14:creationId xmlns:p14="http://schemas.microsoft.com/office/powerpoint/2010/main" val="3173723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0D0363-6399-53D4-6E09-D79BBD5565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76E4423E-15C5-0FD7-6BDD-F9F1942A8A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54DED6A-A06E-AB59-E411-E6815AC1FC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35037B-CDC6-7F48-B318-F573BFD47C49}" type="datetimeFigureOut">
              <a:rPr lang="en-IL" smtClean="0"/>
              <a:t>13/10/2024</a:t>
            </a:fld>
            <a:endParaRPr lang="en-IL"/>
          </a:p>
        </p:txBody>
      </p:sp>
      <p:sp>
        <p:nvSpPr>
          <p:cNvPr id="5" name="Footer Placeholder 4">
            <a:extLst>
              <a:ext uri="{FF2B5EF4-FFF2-40B4-BE49-F238E27FC236}">
                <a16:creationId xmlns:a16="http://schemas.microsoft.com/office/drawing/2014/main" id="{95A7A684-9CE3-B48B-F3D9-EDAA0C8B83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65C30DD8-EE10-46AD-F717-3818716CCB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664BED-6D19-AE4B-8A79-6464D8F3BD39}" type="slidenum">
              <a:rPr lang="en-IL" smtClean="0"/>
              <a:t>‹#›</a:t>
            </a:fld>
            <a:endParaRPr lang="en-IL"/>
          </a:p>
        </p:txBody>
      </p:sp>
    </p:spTree>
    <p:extLst>
      <p:ext uri="{BB962C8B-B14F-4D97-AF65-F5344CB8AC3E}">
        <p14:creationId xmlns:p14="http://schemas.microsoft.com/office/powerpoint/2010/main" val="4197323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thedomaindrivendesign.io/big-ball-of-mud/"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linkedin.com/pulse/shift-back-monolithic-architectures-perspective-adi-inbar/" TargetMode="External"/><Relationship Id="rId2" Type="http://schemas.openxmlformats.org/officeDocument/2006/relationships/hyperlink" Target="https://www.linkedin.com/pulse/amazon-prime-moved-from-microservices-monolith-except-nithin-j/" TargetMode="External"/><Relationship Id="rId1" Type="http://schemas.openxmlformats.org/officeDocument/2006/relationships/slideLayout" Target="../slideLayouts/slideLayout2.xml"/><Relationship Id="rId5" Type="http://schemas.openxmlformats.org/officeDocument/2006/relationships/hyperlink" Target="https://en.wikipedia.org/wiki/Domain-driven_design" TargetMode="External"/><Relationship Id="rId4" Type="http://schemas.openxmlformats.org/officeDocument/2006/relationships/hyperlink" Target="https://www.smartpoint.fr/wp-content/uploads/Back-to-the-Future-From-Microservice-to-Monolith.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93B30-6A78-279F-0C3B-E5A1475E19F4}"/>
              </a:ext>
            </a:extLst>
          </p:cNvPr>
          <p:cNvSpPr>
            <a:spLocks noGrp="1"/>
          </p:cNvSpPr>
          <p:nvPr>
            <p:ph type="ctrTitle"/>
          </p:nvPr>
        </p:nvSpPr>
        <p:spPr>
          <a:xfrm>
            <a:off x="1524000" y="452583"/>
            <a:ext cx="9144000" cy="1147617"/>
          </a:xfrm>
        </p:spPr>
        <p:txBody>
          <a:bodyPr/>
          <a:lstStyle/>
          <a:p>
            <a:r>
              <a:rPr lang="en-IL" dirty="0"/>
              <a:t>WZ Challenges, my PoV</a:t>
            </a:r>
          </a:p>
        </p:txBody>
      </p:sp>
      <p:sp>
        <p:nvSpPr>
          <p:cNvPr id="3" name="Subtitle 2">
            <a:extLst>
              <a:ext uri="{FF2B5EF4-FFF2-40B4-BE49-F238E27FC236}">
                <a16:creationId xmlns:a16="http://schemas.microsoft.com/office/drawing/2014/main" id="{B9117D86-6802-A234-43C1-1D7F5118A12A}"/>
              </a:ext>
            </a:extLst>
          </p:cNvPr>
          <p:cNvSpPr>
            <a:spLocks noGrp="1"/>
          </p:cNvSpPr>
          <p:nvPr>
            <p:ph type="subTitle" idx="1"/>
          </p:nvPr>
        </p:nvSpPr>
        <p:spPr>
          <a:xfrm>
            <a:off x="1524000" y="1985818"/>
            <a:ext cx="9144000" cy="3271982"/>
          </a:xfrm>
        </p:spPr>
        <p:txBody>
          <a:bodyPr>
            <a:normAutofit lnSpcReduction="10000"/>
          </a:bodyPr>
          <a:lstStyle/>
          <a:p>
            <a:pPr algn="l">
              <a:buFont typeface="Arial" panose="020B0604020202020204" pitchFamily="34" charset="0"/>
              <a:buChar char="•"/>
            </a:pPr>
            <a:r>
              <a:rPr lang="en-US" dirty="0"/>
              <a:t>The product and dev teams are under significant pressure due to multiple topics being pushed simultaneously. Dev team is extra burdened with  ever increasing support load as the product scales both in size and complexity (stake holders, integration points, new flows </a:t>
            </a:r>
            <a:r>
              <a:rPr lang="en-US" dirty="0" err="1"/>
              <a:t>etc</a:t>
            </a:r>
            <a:r>
              <a:rPr lang="en-US" dirty="0"/>
              <a:t>)</a:t>
            </a:r>
          </a:p>
          <a:p>
            <a:pPr algn="l">
              <a:buFont typeface="Arial" panose="020B0604020202020204" pitchFamily="34" charset="0"/>
              <a:buChar char="•"/>
            </a:pPr>
            <a:r>
              <a:rPr lang="en-US" dirty="0"/>
              <a:t>Key challenges include unrealistic timelines for BLIs, increasing responsibilities without team growth, mounting technical debt, and lackluster product quality which taxes the dev team in support.</a:t>
            </a:r>
          </a:p>
          <a:p>
            <a:pPr algn="l">
              <a:buFont typeface="Arial" panose="020B0604020202020204" pitchFamily="34" charset="0"/>
              <a:buChar char="•"/>
            </a:pPr>
            <a:r>
              <a:rPr lang="en-US" dirty="0"/>
              <a:t>These factors may lead to higher stress, dissatisfaction, and even result in team attrition.</a:t>
            </a:r>
          </a:p>
          <a:p>
            <a:endParaRPr lang="en-IL" dirty="0"/>
          </a:p>
        </p:txBody>
      </p:sp>
    </p:spTree>
    <p:extLst>
      <p:ext uri="{BB962C8B-B14F-4D97-AF65-F5344CB8AC3E}">
        <p14:creationId xmlns:p14="http://schemas.microsoft.com/office/powerpoint/2010/main" val="3927231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6A239-A045-6F24-4B02-6773C9BD71FE}"/>
              </a:ext>
            </a:extLst>
          </p:cNvPr>
          <p:cNvSpPr>
            <a:spLocks noGrp="1"/>
          </p:cNvSpPr>
          <p:nvPr>
            <p:ph type="title"/>
          </p:nvPr>
        </p:nvSpPr>
        <p:spPr/>
        <p:txBody>
          <a:bodyPr/>
          <a:lstStyle/>
          <a:p>
            <a:r>
              <a:rPr lang="en-US" b="1" dirty="0"/>
              <a:t>Everything is "Super Urgent"</a:t>
            </a:r>
            <a:endParaRPr lang="en-IL" dirty="0"/>
          </a:p>
        </p:txBody>
      </p:sp>
      <p:sp>
        <p:nvSpPr>
          <p:cNvPr id="3" name="Content Placeholder 2">
            <a:extLst>
              <a:ext uri="{FF2B5EF4-FFF2-40B4-BE49-F238E27FC236}">
                <a16:creationId xmlns:a16="http://schemas.microsoft.com/office/drawing/2014/main" id="{D2EBEBF5-5CC9-1ADF-989B-1B1D069BCAD2}"/>
              </a:ext>
            </a:extLst>
          </p:cNvPr>
          <p:cNvSpPr>
            <a:spLocks noGrp="1"/>
          </p:cNvSpPr>
          <p:nvPr>
            <p:ph idx="1"/>
          </p:nvPr>
        </p:nvSpPr>
        <p:spPr/>
        <p:txBody>
          <a:bodyPr>
            <a:normAutofit fontScale="85000" lnSpcReduction="10000"/>
          </a:bodyPr>
          <a:lstStyle/>
          <a:p>
            <a:pPr>
              <a:buFont typeface="Arial" panose="020B0604020202020204" pitchFamily="34" charset="0"/>
              <a:buChar char="•"/>
            </a:pPr>
            <a:r>
              <a:rPr lang="en-US" b="1" dirty="0"/>
              <a:t>Problem</a:t>
            </a:r>
            <a:r>
              <a:rPr lang="en-US" dirty="0"/>
              <a:t>: Every task is treated as top priority, leading to burnout and unfocused development. Urgency vectors: product, security, support escalations.</a:t>
            </a:r>
          </a:p>
          <a:p>
            <a:pPr>
              <a:buFont typeface="Arial" panose="020B0604020202020204" pitchFamily="34" charset="0"/>
              <a:buChar char="•"/>
            </a:pPr>
            <a:r>
              <a:rPr lang="en-US" b="1" dirty="0"/>
              <a:t>Impact</a:t>
            </a:r>
            <a:r>
              <a:rPr lang="en-US" dirty="0"/>
              <a:t>: Development team feels overwhelmed, unable to set clear priorities as they are constantly shifting, and in addition is busy firefighting. This creates a vicious cycle effect.</a:t>
            </a:r>
          </a:p>
          <a:p>
            <a:pPr>
              <a:buFont typeface="Arial" panose="020B0604020202020204" pitchFamily="34" charset="0"/>
              <a:buChar char="•"/>
            </a:pPr>
            <a:r>
              <a:rPr lang="en-US" b="1" dirty="0"/>
              <a:t>Suggestion</a:t>
            </a:r>
            <a:r>
              <a:rPr lang="en-US" dirty="0"/>
              <a:t>: </a:t>
            </a:r>
          </a:p>
          <a:p>
            <a:pPr lvl="1"/>
            <a:r>
              <a:rPr lang="en-US" dirty="0"/>
              <a:t>Establish a clear and strict prioritization framework. One that acknowledges the downsides of pushing for last minute changes or overburdening the dev teams. Do less but focus on better quality and shorter support effort cycles. </a:t>
            </a:r>
          </a:p>
          <a:p>
            <a:pPr lvl="1"/>
            <a:r>
              <a:rPr lang="en-US" dirty="0"/>
              <a:t>Consider to move addressing of major existing customer pain points from “dev duty” track into product track, giving them higher priority and better focus and execution. </a:t>
            </a:r>
          </a:p>
          <a:p>
            <a:pPr lvl="1"/>
            <a:r>
              <a:rPr lang="en-US" dirty="0"/>
              <a:t>Consolidate the dev support engineers into a cohesive dev support team that will serve as 2</a:t>
            </a:r>
            <a:r>
              <a:rPr lang="en-US" baseline="30000" dirty="0"/>
              <a:t>nd</a:t>
            </a:r>
            <a:r>
              <a:rPr lang="en-US" dirty="0"/>
              <a:t> tier of support facilitating filtering of non bug issues from dev teams</a:t>
            </a:r>
          </a:p>
          <a:p>
            <a:pPr>
              <a:buFont typeface="Arial" panose="020B0604020202020204" pitchFamily="34" charset="0"/>
              <a:buChar char="•"/>
            </a:pPr>
            <a:endParaRPr lang="en-US" dirty="0"/>
          </a:p>
          <a:p>
            <a:pPr>
              <a:buFont typeface="Arial" panose="020B0604020202020204" pitchFamily="34" charset="0"/>
              <a:buChar char="•"/>
            </a:pPr>
            <a:endParaRPr lang="en-IL" dirty="0"/>
          </a:p>
        </p:txBody>
      </p:sp>
    </p:spTree>
    <p:extLst>
      <p:ext uri="{BB962C8B-B14F-4D97-AF65-F5344CB8AC3E}">
        <p14:creationId xmlns:p14="http://schemas.microsoft.com/office/powerpoint/2010/main" val="3055364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2CD4A-B65A-B0C9-BB6B-9300DD9B6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2B3CC1-ED01-A697-F38A-8C0B35D23D77}"/>
              </a:ext>
            </a:extLst>
          </p:cNvPr>
          <p:cNvSpPr>
            <a:spLocks noGrp="1"/>
          </p:cNvSpPr>
          <p:nvPr>
            <p:ph type="title"/>
          </p:nvPr>
        </p:nvSpPr>
        <p:spPr/>
        <p:txBody>
          <a:bodyPr/>
          <a:lstStyle/>
          <a:p>
            <a:r>
              <a:rPr lang="en-US" b="1" dirty="0"/>
              <a:t>No Growth &amp; Escalating Responsibilities</a:t>
            </a:r>
            <a:endParaRPr lang="en-IL" dirty="0"/>
          </a:p>
        </p:txBody>
      </p:sp>
      <p:sp>
        <p:nvSpPr>
          <p:cNvPr id="3" name="Content Placeholder 2">
            <a:extLst>
              <a:ext uri="{FF2B5EF4-FFF2-40B4-BE49-F238E27FC236}">
                <a16:creationId xmlns:a16="http://schemas.microsoft.com/office/drawing/2014/main" id="{7A8EB39C-2486-3F9E-5CF5-88028435AE96}"/>
              </a:ext>
            </a:extLst>
          </p:cNvPr>
          <p:cNvSpPr>
            <a:spLocks noGrp="1"/>
          </p:cNvSpPr>
          <p:nvPr>
            <p:ph idx="1"/>
          </p:nvPr>
        </p:nvSpPr>
        <p:spPr/>
        <p:txBody>
          <a:bodyPr>
            <a:normAutofit/>
          </a:bodyPr>
          <a:lstStyle/>
          <a:p>
            <a:pPr>
              <a:buFont typeface="Arial" panose="020B0604020202020204" pitchFamily="34" charset="0"/>
              <a:buChar char="•"/>
            </a:pPr>
            <a:r>
              <a:rPr lang="en-US" b="1" dirty="0"/>
              <a:t>Problem</a:t>
            </a:r>
            <a:r>
              <a:rPr lang="en-US" dirty="0"/>
              <a:t>: Team size has stagnated while the product backlog and support load continues to grow, increasing workload and stress. The attempt to bring in non local contribution has mixed results. On the one hand it seems on paper like we scale horizontally but OTOH, in practice, there are many caveats, including: communication glitches, Coordination and execution becoming more challenging, knowledge spread is not ideal – silos, ”re-invent” the wheel  </a:t>
            </a:r>
          </a:p>
          <a:p>
            <a:pPr>
              <a:buFont typeface="Arial" panose="020B0604020202020204" pitchFamily="34" charset="0"/>
              <a:buChar char="•"/>
            </a:pPr>
            <a:r>
              <a:rPr lang="en-US" b="1" dirty="0"/>
              <a:t>Impact</a:t>
            </a:r>
            <a:r>
              <a:rPr lang="en-US" dirty="0"/>
              <a:t>: Developers are overworked, leading to mistakes and attrition.</a:t>
            </a:r>
          </a:p>
        </p:txBody>
      </p:sp>
    </p:spTree>
    <p:extLst>
      <p:ext uri="{BB962C8B-B14F-4D97-AF65-F5344CB8AC3E}">
        <p14:creationId xmlns:p14="http://schemas.microsoft.com/office/powerpoint/2010/main" val="1040281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59C5F-C0E9-1CFE-328F-32666D0D3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4E71B-476F-102F-66C5-9C395FB7073E}"/>
              </a:ext>
            </a:extLst>
          </p:cNvPr>
          <p:cNvSpPr>
            <a:spLocks noGrp="1"/>
          </p:cNvSpPr>
          <p:nvPr>
            <p:ph type="title"/>
          </p:nvPr>
        </p:nvSpPr>
        <p:spPr/>
        <p:txBody>
          <a:bodyPr/>
          <a:lstStyle/>
          <a:p>
            <a:r>
              <a:rPr lang="en-US" b="1" dirty="0"/>
              <a:t>Unrealistic Estimates &amp; Blame</a:t>
            </a:r>
            <a:endParaRPr lang="en-US" dirty="0"/>
          </a:p>
        </p:txBody>
      </p:sp>
      <p:sp>
        <p:nvSpPr>
          <p:cNvPr id="3" name="Content Placeholder 2">
            <a:extLst>
              <a:ext uri="{FF2B5EF4-FFF2-40B4-BE49-F238E27FC236}">
                <a16:creationId xmlns:a16="http://schemas.microsoft.com/office/drawing/2014/main" id="{7AAD01CD-D395-E470-3D5C-7F5DE17C6F1A}"/>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en-US" b="1" dirty="0"/>
              <a:t>Problem</a:t>
            </a:r>
            <a:r>
              <a:rPr lang="en-US" dirty="0"/>
              <a:t>: Dev is pushed for aggressive estimates which by nature are less likely and often require “creative” thinking (employ quick wins, overload an expert </a:t>
            </a:r>
            <a:r>
              <a:rPr lang="en-US" dirty="0" err="1"/>
              <a:t>etc</a:t>
            </a:r>
            <a:r>
              <a:rPr lang="en-US" dirty="0"/>
              <a:t>) which makes the estimates either less probable or such that sacrifice longer term goals. Developers face blame when deadlines aren’t met.</a:t>
            </a:r>
          </a:p>
          <a:p>
            <a:pPr>
              <a:buFont typeface="Arial" panose="020B0604020202020204" pitchFamily="34" charset="0"/>
              <a:buChar char="•"/>
            </a:pPr>
            <a:r>
              <a:rPr lang="en-US" b="1" dirty="0"/>
              <a:t>Impact</a:t>
            </a:r>
            <a:r>
              <a:rPr lang="en-US" dirty="0"/>
              <a:t>: Low morale and broken trust between teams, unrealistic delivery expectations on the one hand and erosion of the estimates value and significance on the other</a:t>
            </a:r>
          </a:p>
          <a:p>
            <a:pPr>
              <a:buFont typeface="Arial" panose="020B0604020202020204" pitchFamily="34" charset="0"/>
              <a:buChar char="•"/>
            </a:pPr>
            <a:endParaRPr lang="en-US" dirty="0"/>
          </a:p>
          <a:p>
            <a:pPr>
              <a:buFont typeface="Arial" panose="020B0604020202020204" pitchFamily="34" charset="0"/>
              <a:buChar char="•"/>
            </a:pPr>
            <a:r>
              <a:rPr lang="en-US" b="1" dirty="0"/>
              <a:t>Suggestion</a:t>
            </a:r>
            <a:r>
              <a:rPr lang="en-US" dirty="0"/>
              <a:t>: </a:t>
            </a:r>
          </a:p>
          <a:p>
            <a:pPr lvl="1"/>
            <a:r>
              <a:rPr lang="en-US" dirty="0"/>
              <a:t>Learn from past sprints misses to improve future estimates. Co-operatively dev + prod.</a:t>
            </a:r>
          </a:p>
          <a:p>
            <a:pPr lvl="1"/>
            <a:r>
              <a:rPr lang="en-US" dirty="0"/>
              <a:t>Leave buffer for the unforeseen </a:t>
            </a:r>
          </a:p>
          <a:p>
            <a:pPr lvl="1"/>
            <a:r>
              <a:rPr lang="en-US" dirty="0"/>
              <a:t>shared responsibility instead of blame,  Involve dev rep/s early discussions to make timelines more realistic</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1116146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830B9-1762-FA14-1C4F-8C744B401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B3952-395A-57EB-10AD-74692FB0740A}"/>
              </a:ext>
            </a:extLst>
          </p:cNvPr>
          <p:cNvSpPr>
            <a:spLocks noGrp="1"/>
          </p:cNvSpPr>
          <p:nvPr>
            <p:ph type="title"/>
          </p:nvPr>
        </p:nvSpPr>
        <p:spPr/>
        <p:txBody>
          <a:bodyPr/>
          <a:lstStyle/>
          <a:p>
            <a:r>
              <a:rPr lang="en-US" b="1" dirty="0"/>
              <a:t>Too Many Topics at Once</a:t>
            </a:r>
            <a:endParaRPr lang="en-US" dirty="0"/>
          </a:p>
        </p:txBody>
      </p:sp>
      <p:sp>
        <p:nvSpPr>
          <p:cNvPr id="3" name="Content Placeholder 2">
            <a:extLst>
              <a:ext uri="{FF2B5EF4-FFF2-40B4-BE49-F238E27FC236}">
                <a16:creationId xmlns:a16="http://schemas.microsoft.com/office/drawing/2014/main" id="{7D8A45FF-8547-3BC0-23C8-F931ED1AAB0B}"/>
              </a:ext>
            </a:extLst>
          </p:cNvPr>
          <p:cNvSpPr>
            <a:spLocks noGrp="1"/>
          </p:cNvSpPr>
          <p:nvPr>
            <p:ph idx="1"/>
          </p:nvPr>
        </p:nvSpPr>
        <p:spPr/>
        <p:txBody>
          <a:bodyPr>
            <a:normAutofit/>
          </a:bodyPr>
          <a:lstStyle/>
          <a:p>
            <a:pPr>
              <a:buFont typeface="Arial" panose="020B0604020202020204" pitchFamily="34" charset="0"/>
              <a:buChar char="•"/>
            </a:pPr>
            <a:r>
              <a:rPr lang="en-US" b="1" dirty="0"/>
              <a:t>Problem</a:t>
            </a:r>
            <a:r>
              <a:rPr lang="en-US" dirty="0"/>
              <a:t>: Developers are spread thin across too many initiatives at once.</a:t>
            </a:r>
          </a:p>
          <a:p>
            <a:pPr>
              <a:buFont typeface="Arial" panose="020B0604020202020204" pitchFamily="34" charset="0"/>
              <a:buChar char="•"/>
            </a:pPr>
            <a:r>
              <a:rPr lang="en-US" b="1" dirty="0"/>
              <a:t>Impact</a:t>
            </a:r>
            <a:r>
              <a:rPr lang="en-US" dirty="0"/>
              <a:t>: Context switches are costly and may lead to inefficiency, poor quality and burnout</a:t>
            </a:r>
          </a:p>
        </p:txBody>
      </p:sp>
    </p:spTree>
    <p:extLst>
      <p:ext uri="{BB962C8B-B14F-4D97-AF65-F5344CB8AC3E}">
        <p14:creationId xmlns:p14="http://schemas.microsoft.com/office/powerpoint/2010/main" val="2621476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F6D8B-E753-277E-393E-CCAF525CC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F21458-0ED8-03EC-D751-4A0912E56FB3}"/>
              </a:ext>
            </a:extLst>
          </p:cNvPr>
          <p:cNvSpPr>
            <a:spLocks noGrp="1"/>
          </p:cNvSpPr>
          <p:nvPr>
            <p:ph type="title"/>
          </p:nvPr>
        </p:nvSpPr>
        <p:spPr/>
        <p:txBody>
          <a:bodyPr/>
          <a:lstStyle/>
          <a:p>
            <a:r>
              <a:rPr lang="en-US" b="1" dirty="0"/>
              <a:t>Technical Debt and Fragile Functionality</a:t>
            </a:r>
            <a:endParaRPr lang="en-US" dirty="0"/>
          </a:p>
        </p:txBody>
      </p:sp>
      <p:sp>
        <p:nvSpPr>
          <p:cNvPr id="3" name="Content Placeholder 2">
            <a:extLst>
              <a:ext uri="{FF2B5EF4-FFF2-40B4-BE49-F238E27FC236}">
                <a16:creationId xmlns:a16="http://schemas.microsoft.com/office/drawing/2014/main" id="{F1C3CC76-2EE3-E73C-6EE7-F1E00010AC0B}"/>
              </a:ext>
            </a:extLst>
          </p:cNvPr>
          <p:cNvSpPr>
            <a:spLocks noGrp="1"/>
          </p:cNvSpPr>
          <p:nvPr>
            <p:ph idx="1"/>
          </p:nvPr>
        </p:nvSpPr>
        <p:spPr/>
        <p:txBody>
          <a:bodyPr>
            <a:normAutofit/>
          </a:bodyPr>
          <a:lstStyle/>
          <a:p>
            <a:pPr>
              <a:buFont typeface="Arial" panose="020B0604020202020204" pitchFamily="34" charset="0"/>
              <a:buChar char="•"/>
            </a:pPr>
            <a:r>
              <a:rPr lang="en-US" b="1" dirty="0"/>
              <a:t>Problem</a:t>
            </a:r>
            <a:r>
              <a:rPr lang="en-US" dirty="0"/>
              <a:t>: The product’s technical debt is huge. Leading to a fragile codebase. IMHO our microservices based architecture has evolved over the years, despite best intentions, into a </a:t>
            </a:r>
            <a:r>
              <a:rPr lang="en-US" dirty="0">
                <a:hlinkClick r:id="rId2"/>
              </a:rPr>
              <a:t>BBOM</a:t>
            </a:r>
            <a:r>
              <a:rPr lang="en-US" dirty="0"/>
              <a:t> </a:t>
            </a:r>
          </a:p>
          <a:p>
            <a:pPr>
              <a:buFont typeface="Arial" panose="020B0604020202020204" pitchFamily="34" charset="0"/>
              <a:buChar char="•"/>
            </a:pPr>
            <a:r>
              <a:rPr lang="en-US" b="1" dirty="0"/>
              <a:t>Impact</a:t>
            </a:r>
            <a:r>
              <a:rPr lang="en-US" dirty="0"/>
              <a:t>: Product quality is inconsistent, functionality is unreliable, and issues resurface frequently.</a:t>
            </a:r>
          </a:p>
          <a:p>
            <a:pPr>
              <a:buFont typeface="Arial" panose="020B0604020202020204" pitchFamily="34" charset="0"/>
              <a:buChar char="•"/>
            </a:pPr>
            <a:r>
              <a:rPr lang="en-US" b="1" dirty="0"/>
              <a:t>Suggestion</a:t>
            </a:r>
            <a:r>
              <a:rPr lang="en-US" dirty="0"/>
              <a:t>: Dedicate specific sprints or set aside a percentage of time each sprint to tackle technical debt. Develop a </a:t>
            </a:r>
            <a:r>
              <a:rPr lang="en-US" b="1" dirty="0"/>
              <a:t>refactoring plan</a:t>
            </a:r>
            <a:r>
              <a:rPr lang="en-US" dirty="0"/>
              <a:t> to stabilize key components, and introduce code quality gates and enhance automated testing (on API level) to reduce fragility.</a:t>
            </a:r>
          </a:p>
        </p:txBody>
      </p:sp>
    </p:spTree>
    <p:extLst>
      <p:ext uri="{BB962C8B-B14F-4D97-AF65-F5344CB8AC3E}">
        <p14:creationId xmlns:p14="http://schemas.microsoft.com/office/powerpoint/2010/main" val="1536525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149EA-5995-0994-C11D-3D8962677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1E254-49A1-7DE2-C9F9-3798FA0D0C0A}"/>
              </a:ext>
            </a:extLst>
          </p:cNvPr>
          <p:cNvSpPr>
            <a:spLocks noGrp="1"/>
          </p:cNvSpPr>
          <p:nvPr>
            <p:ph type="title"/>
          </p:nvPr>
        </p:nvSpPr>
        <p:spPr/>
        <p:txBody>
          <a:bodyPr/>
          <a:lstStyle/>
          <a:p>
            <a:r>
              <a:rPr lang="en-US" b="1" dirty="0"/>
              <a:t>Technical Debt – BBOM impact</a:t>
            </a:r>
            <a:endParaRPr lang="en-US" dirty="0"/>
          </a:p>
        </p:txBody>
      </p:sp>
      <p:sp>
        <p:nvSpPr>
          <p:cNvPr id="3" name="Content Placeholder 2">
            <a:extLst>
              <a:ext uri="{FF2B5EF4-FFF2-40B4-BE49-F238E27FC236}">
                <a16:creationId xmlns:a16="http://schemas.microsoft.com/office/drawing/2014/main" id="{025F4E7A-F3D4-B9DA-ECE1-D670FEBAE721}"/>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en-US" b="1" dirty="0"/>
              <a:t>Tight Coupling</a:t>
            </a:r>
            <a:r>
              <a:rPr lang="en-US" dirty="0"/>
              <a:t>: Microservices are increasingly tightly coupled, making changes in one service impact others unexpectedly. ”quick wins” where consumer service “A” just needs this tailored API from infra, producer, service “B” are all too common resulting in more and more coupling</a:t>
            </a:r>
          </a:p>
          <a:p>
            <a:pPr>
              <a:buFont typeface="Arial" panose="020B0604020202020204" pitchFamily="34" charset="0"/>
              <a:buChar char="•"/>
            </a:pPr>
            <a:r>
              <a:rPr lang="en-US" b="1" dirty="0"/>
              <a:t>Inconsistent Standards</a:t>
            </a:r>
            <a:r>
              <a:rPr lang="en-US" dirty="0"/>
              <a:t>: Lack of consistent coding standards and architectural guidelines leads to divergent approaches across services.</a:t>
            </a:r>
          </a:p>
          <a:p>
            <a:pPr>
              <a:buFont typeface="Arial" panose="020B0604020202020204" pitchFamily="34" charset="0"/>
              <a:buChar char="•"/>
            </a:pPr>
            <a:r>
              <a:rPr lang="en-US" b="1" dirty="0"/>
              <a:t>Scalability Issues</a:t>
            </a:r>
            <a:r>
              <a:rPr lang="en-US" dirty="0"/>
              <a:t>: I’d argue that less services w/ more robust unchanging, ideally stateless, APIs would allow our product to actually become more resilient and scalable</a:t>
            </a:r>
          </a:p>
          <a:p>
            <a:pPr>
              <a:buFont typeface="Arial" panose="020B0604020202020204" pitchFamily="34" charset="0"/>
              <a:buChar char="•"/>
            </a:pPr>
            <a:r>
              <a:rPr lang="en-US" b="1" dirty="0"/>
              <a:t>Deployment Challenges</a:t>
            </a:r>
            <a:r>
              <a:rPr lang="en-US" dirty="0"/>
              <a:t>: Frequent failures during deployment due to dependencies between services </a:t>
            </a:r>
          </a:p>
          <a:p>
            <a:pPr>
              <a:buFont typeface="Arial" panose="020B0604020202020204" pitchFamily="34" charset="0"/>
              <a:buChar char="•"/>
            </a:pPr>
            <a:r>
              <a:rPr lang="en-US" b="1" dirty="0"/>
              <a:t>Poor Observability</a:t>
            </a:r>
            <a:r>
              <a:rPr lang="en-US" dirty="0"/>
              <a:t>: Difficulty in monitoring and debugging due to fragmented logs &amp; metrics. In edition non functional feature “supportability”  is not prioritized sufficiently</a:t>
            </a:r>
          </a:p>
          <a:p>
            <a:pPr marL="0" indent="0">
              <a:buNone/>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56444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8B333-D902-13DD-C802-D5E2D0F4C4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06F0C-AC86-7877-5AD6-75FC79CFB514}"/>
              </a:ext>
            </a:extLst>
          </p:cNvPr>
          <p:cNvSpPr>
            <a:spLocks noGrp="1"/>
          </p:cNvSpPr>
          <p:nvPr>
            <p:ph type="title"/>
          </p:nvPr>
        </p:nvSpPr>
        <p:spPr/>
        <p:txBody>
          <a:bodyPr/>
          <a:lstStyle/>
          <a:p>
            <a:r>
              <a:rPr lang="en-US" b="1" dirty="0"/>
              <a:t>Technical Debt – Suggestions</a:t>
            </a:r>
            <a:endParaRPr lang="en-US" dirty="0"/>
          </a:p>
        </p:txBody>
      </p:sp>
      <p:sp>
        <p:nvSpPr>
          <p:cNvPr id="3" name="Content Placeholder 2">
            <a:extLst>
              <a:ext uri="{FF2B5EF4-FFF2-40B4-BE49-F238E27FC236}">
                <a16:creationId xmlns:a16="http://schemas.microsoft.com/office/drawing/2014/main" id="{6B42749A-069D-8B04-FB01-249DCB752A6E}"/>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en-US" dirty="0"/>
              <a:t>Less likely but I want to mention the option for a complete </a:t>
            </a:r>
            <a:r>
              <a:rPr lang="en-US"/>
              <a:t>overhaul of the architecture - </a:t>
            </a:r>
            <a:r>
              <a:rPr lang="en-US" dirty="0"/>
              <a:t>considering to reduce number of microservices. See: </a:t>
            </a:r>
            <a:r>
              <a:rPr lang="en-US" dirty="0">
                <a:hlinkClick r:id="rId2"/>
              </a:rPr>
              <a:t>https://www.linkedin.com/pulse/amazon-prime-moved-from-microservices-monolith-except-nithin-j/</a:t>
            </a:r>
            <a:r>
              <a:rPr lang="en-US" dirty="0"/>
              <a:t>, </a:t>
            </a:r>
            <a:r>
              <a:rPr lang="en-US" dirty="0">
                <a:hlinkClick r:id="rId3"/>
              </a:rPr>
              <a:t>https://www.linkedin.com/pulse/shift-back-monolithic-architectures-perspective-adi-inbar/</a:t>
            </a:r>
            <a:r>
              <a:rPr lang="en-US" dirty="0"/>
              <a:t>, </a:t>
            </a:r>
            <a:r>
              <a:rPr lang="en-US" dirty="0">
                <a:hlinkClick r:id="rId4"/>
              </a:rPr>
              <a:t>https://www.smartpoint.fr/wp-content/uploads/Back-to-the-Future-From-Microservice-to-Monolith.pdf</a:t>
            </a:r>
            <a:r>
              <a:rPr lang="en-US" dirty="0"/>
              <a:t> </a:t>
            </a:r>
          </a:p>
          <a:p>
            <a:pPr>
              <a:buFont typeface="Arial" panose="020B0604020202020204" pitchFamily="34" charset="0"/>
              <a:buChar char="•"/>
            </a:pPr>
            <a:r>
              <a:rPr lang="en-US" b="1" dirty="0"/>
              <a:t>Modularize and Decouple</a:t>
            </a:r>
            <a:r>
              <a:rPr lang="en-US" dirty="0"/>
              <a:t>: Identify tightly coupled services and decouple them by redesigning interfaces and reducing shared dependencies</a:t>
            </a:r>
          </a:p>
          <a:p>
            <a:pPr>
              <a:buFont typeface="Arial" panose="020B0604020202020204" pitchFamily="34" charset="0"/>
              <a:buChar char="•"/>
            </a:pPr>
            <a:r>
              <a:rPr lang="en-US" b="1" dirty="0"/>
              <a:t>Incremental Refactoring</a:t>
            </a:r>
            <a:r>
              <a:rPr lang="en-US" dirty="0"/>
              <a:t>: Prioritize refactoring services to reduce complexity. Address high-impact areas first to stabilize the system and improve maintainability.</a:t>
            </a:r>
          </a:p>
          <a:p>
            <a:pPr>
              <a:buFont typeface="Arial" panose="020B0604020202020204" pitchFamily="34" charset="0"/>
              <a:buChar char="•"/>
            </a:pPr>
            <a:r>
              <a:rPr lang="en-US" b="1" dirty="0"/>
              <a:t>Focus on </a:t>
            </a:r>
            <a:r>
              <a:rPr lang="en-US" b="1" dirty="0">
                <a:hlinkClick r:id="rId5"/>
              </a:rPr>
              <a:t>Domain-Driven Design</a:t>
            </a:r>
            <a:r>
              <a:rPr lang="en-US" dirty="0"/>
              <a:t>: Revisit domain boundaries to ensure microservices reflect real business domains, reducing overlap and promoting autonomy.</a:t>
            </a:r>
          </a:p>
          <a:p>
            <a:pPr>
              <a:buFont typeface="Arial" panose="020B0604020202020204" pitchFamily="34" charset="0"/>
              <a:buChar char="•"/>
            </a:pPr>
            <a:endParaRPr lang="en-US" dirty="0"/>
          </a:p>
          <a:p>
            <a:pPr marL="0" indent="0">
              <a:buNone/>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277794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1264</TotalTime>
  <Words>895</Words>
  <Application>Microsoft Macintosh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WZ Challenges, my PoV</vt:lpstr>
      <vt:lpstr>Everything is "Super Urgent"</vt:lpstr>
      <vt:lpstr>No Growth &amp; Escalating Responsibilities</vt:lpstr>
      <vt:lpstr>Unrealistic Estimates &amp; Blame</vt:lpstr>
      <vt:lpstr>Too Many Topics at Once</vt:lpstr>
      <vt:lpstr>Technical Debt and Fragile Functionality</vt:lpstr>
      <vt:lpstr>Technical Debt – BBOM impact</vt:lpstr>
      <vt:lpstr>Technical Debt – Suggestions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Yosi Izaq</dc:creator>
  <cp:lastModifiedBy>Yosi Izaq</cp:lastModifiedBy>
  <cp:revision>1</cp:revision>
  <dcterms:created xsi:type="dcterms:W3CDTF">2024-10-13T16:54:58Z</dcterms:created>
  <dcterms:modified xsi:type="dcterms:W3CDTF">2024-10-14T13:59:12Z</dcterms:modified>
</cp:coreProperties>
</file>