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92"/>
    <p:restoredTop sz="94746"/>
  </p:normalViewPr>
  <p:slideViewPr>
    <p:cSldViewPr snapToGrid="0">
      <p:cViewPr varScale="1">
        <p:scale>
          <a:sx n="128" d="100"/>
          <a:sy n="128" d="100"/>
        </p:scale>
        <p:origin x="4776" y="16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97D11-F645-B3E9-E4D8-425444B3B7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D5C1DAA4-4374-CF9D-9634-B084DF4BE1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B78FCE7E-338E-23D5-121F-6C0C8FAD7BF5}"/>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5" name="Footer Placeholder 4">
            <a:extLst>
              <a:ext uri="{FF2B5EF4-FFF2-40B4-BE49-F238E27FC236}">
                <a16:creationId xmlns:a16="http://schemas.microsoft.com/office/drawing/2014/main" id="{DCC040A3-5A7A-80C0-C40D-D9F79BB6876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6B2758A-2859-F65E-7D74-31E850D3808F}"/>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2131492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EBF54-33D5-871B-799B-9B9C9DFCBCFB}"/>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BE8F9C73-F225-E659-1052-8AE2C117E0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733CCF5-349C-5A87-4523-DF17E4B339F2}"/>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5" name="Footer Placeholder 4">
            <a:extLst>
              <a:ext uri="{FF2B5EF4-FFF2-40B4-BE49-F238E27FC236}">
                <a16:creationId xmlns:a16="http://schemas.microsoft.com/office/drawing/2014/main" id="{19DF0C66-D14F-5BCC-6528-89793356AAA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DE8E44D-B3AD-1308-6142-BF58292517AC}"/>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303359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AD25-15BD-3553-C9F9-C53DDFCEFF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41AD685D-20B6-2825-00FC-DB017117D2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27D03E-BC90-E054-C55A-AA956C7417D7}"/>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5" name="Footer Placeholder 4">
            <a:extLst>
              <a:ext uri="{FF2B5EF4-FFF2-40B4-BE49-F238E27FC236}">
                <a16:creationId xmlns:a16="http://schemas.microsoft.com/office/drawing/2014/main" id="{A93F5330-BFDD-60D4-BC97-61F845F244A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EFC0E6D-155E-0500-7537-044E66EBDDAE}"/>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1145571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A6643-186E-CA5D-9EF1-8BDE85DC193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527AD715-A977-B11E-C9EF-10890B1653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13715221-12F1-028E-B51C-AD60E9E0BF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A502DBB9-20AE-9C77-490B-A62C8ABFEED1}"/>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6" name="Footer Placeholder 5">
            <a:extLst>
              <a:ext uri="{FF2B5EF4-FFF2-40B4-BE49-F238E27FC236}">
                <a16:creationId xmlns:a16="http://schemas.microsoft.com/office/drawing/2014/main" id="{11CAD362-140C-0F2A-D7F9-9354DED18C2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FAE75039-AE8A-AC8F-9CB0-C13CA5029E3C}"/>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2408270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DC1A2-13FD-728A-AF95-C691FEC0462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84CA2051-80ED-8438-5EB5-02C4AFC919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DDD570-D4FC-B1E7-A675-D626D3BD66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88F69CF6-CA33-C2A1-9E7C-AB95C89FCA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54EE00-3D1C-1470-997D-E83DB91359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1E9FD10F-4AD1-B120-0BEC-CB40D892817B}"/>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8" name="Footer Placeholder 7">
            <a:extLst>
              <a:ext uri="{FF2B5EF4-FFF2-40B4-BE49-F238E27FC236}">
                <a16:creationId xmlns:a16="http://schemas.microsoft.com/office/drawing/2014/main" id="{96362A5A-F311-32E9-CDB4-F338AAA3C65B}"/>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2A27E554-01BC-EFF1-4FC3-45F05687D47D}"/>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395727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3CB2-B303-2355-8548-599B49F4B3A1}"/>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21FAECD6-9E4D-6286-7602-9CA09F3E0A04}"/>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4" name="Footer Placeholder 3">
            <a:extLst>
              <a:ext uri="{FF2B5EF4-FFF2-40B4-BE49-F238E27FC236}">
                <a16:creationId xmlns:a16="http://schemas.microsoft.com/office/drawing/2014/main" id="{6658DA13-CF7F-DC32-49B7-39A82E3E3F8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291861A7-F12B-3F72-D779-DCF814B395D8}"/>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1470671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D4887A-7B4C-98AC-6026-9917C1A70152}"/>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3" name="Footer Placeholder 2">
            <a:extLst>
              <a:ext uri="{FF2B5EF4-FFF2-40B4-BE49-F238E27FC236}">
                <a16:creationId xmlns:a16="http://schemas.microsoft.com/office/drawing/2014/main" id="{96DCC5BA-38A6-C485-DED3-BD17BD2DDE36}"/>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2BCD364B-C5D9-3ADC-1A48-BCE2A3C4D81E}"/>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348607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2380E-7D06-0895-12A7-DB082BB3AD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6D40525-B9BA-99D9-8F31-E9FCDA5B94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FB3A2BDA-7529-7251-1E88-1F8EE9B76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9D43F0-E54A-2DCB-2C1E-1DAB9976C2C1}"/>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6" name="Footer Placeholder 5">
            <a:extLst>
              <a:ext uri="{FF2B5EF4-FFF2-40B4-BE49-F238E27FC236}">
                <a16:creationId xmlns:a16="http://schemas.microsoft.com/office/drawing/2014/main" id="{2AFAA820-A2B6-ED0F-0DC6-13C9739C8E7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7A0B5BEC-CAE3-D3B0-CB51-A1CA7B9D50CB}"/>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3314517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E063B-2F2F-F25C-089F-B370AFBD75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8608E0E4-8475-9D6A-FC35-486A68FEF1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0D640E28-99BA-5316-7CC7-51588F9AC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10B3DC-B836-9E35-6C23-8B043657F545}"/>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6" name="Footer Placeholder 5">
            <a:extLst>
              <a:ext uri="{FF2B5EF4-FFF2-40B4-BE49-F238E27FC236}">
                <a16:creationId xmlns:a16="http://schemas.microsoft.com/office/drawing/2014/main" id="{47F8E287-FD50-57C0-2953-8641B1F6CAC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9DBA41CB-314D-038D-18C8-8598465A30B6}"/>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2543727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50C93-7F05-AA83-7CDA-908B77ABAA41}"/>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56F1612-B726-A498-AB66-1A3318FBE7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7F46AB1-F3F1-D69D-3E09-022DE71B608A}"/>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5" name="Footer Placeholder 4">
            <a:extLst>
              <a:ext uri="{FF2B5EF4-FFF2-40B4-BE49-F238E27FC236}">
                <a16:creationId xmlns:a16="http://schemas.microsoft.com/office/drawing/2014/main" id="{4D0B6B6F-3768-8A4A-4259-B81487D2223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8CA163F-E6EC-36F2-450D-46DE4408B248}"/>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4251674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7D1878-5BA0-DFFB-5E94-B6CCF6EB8D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21F1D56F-88F3-E354-BB0D-99940CD4D9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4FF629E-A60D-F5D9-476D-645A72C6D43F}"/>
              </a:ext>
            </a:extLst>
          </p:cNvPr>
          <p:cNvSpPr>
            <a:spLocks noGrp="1"/>
          </p:cNvSpPr>
          <p:nvPr>
            <p:ph type="dt" sz="half" idx="10"/>
          </p:nvPr>
        </p:nvSpPr>
        <p:spPr/>
        <p:txBody>
          <a:bodyPr/>
          <a:lstStyle/>
          <a:p>
            <a:fld id="{43A18C22-487A-D149-8FD3-5D4A3947A74F}" type="datetimeFigureOut">
              <a:rPr lang="en-IL" smtClean="0"/>
              <a:t>20/02/2025</a:t>
            </a:fld>
            <a:endParaRPr lang="en-IL"/>
          </a:p>
        </p:txBody>
      </p:sp>
      <p:sp>
        <p:nvSpPr>
          <p:cNvPr id="5" name="Footer Placeholder 4">
            <a:extLst>
              <a:ext uri="{FF2B5EF4-FFF2-40B4-BE49-F238E27FC236}">
                <a16:creationId xmlns:a16="http://schemas.microsoft.com/office/drawing/2014/main" id="{B57A63DE-F9E6-DDB2-25BD-2B66DFA76FF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1AC4577-EE62-3631-FD4B-EC61A57BC3C5}"/>
              </a:ext>
            </a:extLst>
          </p:cNvPr>
          <p:cNvSpPr>
            <a:spLocks noGrp="1"/>
          </p:cNvSpPr>
          <p:nvPr>
            <p:ph type="sldNum" sz="quarter" idx="12"/>
          </p:nvPr>
        </p:nvSpPr>
        <p:spPr/>
        <p:txBody>
          <a:bodyPr/>
          <a:lstStyle/>
          <a:p>
            <a:fld id="{E3A66B28-A5E9-424D-A3D1-FA67CBBDDB60}" type="slidenum">
              <a:rPr lang="en-IL" smtClean="0"/>
              <a:t>‹#›</a:t>
            </a:fld>
            <a:endParaRPr lang="en-IL"/>
          </a:p>
        </p:txBody>
      </p:sp>
    </p:spTree>
    <p:extLst>
      <p:ext uri="{BB962C8B-B14F-4D97-AF65-F5344CB8AC3E}">
        <p14:creationId xmlns:p14="http://schemas.microsoft.com/office/powerpoint/2010/main" val="3536748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8F4786-691A-7D26-EECB-F6D3C30F71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9DC39197-2787-0572-D3C1-91A8CE350F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8CA5603-A1E8-5E74-C484-236F5E66F7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A18C22-487A-D149-8FD3-5D4A3947A74F}" type="datetimeFigureOut">
              <a:rPr lang="en-IL" smtClean="0"/>
              <a:t>20/02/2025</a:t>
            </a:fld>
            <a:endParaRPr lang="en-IL"/>
          </a:p>
        </p:txBody>
      </p:sp>
      <p:sp>
        <p:nvSpPr>
          <p:cNvPr id="5" name="Footer Placeholder 4">
            <a:extLst>
              <a:ext uri="{FF2B5EF4-FFF2-40B4-BE49-F238E27FC236}">
                <a16:creationId xmlns:a16="http://schemas.microsoft.com/office/drawing/2014/main" id="{35395D6B-3511-772F-69F0-43F0E96FFC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DE62A207-E448-D0F6-298A-FFF4FD6214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A66B28-A5E9-424D-A3D1-FA67CBBDDB60}" type="slidenum">
              <a:rPr lang="en-IL" smtClean="0"/>
              <a:t>‹#›</a:t>
            </a:fld>
            <a:endParaRPr lang="en-IL"/>
          </a:p>
        </p:txBody>
      </p:sp>
    </p:spTree>
    <p:extLst>
      <p:ext uri="{BB962C8B-B14F-4D97-AF65-F5344CB8AC3E}">
        <p14:creationId xmlns:p14="http://schemas.microsoft.com/office/powerpoint/2010/main" val="4284007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ursor.sh/"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ppwrk.com/cursor-ai-features" TargetMode="External"/><Relationship Id="rId2" Type="http://schemas.openxmlformats.org/officeDocument/2006/relationships/hyperlink" Target="https://docs.google.com/document/d/1W0t28VgCnX5sW2PgrITs94rexheNC_4kj7bDOqWtmn0/edit?tab=t.0"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artner.com/reviews/market/generative-ai-apps/vendor/github/product/github-copilot" TargetMode="External"/><Relationship Id="rId2" Type="http://schemas.openxmlformats.org/officeDocument/2006/relationships/hyperlink" Target="https://www.reddit.com/r/cursor/comments/1f7cku2/cursor_vs_vscodecopilo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cursor.com/privacy" TargetMode="External"/><Relationship Id="rId2" Type="http://schemas.openxmlformats.org/officeDocument/2006/relationships/hyperlink" Target="http://www.cursor.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361D44C-CA21-0612-84F3-4F4CC6722698}"/>
              </a:ext>
            </a:extLst>
          </p:cNvPr>
          <p:cNvPicPr>
            <a:picLocks noChangeAspect="1"/>
          </p:cNvPicPr>
          <p:nvPr/>
        </p:nvPicPr>
        <p:blipFill>
          <a:blip r:embed="rId2">
            <a:alphaModFix amt="50000"/>
          </a:blip>
          <a:srcRect t="5449" b="7002"/>
          <a:stretch/>
        </p:blipFill>
        <p:spPr>
          <a:xfrm>
            <a:off x="20" y="1"/>
            <a:ext cx="12191980" cy="6857999"/>
          </a:xfrm>
          <a:prstGeom prst="rect">
            <a:avLst/>
          </a:prstGeom>
        </p:spPr>
      </p:pic>
      <p:sp>
        <p:nvSpPr>
          <p:cNvPr id="2" name="Title 1">
            <a:extLst>
              <a:ext uri="{FF2B5EF4-FFF2-40B4-BE49-F238E27FC236}">
                <a16:creationId xmlns:a16="http://schemas.microsoft.com/office/drawing/2014/main" id="{4A46CA72-5C09-92DE-2652-331178889EEB}"/>
              </a:ext>
            </a:extLst>
          </p:cNvPr>
          <p:cNvSpPr>
            <a:spLocks noGrp="1"/>
          </p:cNvSpPr>
          <p:nvPr>
            <p:ph type="ctrTitle"/>
          </p:nvPr>
        </p:nvSpPr>
        <p:spPr>
          <a:xfrm>
            <a:off x="1524000" y="1122362"/>
            <a:ext cx="9144000" cy="1711273"/>
          </a:xfrm>
        </p:spPr>
        <p:txBody>
          <a:bodyPr>
            <a:normAutofit fontScale="90000"/>
          </a:bodyPr>
          <a:lstStyle/>
          <a:p>
            <a:r>
              <a:rPr lang="en-US" dirty="0">
                <a:solidFill>
                  <a:srgbClr val="FFFFFF"/>
                </a:solidFill>
              </a:rPr>
              <a:t>Cursor AI: Supercharging Your Code</a:t>
            </a:r>
            <a:endParaRPr lang="en-IL" dirty="0">
              <a:solidFill>
                <a:srgbClr val="FFFFFF"/>
              </a:solidFill>
            </a:endParaRPr>
          </a:p>
        </p:txBody>
      </p:sp>
      <p:sp>
        <p:nvSpPr>
          <p:cNvPr id="3" name="Subtitle 2">
            <a:extLst>
              <a:ext uri="{FF2B5EF4-FFF2-40B4-BE49-F238E27FC236}">
                <a16:creationId xmlns:a16="http://schemas.microsoft.com/office/drawing/2014/main" id="{E2A413C4-6495-3644-2C18-8AA56D678B87}"/>
              </a:ext>
            </a:extLst>
          </p:cNvPr>
          <p:cNvSpPr>
            <a:spLocks noGrp="1"/>
          </p:cNvSpPr>
          <p:nvPr>
            <p:ph type="subTitle" idx="1"/>
          </p:nvPr>
        </p:nvSpPr>
        <p:spPr>
          <a:xfrm>
            <a:off x="1524000" y="4159404"/>
            <a:ext cx="9144000" cy="2201203"/>
          </a:xfrm>
        </p:spPr>
        <p:txBody>
          <a:bodyPr>
            <a:normAutofit/>
          </a:bodyPr>
          <a:lstStyle/>
          <a:p>
            <a:pPr>
              <a:buFont typeface="Arial" panose="020B0604020202020204" pitchFamily="34" charset="0"/>
              <a:buChar char="•"/>
            </a:pPr>
            <a:r>
              <a:rPr lang="en-US" sz="1100" b="0" i="0" dirty="0">
                <a:solidFill>
                  <a:srgbClr val="FFFFFF"/>
                </a:solidFill>
                <a:effectLst/>
                <a:latin typeface="Helvetica Neue" panose="02000503000000020004" pitchFamily="2" charset="0"/>
              </a:rPr>
              <a:t> You're already using Copilot, which is great. But what if you could have a coding assistant that understands your </a:t>
            </a:r>
            <a:r>
              <a:rPr lang="en-US" sz="1100" b="0" i="1" dirty="0">
                <a:solidFill>
                  <a:srgbClr val="FFFFFF"/>
                </a:solidFill>
                <a:effectLst/>
                <a:latin typeface="Helvetica Neue" panose="02000503000000020004" pitchFamily="2" charset="0"/>
              </a:rPr>
              <a:t>entire</a:t>
            </a:r>
            <a:r>
              <a:rPr lang="en-US" sz="1100" b="0" i="0" dirty="0">
                <a:solidFill>
                  <a:srgbClr val="FFFFFF"/>
                </a:solidFill>
                <a:effectLst/>
                <a:latin typeface="Helvetica Neue" panose="02000503000000020004" pitchFamily="2" charset="0"/>
              </a:rPr>
              <a:t> codebase and lets you work fluently with the AI assistant? That's Cursor.</a:t>
            </a:r>
          </a:p>
          <a:p>
            <a:pPr>
              <a:buFont typeface="Arial" panose="020B0604020202020204" pitchFamily="34" charset="0"/>
              <a:buChar char="•"/>
            </a:pPr>
            <a:r>
              <a:rPr lang="en-US" sz="1100" dirty="0">
                <a:solidFill>
                  <a:srgbClr val="FFFFFF"/>
                </a:solidFill>
                <a:latin typeface="Helvetica Neue" panose="02000503000000020004" pitchFamily="2" charset="0"/>
              </a:rPr>
              <a:t> </a:t>
            </a:r>
            <a:r>
              <a:rPr lang="en-US" sz="1100" b="0" i="0" dirty="0">
                <a:solidFill>
                  <a:srgbClr val="FFFFFF"/>
                </a:solidFill>
                <a:effectLst/>
                <a:latin typeface="Helvetica Neue" panose="02000503000000020004" pitchFamily="2" charset="0"/>
              </a:rPr>
              <a:t>We're going to cover setup, key features, and how to integrate it with your existing workflow.</a:t>
            </a:r>
          </a:p>
          <a:p>
            <a:pPr>
              <a:buFont typeface="Arial" panose="020B0604020202020204" pitchFamily="34" charset="0"/>
              <a:buChar char="•"/>
            </a:pPr>
            <a:r>
              <a:rPr lang="en-US" sz="1100" b="0" i="0" dirty="0">
                <a:solidFill>
                  <a:srgbClr val="FFFFFF"/>
                </a:solidFill>
                <a:effectLst/>
                <a:latin typeface="Helvetica Neue" panose="02000503000000020004" pitchFamily="2" charset="0"/>
              </a:rPr>
              <a:t>We’ll also cover how to use local LLMs as assistants in an IDE</a:t>
            </a:r>
          </a:p>
          <a:p>
            <a:pPr>
              <a:buFont typeface="Arial" panose="020B0604020202020204" pitchFamily="34" charset="0"/>
              <a:buChar char="•"/>
            </a:pPr>
            <a:r>
              <a:rPr lang="en-US" sz="1100" dirty="0">
                <a:solidFill>
                  <a:srgbClr val="FFFFFF"/>
                </a:solidFill>
                <a:latin typeface="Helvetica Neue" panose="02000503000000020004" pitchFamily="2" charset="0"/>
              </a:rPr>
              <a:t> </a:t>
            </a:r>
            <a:r>
              <a:rPr lang="en-US" sz="1100" b="0" i="0" dirty="0">
                <a:solidFill>
                  <a:srgbClr val="FFFFFF"/>
                </a:solidFill>
                <a:effectLst/>
                <a:latin typeface="Helvetica Neue" panose="02000503000000020004" pitchFamily="2" charset="0"/>
              </a:rPr>
              <a:t>This is all about practical, hands-on tips."</a:t>
            </a:r>
          </a:p>
          <a:p>
            <a:endParaRPr lang="en-IL" sz="1100" dirty="0">
              <a:solidFill>
                <a:srgbClr val="FFFFFF"/>
              </a:solidFill>
            </a:endParaRPr>
          </a:p>
        </p:txBody>
      </p:sp>
    </p:spTree>
    <p:extLst>
      <p:ext uri="{BB962C8B-B14F-4D97-AF65-F5344CB8AC3E}">
        <p14:creationId xmlns:p14="http://schemas.microsoft.com/office/powerpoint/2010/main" val="126028355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65E00-6C43-F83F-02C7-56B89EDE5E0A}"/>
              </a:ext>
            </a:extLst>
          </p:cNvPr>
          <p:cNvSpPr>
            <a:spLocks noGrp="1"/>
          </p:cNvSpPr>
          <p:nvPr>
            <p:ph type="title"/>
          </p:nvPr>
        </p:nvSpPr>
        <p:spPr/>
        <p:txBody>
          <a:bodyPr/>
          <a:lstStyle/>
          <a:p>
            <a:r>
              <a:rPr lang="en-US" b="1" i="0" dirty="0">
                <a:solidFill>
                  <a:srgbClr val="000000"/>
                </a:solidFill>
                <a:effectLst/>
                <a:latin typeface="Helvetica Neue" panose="02000503000000020004" pitchFamily="2" charset="0"/>
              </a:rPr>
              <a:t>Setup and Installation - Getting Started Quickly</a:t>
            </a:r>
            <a:endParaRPr lang="en-IL" dirty="0"/>
          </a:p>
        </p:txBody>
      </p:sp>
      <p:sp>
        <p:nvSpPr>
          <p:cNvPr id="3" name="Content Placeholder 2">
            <a:extLst>
              <a:ext uri="{FF2B5EF4-FFF2-40B4-BE49-F238E27FC236}">
                <a16:creationId xmlns:a16="http://schemas.microsoft.com/office/drawing/2014/main" id="{E42F019C-0147-6CE0-0DBA-D018DA467FF1}"/>
              </a:ext>
            </a:extLst>
          </p:cNvPr>
          <p:cNvSpPr>
            <a:spLocks noGrp="1"/>
          </p:cNvSpPr>
          <p:nvPr>
            <p:ph idx="1"/>
          </p:nvPr>
        </p:nvSpPr>
        <p:spPr/>
        <p:txBody>
          <a:bodyPr/>
          <a:lstStyle/>
          <a:p>
            <a:r>
              <a:rPr lang="en-US" b="0" i="0" dirty="0">
                <a:solidFill>
                  <a:srgbClr val="333333"/>
                </a:solidFill>
                <a:effectLst/>
                <a:latin typeface="Helvetica Neue" panose="02000503000000020004" pitchFamily="2" charset="0"/>
              </a:rPr>
              <a:t>First, download Cursor from </a:t>
            </a:r>
            <a:r>
              <a:rPr lang="en-US" b="0" i="0" u="none" strike="noStrike" dirty="0">
                <a:solidFill>
                  <a:srgbClr val="0088CC"/>
                </a:solidFill>
                <a:effectLst/>
                <a:latin typeface="Helvetica Neue" panose="02000503000000020004" pitchFamily="2" charset="0"/>
                <a:hlinkClick r:id="rId2"/>
              </a:rPr>
              <a:t>cursor.sh</a:t>
            </a:r>
            <a:r>
              <a:rPr lang="en-US" b="0" i="0" dirty="0">
                <a:solidFill>
                  <a:srgbClr val="333333"/>
                </a:solidFill>
                <a:effectLst/>
                <a:latin typeface="Helvetica Neue" panose="02000503000000020004" pitchFamily="2" charset="0"/>
              </a:rPr>
              <a:t>. It's a separate editor, built on VS Code, so the interface will feel familiar.</a:t>
            </a:r>
          </a:p>
          <a:p>
            <a:r>
              <a:rPr lang="en-US" dirty="0">
                <a:solidFill>
                  <a:srgbClr val="333333"/>
                </a:solidFill>
                <a:latin typeface="Helvetica Neue" panose="02000503000000020004" pitchFamily="2" charset="0"/>
              </a:rPr>
              <a:t>Or use brew: brew install --cask cursor</a:t>
            </a:r>
          </a:p>
          <a:p>
            <a:r>
              <a:rPr lang="en-US" b="0" i="0" dirty="0">
                <a:solidFill>
                  <a:srgbClr val="333333"/>
                </a:solidFill>
                <a:effectLst/>
                <a:latin typeface="Helvetica Neue" panose="02000503000000020004" pitchFamily="2" charset="0"/>
              </a:rPr>
              <a:t>You can install your favorite VS Code extensions, including the ones you use for your specific language.</a:t>
            </a:r>
          </a:p>
          <a:p>
            <a:r>
              <a:rPr lang="en-US" dirty="0">
                <a:solidFill>
                  <a:srgbClr val="333333"/>
                </a:solidFill>
                <a:latin typeface="Helvetica Neue" panose="02000503000000020004" pitchFamily="2" charset="0"/>
              </a:rPr>
              <a:t>Basically same keyboard shortcuts as </a:t>
            </a:r>
            <a:r>
              <a:rPr lang="en-US" dirty="0" err="1">
                <a:solidFill>
                  <a:srgbClr val="333333"/>
                </a:solidFill>
                <a:latin typeface="Helvetica Neue" panose="02000503000000020004" pitchFamily="2" charset="0"/>
              </a:rPr>
              <a:t>vscode</a:t>
            </a:r>
            <a:endParaRPr lang="en-US" dirty="0">
              <a:solidFill>
                <a:srgbClr val="333333"/>
              </a:solidFill>
              <a:latin typeface="Helvetica Neue" panose="02000503000000020004" pitchFamily="2" charset="0"/>
            </a:endParaRPr>
          </a:p>
          <a:p>
            <a:r>
              <a:rPr lang="en-US" dirty="0">
                <a:solidFill>
                  <a:srgbClr val="333333"/>
                </a:solidFill>
                <a:latin typeface="Helvetica Neue" panose="02000503000000020004" pitchFamily="2" charset="0"/>
              </a:rPr>
              <a:t>Demo: open </a:t>
            </a:r>
            <a:r>
              <a:rPr lang="en-US" dirty="0" err="1">
                <a:solidFill>
                  <a:srgbClr val="333333"/>
                </a:solidFill>
                <a:latin typeface="Helvetica Neue" panose="02000503000000020004" pitchFamily="2" charset="0"/>
              </a:rPr>
              <a:t>todo</a:t>
            </a:r>
            <a:r>
              <a:rPr lang="en-US" dirty="0">
                <a:solidFill>
                  <a:srgbClr val="333333"/>
                </a:solidFill>
                <a:latin typeface="Helvetica Neue" panose="02000503000000020004" pitchFamily="2" charset="0"/>
              </a:rPr>
              <a:t> app project, </a:t>
            </a:r>
            <a:r>
              <a:rPr lang="en-US" dirty="0">
                <a:solidFill>
                  <a:srgbClr val="FFFA73"/>
                </a:solidFill>
                <a:effectLst/>
                <a:latin typeface="Menlo" panose="020B0609030804020204" pitchFamily="49" charset="0"/>
              </a:rPr>
              <a:t>~/work/code/IDEs/</a:t>
            </a:r>
            <a:r>
              <a:rPr lang="en-US" dirty="0" err="1">
                <a:solidFill>
                  <a:srgbClr val="FFFA73"/>
                </a:solidFill>
                <a:effectLst/>
                <a:latin typeface="Menlo" panose="020B0609030804020204" pitchFamily="49" charset="0"/>
              </a:rPr>
              <a:t>cursorai</a:t>
            </a:r>
            <a:r>
              <a:rPr lang="en-US" dirty="0">
                <a:solidFill>
                  <a:srgbClr val="FFFA73"/>
                </a:solidFill>
                <a:effectLst/>
                <a:latin typeface="Menlo" panose="020B0609030804020204" pitchFamily="49" charset="0"/>
              </a:rPr>
              <a:t>/</a:t>
            </a:r>
            <a:r>
              <a:rPr lang="en-US" dirty="0" err="1">
                <a:solidFill>
                  <a:srgbClr val="FFFA73"/>
                </a:solidFill>
                <a:effectLst/>
                <a:latin typeface="Menlo" panose="020B0609030804020204" pitchFamily="49" charset="0"/>
              </a:rPr>
              <a:t>todo</a:t>
            </a:r>
            <a:r>
              <a:rPr lang="en-US" dirty="0">
                <a:solidFill>
                  <a:srgbClr val="FFFA73"/>
                </a:solidFill>
                <a:effectLst/>
                <a:latin typeface="Menlo" panose="020B0609030804020204" pitchFamily="49" charset="0"/>
              </a:rPr>
              <a:t>-app:]2017$ cursor .</a:t>
            </a:r>
          </a:p>
          <a:p>
            <a:endParaRPr lang="en-IL" dirty="0"/>
          </a:p>
        </p:txBody>
      </p:sp>
    </p:spTree>
    <p:extLst>
      <p:ext uri="{BB962C8B-B14F-4D97-AF65-F5344CB8AC3E}">
        <p14:creationId xmlns:p14="http://schemas.microsoft.com/office/powerpoint/2010/main" val="2734653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E487F4-EDFC-D5D2-D58F-A69A1E174EDF}"/>
              </a:ext>
            </a:extLst>
          </p:cNvPr>
          <p:cNvSpPr>
            <a:spLocks noGrp="1"/>
          </p:cNvSpPr>
          <p:nvPr>
            <p:ph type="title"/>
          </p:nvPr>
        </p:nvSpPr>
        <p:spPr>
          <a:xfrm>
            <a:off x="841249" y="539578"/>
            <a:ext cx="5981278" cy="1684638"/>
          </a:xfrm>
        </p:spPr>
        <p:txBody>
          <a:bodyPr>
            <a:normAutofit/>
          </a:bodyPr>
          <a:lstStyle/>
          <a:p>
            <a:r>
              <a:rPr lang="en-US" sz="4000"/>
              <a:t>D</a:t>
            </a:r>
            <a:r>
              <a:rPr lang="en-IL" sz="4000"/>
              <a:t>emo slide – chat about project</a:t>
            </a:r>
          </a:p>
        </p:txBody>
      </p:sp>
      <p:sp>
        <p:nvSpPr>
          <p:cNvPr id="3" name="Content Placeholder 2">
            <a:extLst>
              <a:ext uri="{FF2B5EF4-FFF2-40B4-BE49-F238E27FC236}">
                <a16:creationId xmlns:a16="http://schemas.microsoft.com/office/drawing/2014/main" id="{2B9DCC1A-CC03-8CC1-9F64-20CA11B107E3}"/>
              </a:ext>
            </a:extLst>
          </p:cNvPr>
          <p:cNvSpPr>
            <a:spLocks noGrp="1"/>
          </p:cNvSpPr>
          <p:nvPr>
            <p:ph idx="1"/>
          </p:nvPr>
        </p:nvSpPr>
        <p:spPr>
          <a:xfrm>
            <a:off x="838201" y="2409568"/>
            <a:ext cx="5981278" cy="3690551"/>
          </a:xfrm>
        </p:spPr>
        <p:txBody>
          <a:bodyPr>
            <a:normAutofit/>
          </a:bodyPr>
          <a:lstStyle/>
          <a:p>
            <a:r>
              <a:rPr lang="en-US" sz="2000" dirty="0" err="1"/>
              <a:t>Cmd</a:t>
            </a:r>
            <a:r>
              <a:rPr lang="en-US" sz="2000" dirty="0"/>
              <a:t> + enter – scan project</a:t>
            </a:r>
          </a:p>
          <a:p>
            <a:r>
              <a:rPr lang="en-US" sz="2000" dirty="0" err="1"/>
              <a:t>Alt+cmd+b</a:t>
            </a:r>
            <a:r>
              <a:rPr lang="en-US" sz="2000" dirty="0"/>
              <a:t> - O</a:t>
            </a:r>
            <a:r>
              <a:rPr lang="en-IL" sz="2000" dirty="0"/>
              <a:t>pen AI panel </a:t>
            </a:r>
          </a:p>
          <a:p>
            <a:r>
              <a:rPr lang="en-US" sz="2000" dirty="0"/>
              <a:t>A</a:t>
            </a:r>
            <a:r>
              <a:rPr lang="en-IL" sz="2000" dirty="0"/>
              <a:t>sk about project in chat pannel</a:t>
            </a:r>
          </a:p>
          <a:p>
            <a:r>
              <a:rPr lang="en-US" sz="2000" dirty="0"/>
              <a:t>D</a:t>
            </a:r>
            <a:r>
              <a:rPr lang="en-IL" sz="2000" dirty="0"/>
              <a:t>emo full function auto complete</a:t>
            </a:r>
          </a:p>
          <a:p>
            <a:endParaRPr lang="en-IL" sz="2000" dirty="0"/>
          </a:p>
          <a:p>
            <a:endParaRPr lang="en-IL" sz="2000" dirty="0"/>
          </a:p>
        </p:txBody>
      </p:sp>
      <p:pic>
        <p:nvPicPr>
          <p:cNvPr id="4" name="Picture 3">
            <a:extLst>
              <a:ext uri="{FF2B5EF4-FFF2-40B4-BE49-F238E27FC236}">
                <a16:creationId xmlns:a16="http://schemas.microsoft.com/office/drawing/2014/main" id="{461F75E5-DA45-84B5-431C-5E22BAFE7C56}"/>
              </a:ext>
            </a:extLst>
          </p:cNvPr>
          <p:cNvPicPr>
            <a:picLocks noChangeAspect="1"/>
          </p:cNvPicPr>
          <p:nvPr/>
        </p:nvPicPr>
        <p:blipFill>
          <a:blip r:embed="rId2"/>
          <a:stretch>
            <a:fillRect/>
          </a:stretch>
        </p:blipFill>
        <p:spPr>
          <a:xfrm>
            <a:off x="7187524" y="396410"/>
            <a:ext cx="4810874" cy="2176920"/>
          </a:xfrm>
          <a:prstGeom prst="rect">
            <a:avLst/>
          </a:prstGeom>
        </p:spPr>
      </p:pic>
      <p:pic>
        <p:nvPicPr>
          <p:cNvPr id="5" name="Picture 4">
            <a:extLst>
              <a:ext uri="{FF2B5EF4-FFF2-40B4-BE49-F238E27FC236}">
                <a16:creationId xmlns:a16="http://schemas.microsoft.com/office/drawing/2014/main" id="{5D2ED8F5-5127-3278-63E7-C652BDAD66A9}"/>
              </a:ext>
            </a:extLst>
          </p:cNvPr>
          <p:cNvPicPr>
            <a:picLocks noChangeAspect="1"/>
          </p:cNvPicPr>
          <p:nvPr/>
        </p:nvPicPr>
        <p:blipFill>
          <a:blip r:embed="rId3"/>
          <a:stretch>
            <a:fillRect/>
          </a:stretch>
        </p:blipFill>
        <p:spPr>
          <a:xfrm>
            <a:off x="8150162" y="2961503"/>
            <a:ext cx="2885588" cy="3138616"/>
          </a:xfrm>
          <a:prstGeom prst="rect">
            <a:avLst/>
          </a:prstGeom>
        </p:spPr>
      </p:pic>
    </p:spTree>
    <p:extLst>
      <p:ext uri="{BB962C8B-B14F-4D97-AF65-F5344CB8AC3E}">
        <p14:creationId xmlns:p14="http://schemas.microsoft.com/office/powerpoint/2010/main" val="1231542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0FE773-DE5B-B378-5D74-52D92D5D5D67}"/>
              </a:ext>
            </a:extLst>
          </p:cNvPr>
          <p:cNvSpPr>
            <a:spLocks noGrp="1"/>
          </p:cNvSpPr>
          <p:nvPr>
            <p:ph type="title"/>
          </p:nvPr>
        </p:nvSpPr>
        <p:spPr>
          <a:xfrm>
            <a:off x="793662" y="386930"/>
            <a:ext cx="10066122" cy="1298448"/>
          </a:xfrm>
        </p:spPr>
        <p:txBody>
          <a:bodyPr anchor="b">
            <a:normAutofit/>
          </a:bodyPr>
          <a:lstStyle/>
          <a:p>
            <a:r>
              <a:rPr lang="en-IL" sz="4800"/>
              <a:t>Why choose over co-pilot</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4BADBD3-24E2-AD65-BD09-EDFE7AB68AA8}"/>
              </a:ext>
            </a:extLst>
          </p:cNvPr>
          <p:cNvSpPr>
            <a:spLocks noGrp="1"/>
          </p:cNvSpPr>
          <p:nvPr>
            <p:ph idx="1"/>
          </p:nvPr>
        </p:nvSpPr>
        <p:spPr>
          <a:xfrm>
            <a:off x="793661" y="2599509"/>
            <a:ext cx="4530898" cy="3639450"/>
          </a:xfrm>
        </p:spPr>
        <p:txBody>
          <a:bodyPr anchor="ctr">
            <a:normAutofit fontScale="85000" lnSpcReduction="20000"/>
          </a:bodyPr>
          <a:lstStyle/>
          <a:p>
            <a:r>
              <a:rPr lang="en-US" sz="1700" dirty="0"/>
              <a:t>Full comparison: </a:t>
            </a:r>
            <a:r>
              <a:rPr lang="en-US" sz="1700" dirty="0">
                <a:hlinkClick r:id="rId2"/>
              </a:rPr>
              <a:t>https://docs.google.com/document/d/1W0t28VgCnX5sW2PgrITs94rexheNC_4kj7bDOqWtmn0/edit?tab=t.0</a:t>
            </a:r>
            <a:endParaRPr lang="en-US" sz="1700" dirty="0"/>
          </a:p>
          <a:p>
            <a:r>
              <a:rPr lang="en-US" sz="1700" dirty="0"/>
              <a:t>Better autocomplete scope suggest whole functions </a:t>
            </a:r>
            <a:r>
              <a:rPr lang="en-US" sz="1700" dirty="0" err="1"/>
              <a:t>etc</a:t>
            </a:r>
            <a:r>
              <a:rPr lang="en-US" sz="1700" dirty="0"/>
              <a:t> – learn more at </a:t>
            </a:r>
            <a:r>
              <a:rPr lang="en-US" sz="1700" dirty="0">
                <a:hlinkClick r:id="rId3"/>
              </a:rPr>
              <a:t>https://appwrk.com/cursor-ai-features</a:t>
            </a:r>
            <a:endParaRPr lang="en-US" sz="1700" dirty="0"/>
          </a:p>
          <a:p>
            <a:r>
              <a:rPr lang="en-US" sz="1700" dirty="0"/>
              <a:t>Custom LLM Architecture: Allowing Long-context processing and </a:t>
            </a:r>
            <a:r>
              <a:rPr lang="en-US" sz="1700" dirty="0" err="1"/>
              <a:t>MoE</a:t>
            </a:r>
            <a:r>
              <a:rPr lang="en-US" sz="1700" dirty="0"/>
              <a:t> (Mixture of Experts), e.g. react expert, DB expert </a:t>
            </a:r>
            <a:r>
              <a:rPr lang="en-US" sz="1700" dirty="0" err="1"/>
              <a:t>etc</a:t>
            </a:r>
            <a:r>
              <a:rPr lang="en-US" sz="1700" dirty="0"/>
              <a:t> all work together</a:t>
            </a:r>
          </a:p>
          <a:p>
            <a:r>
              <a:rPr lang="en-US" sz="1700" dirty="0"/>
              <a:t>Diff-Aware Predictions – suggest predicted next code block as diff</a:t>
            </a:r>
          </a:p>
          <a:p>
            <a:r>
              <a:rPr lang="en-US" sz="1700" dirty="0"/>
              <a:t>Predictive Editing – predict the highest probability next change and offer it (tab to complete) – learn more at https://</a:t>
            </a:r>
            <a:r>
              <a:rPr lang="en-US" sz="1700" dirty="0" err="1"/>
              <a:t>carlrannaberg.medium.com</a:t>
            </a:r>
            <a:r>
              <a:rPr lang="en-US" sz="1700" dirty="0"/>
              <a:t>/cursor-ai-its-not-another-vscode-fork-5-key-features-that-set-it-apart-fa6c9be534dd</a:t>
            </a:r>
          </a:p>
          <a:p>
            <a:br>
              <a:rPr lang="en-US" sz="1700" dirty="0"/>
            </a:br>
            <a:endParaRPr lang="en-US" sz="1700" dirty="0"/>
          </a:p>
          <a:p>
            <a:endParaRPr lang="en-IL" sz="1700" dirty="0"/>
          </a:p>
        </p:txBody>
      </p:sp>
      <p:pic>
        <p:nvPicPr>
          <p:cNvPr id="4" name="Picture 3">
            <a:extLst>
              <a:ext uri="{FF2B5EF4-FFF2-40B4-BE49-F238E27FC236}">
                <a16:creationId xmlns:a16="http://schemas.microsoft.com/office/drawing/2014/main" id="{FB53844F-C745-A88D-24B1-9F4B8747BA37}"/>
              </a:ext>
            </a:extLst>
          </p:cNvPr>
          <p:cNvPicPr>
            <a:picLocks noChangeAspect="1"/>
          </p:cNvPicPr>
          <p:nvPr/>
        </p:nvPicPr>
        <p:blipFill>
          <a:blip r:embed="rId4"/>
          <a:stretch>
            <a:fillRect/>
          </a:stretch>
        </p:blipFill>
        <p:spPr>
          <a:xfrm>
            <a:off x="5911532" y="2661100"/>
            <a:ext cx="5150277" cy="3360554"/>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288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0EF660-DCCA-5FF0-705A-A510900C552E}"/>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1" y="-1"/>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70B6E8-0785-4188-C3AE-369AC3D79F16}"/>
              </a:ext>
            </a:extLst>
          </p:cNvPr>
          <p:cNvSpPr>
            <a:spLocks noGrp="1"/>
          </p:cNvSpPr>
          <p:nvPr>
            <p:ph type="title"/>
          </p:nvPr>
        </p:nvSpPr>
        <p:spPr>
          <a:xfrm>
            <a:off x="804672" y="338328"/>
            <a:ext cx="5011473" cy="1773936"/>
          </a:xfrm>
        </p:spPr>
        <p:txBody>
          <a:bodyPr>
            <a:normAutofit/>
          </a:bodyPr>
          <a:lstStyle/>
          <a:p>
            <a:r>
              <a:rPr lang="en-IL" sz="3600">
                <a:solidFill>
                  <a:schemeClr val="tx2"/>
                </a:solidFill>
              </a:rPr>
              <a:t>Why choose over co-pilot</a:t>
            </a:r>
          </a:p>
        </p:txBody>
      </p:sp>
      <p:grpSp>
        <p:nvGrpSpPr>
          <p:cNvPr id="24" name="Group 23">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9919" y="170310"/>
            <a:ext cx="2514948" cy="2174333"/>
            <a:chOff x="-305" y="-4155"/>
            <a:chExt cx="2514948" cy="2174333"/>
          </a:xfrm>
        </p:grpSpPr>
        <p:sp>
          <p:nvSpPr>
            <p:cNvPr id="25" name="Freeform: Shape 24">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8" name="Freeform: Shape 27">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627D3806-8887-6D29-4766-84B7F28C765F}"/>
              </a:ext>
            </a:extLst>
          </p:cNvPr>
          <p:cNvSpPr>
            <a:spLocks noGrp="1"/>
          </p:cNvSpPr>
          <p:nvPr>
            <p:ph idx="1"/>
          </p:nvPr>
        </p:nvSpPr>
        <p:spPr>
          <a:xfrm>
            <a:off x="6355641" y="80010"/>
            <a:ext cx="5029200" cy="3348990"/>
          </a:xfrm>
        </p:spPr>
        <p:txBody>
          <a:bodyPr anchor="ctr">
            <a:normAutofit fontScale="92500" lnSpcReduction="20000"/>
          </a:bodyPr>
          <a:lstStyle/>
          <a:p>
            <a:r>
              <a:rPr lang="en-US" sz="1800" dirty="0">
                <a:solidFill>
                  <a:schemeClr val="tx2"/>
                </a:solidFill>
              </a:rPr>
              <a:t>Full file and or project generation based on text description</a:t>
            </a:r>
          </a:p>
          <a:p>
            <a:r>
              <a:rPr lang="en-US" sz="1800" dirty="0">
                <a:solidFill>
                  <a:schemeClr val="tx2"/>
                </a:solidFill>
              </a:rPr>
              <a:t>Example: demo</a:t>
            </a:r>
          </a:p>
          <a:p>
            <a:r>
              <a:rPr lang="en-US" sz="1800" dirty="0">
                <a:solidFill>
                  <a:schemeClr val="tx2"/>
                </a:solidFill>
              </a:rPr>
              <a:t>Learn more: https://</a:t>
            </a:r>
            <a:r>
              <a:rPr lang="en-US" sz="1800" dirty="0" err="1">
                <a:solidFill>
                  <a:schemeClr val="tx2"/>
                </a:solidFill>
              </a:rPr>
              <a:t>www.google.com</a:t>
            </a:r>
            <a:r>
              <a:rPr lang="en-US" sz="1800" dirty="0">
                <a:solidFill>
                  <a:schemeClr val="tx2"/>
                </a:solidFill>
              </a:rPr>
              <a:t>/</a:t>
            </a:r>
            <a:r>
              <a:rPr lang="en-US" sz="1800" dirty="0" err="1">
                <a:solidFill>
                  <a:schemeClr val="tx2"/>
                </a:solidFill>
              </a:rPr>
              <a:t>search?q</a:t>
            </a:r>
            <a:r>
              <a:rPr lang="en-US" sz="1800" dirty="0">
                <a:solidFill>
                  <a:schemeClr val="tx2"/>
                </a:solidFill>
              </a:rPr>
              <a:t>=</a:t>
            </a:r>
            <a:r>
              <a:rPr lang="en-US" sz="1800" dirty="0" err="1">
                <a:solidFill>
                  <a:schemeClr val="tx2"/>
                </a:solidFill>
              </a:rPr>
              <a:t>cursor+ai+Multi-File+Editing+and+Application+Generation&amp;oq</a:t>
            </a:r>
            <a:r>
              <a:rPr lang="en-US" sz="1800" dirty="0">
                <a:solidFill>
                  <a:schemeClr val="tx2"/>
                </a:solidFill>
              </a:rPr>
              <a:t>=</a:t>
            </a:r>
            <a:r>
              <a:rPr lang="en-US" sz="1800" dirty="0" err="1">
                <a:solidFill>
                  <a:schemeClr val="tx2"/>
                </a:solidFill>
              </a:rPr>
              <a:t>cursor+ai+Multi-File+Editing+and+Application+Generation&amp;gs_lcrp</a:t>
            </a:r>
            <a:r>
              <a:rPr lang="en-US" sz="1800" dirty="0">
                <a:solidFill>
                  <a:schemeClr val="tx2"/>
                </a:solidFill>
              </a:rPr>
              <a:t>=EgZjaHJvbWUyBggAEEUYOTIHCAEQIRigAdIBCDM4NDhqMGo0qAIAsAIB&amp;sourceid=</a:t>
            </a:r>
            <a:r>
              <a:rPr lang="en-US" sz="1800" dirty="0" err="1">
                <a:solidFill>
                  <a:schemeClr val="tx2"/>
                </a:solidFill>
              </a:rPr>
              <a:t>chrome&amp;ie</a:t>
            </a:r>
            <a:r>
              <a:rPr lang="en-US" sz="1800" dirty="0">
                <a:solidFill>
                  <a:schemeClr val="tx2"/>
                </a:solidFill>
              </a:rPr>
              <a:t>=UTF-8#fpstate=</a:t>
            </a:r>
            <a:r>
              <a:rPr lang="en-US" sz="1800" dirty="0" err="1">
                <a:solidFill>
                  <a:schemeClr val="tx2"/>
                </a:solidFill>
              </a:rPr>
              <a:t>ive&amp;vld</a:t>
            </a:r>
            <a:r>
              <a:rPr lang="en-US" sz="1800" dirty="0">
                <a:solidFill>
                  <a:schemeClr val="tx2"/>
                </a:solidFill>
              </a:rPr>
              <a:t>=cid:7b65c207,vid:y_P4rBQXk0M,st:0</a:t>
            </a:r>
            <a:br>
              <a:rPr lang="en-US" sz="1800" dirty="0">
                <a:solidFill>
                  <a:schemeClr val="tx2"/>
                </a:solidFill>
              </a:rPr>
            </a:br>
            <a:endParaRPr lang="en-US" sz="1800" dirty="0">
              <a:solidFill>
                <a:schemeClr val="tx2"/>
              </a:solidFill>
            </a:endParaRPr>
          </a:p>
          <a:p>
            <a:endParaRPr lang="en-IL" sz="1800" dirty="0">
              <a:solidFill>
                <a:schemeClr val="tx2"/>
              </a:solidFill>
            </a:endParaRPr>
          </a:p>
        </p:txBody>
      </p:sp>
      <p:pic>
        <p:nvPicPr>
          <p:cNvPr id="6" name="Picture 5">
            <a:extLst>
              <a:ext uri="{FF2B5EF4-FFF2-40B4-BE49-F238E27FC236}">
                <a16:creationId xmlns:a16="http://schemas.microsoft.com/office/drawing/2014/main" id="{C2ED6B1A-0F3C-1EF6-9A69-5F892D7E3198}"/>
              </a:ext>
            </a:extLst>
          </p:cNvPr>
          <p:cNvPicPr>
            <a:picLocks noChangeAspect="1"/>
          </p:cNvPicPr>
          <p:nvPr/>
        </p:nvPicPr>
        <p:blipFill>
          <a:blip r:embed="rId2"/>
          <a:stretch>
            <a:fillRect/>
          </a:stretch>
        </p:blipFill>
        <p:spPr>
          <a:xfrm>
            <a:off x="1052790" y="3364198"/>
            <a:ext cx="4400777" cy="2695476"/>
          </a:xfrm>
          <a:prstGeom prst="rect">
            <a:avLst/>
          </a:prstGeom>
        </p:spPr>
      </p:pic>
      <p:pic>
        <p:nvPicPr>
          <p:cNvPr id="5" name="Picture 4">
            <a:extLst>
              <a:ext uri="{FF2B5EF4-FFF2-40B4-BE49-F238E27FC236}">
                <a16:creationId xmlns:a16="http://schemas.microsoft.com/office/drawing/2014/main" id="{071C2502-F5BE-F6C4-E87A-5B06B8C73BA9}"/>
              </a:ext>
            </a:extLst>
          </p:cNvPr>
          <p:cNvPicPr>
            <a:picLocks noChangeAspect="1"/>
          </p:cNvPicPr>
          <p:nvPr/>
        </p:nvPicPr>
        <p:blipFill>
          <a:blip r:embed="rId3"/>
          <a:stretch>
            <a:fillRect/>
          </a:stretch>
        </p:blipFill>
        <p:spPr>
          <a:xfrm>
            <a:off x="6355641" y="4382581"/>
            <a:ext cx="5166360" cy="658710"/>
          </a:xfrm>
          <a:prstGeom prst="rect">
            <a:avLst/>
          </a:prstGeom>
        </p:spPr>
      </p:pic>
    </p:spTree>
    <p:extLst>
      <p:ext uri="{BB962C8B-B14F-4D97-AF65-F5344CB8AC3E}">
        <p14:creationId xmlns:p14="http://schemas.microsoft.com/office/powerpoint/2010/main" val="3742130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8FB588-643E-CD78-DB62-F4A932B3E467}"/>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16579E-3646-50E7-DC9E-B8CFBABD3999}"/>
              </a:ext>
            </a:extLst>
          </p:cNvPr>
          <p:cNvSpPr>
            <a:spLocks noGrp="1"/>
          </p:cNvSpPr>
          <p:nvPr>
            <p:ph type="title"/>
          </p:nvPr>
        </p:nvSpPr>
        <p:spPr>
          <a:xfrm>
            <a:off x="640080" y="329184"/>
            <a:ext cx="6894576" cy="1783080"/>
          </a:xfrm>
        </p:spPr>
        <p:txBody>
          <a:bodyPr vert="horz" lIns="91440" tIns="45720" rIns="91440" bIns="45720" rtlCol="0" anchor="b">
            <a:normAutofit/>
          </a:bodyPr>
          <a:lstStyle/>
          <a:p>
            <a:r>
              <a:rPr lang="en-US" sz="5400" kern="1200">
                <a:latin typeface="+mj-lt"/>
                <a:ea typeface="+mj-ea"/>
                <a:cs typeface="+mj-cs"/>
              </a:rPr>
              <a:t>Why choose over co-pilot</a:t>
            </a:r>
          </a:p>
        </p:txBody>
      </p:sp>
      <p:sp>
        <p:nvSpPr>
          <p:cNvPr id="4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F41E4D3-EDAE-D60B-4E3D-FB691DFE2234}"/>
              </a:ext>
            </a:extLst>
          </p:cNvPr>
          <p:cNvSpPr>
            <a:spLocks noGrp="1"/>
          </p:cNvSpPr>
          <p:nvPr>
            <p:ph idx="1"/>
          </p:nvPr>
        </p:nvSpPr>
        <p:spPr>
          <a:xfrm>
            <a:off x="640080" y="2706624"/>
            <a:ext cx="6894576" cy="3483864"/>
          </a:xfrm>
        </p:spPr>
        <p:txBody>
          <a:bodyPr vert="horz" lIns="91440" tIns="45720" rIns="91440" bIns="45720" rtlCol="0">
            <a:normAutofit/>
          </a:bodyPr>
          <a:lstStyle/>
          <a:p>
            <a:r>
              <a:rPr lang="en-US" sz="2200" kern="1200" dirty="0">
                <a:latin typeface="+mn-lt"/>
                <a:ea typeface="+mn-ea"/>
                <a:cs typeface="+mn-cs"/>
              </a:rPr>
              <a:t>Example: I created a generation prompt by providing a generation prompt to another AI model</a:t>
            </a:r>
          </a:p>
          <a:p>
            <a:r>
              <a:rPr lang="en-US" sz="2200" dirty="0"/>
              <a:t>Then I </a:t>
            </a:r>
            <a:r>
              <a:rPr lang="en-US" sz="2200" dirty="0" err="1"/>
              <a:t>cmd+k</a:t>
            </a:r>
            <a:r>
              <a:rPr lang="en-US" sz="2200" dirty="0"/>
              <a:t> in cursor and ask it to generate the project</a:t>
            </a:r>
          </a:p>
          <a:p>
            <a:r>
              <a:rPr lang="en-US" sz="2200" dirty="0"/>
              <a:t>Generate project structure </a:t>
            </a:r>
            <a:r>
              <a:rPr lang="en-US" sz="2200" dirty="0" err="1"/>
              <a:t>etc</a:t>
            </a:r>
            <a:endParaRPr lang="en-US" sz="2200" dirty="0"/>
          </a:p>
          <a:p>
            <a:endParaRPr lang="en-US" sz="2200" kern="1200" dirty="0">
              <a:latin typeface="+mn-lt"/>
              <a:ea typeface="+mn-ea"/>
              <a:cs typeface="+mn-cs"/>
            </a:endParaRPr>
          </a:p>
        </p:txBody>
      </p:sp>
      <p:pic>
        <p:nvPicPr>
          <p:cNvPr id="4" name="Picture 3">
            <a:extLst>
              <a:ext uri="{FF2B5EF4-FFF2-40B4-BE49-F238E27FC236}">
                <a16:creationId xmlns:a16="http://schemas.microsoft.com/office/drawing/2014/main" id="{BBBE2A52-56F8-9DC9-000D-ECF1AB6F8958}"/>
              </a:ext>
            </a:extLst>
          </p:cNvPr>
          <p:cNvPicPr>
            <a:picLocks noChangeAspect="1"/>
          </p:cNvPicPr>
          <p:nvPr/>
        </p:nvPicPr>
        <p:blipFill>
          <a:blip r:embed="rId2"/>
          <a:stretch>
            <a:fillRect/>
          </a:stretch>
        </p:blipFill>
        <p:spPr>
          <a:xfrm>
            <a:off x="8807658" y="329183"/>
            <a:ext cx="2126580" cy="3429969"/>
          </a:xfrm>
          <a:prstGeom prst="rect">
            <a:avLst/>
          </a:prstGeom>
        </p:spPr>
      </p:pic>
      <p:pic>
        <p:nvPicPr>
          <p:cNvPr id="8" name="Picture 7">
            <a:extLst>
              <a:ext uri="{FF2B5EF4-FFF2-40B4-BE49-F238E27FC236}">
                <a16:creationId xmlns:a16="http://schemas.microsoft.com/office/drawing/2014/main" id="{3C83C764-DC0E-EB6C-4723-2DBD728A3E59}"/>
              </a:ext>
            </a:extLst>
          </p:cNvPr>
          <p:cNvPicPr>
            <a:picLocks noChangeAspect="1"/>
          </p:cNvPicPr>
          <p:nvPr/>
        </p:nvPicPr>
        <p:blipFill>
          <a:blip r:embed="rId3"/>
          <a:stretch>
            <a:fillRect/>
          </a:stretch>
        </p:blipFill>
        <p:spPr>
          <a:xfrm>
            <a:off x="8048244" y="4079193"/>
            <a:ext cx="3627120" cy="2176272"/>
          </a:xfrm>
          <a:prstGeom prst="rect">
            <a:avLst/>
          </a:prstGeom>
        </p:spPr>
      </p:pic>
    </p:spTree>
    <p:extLst>
      <p:ext uri="{BB962C8B-B14F-4D97-AF65-F5344CB8AC3E}">
        <p14:creationId xmlns:p14="http://schemas.microsoft.com/office/powerpoint/2010/main" val="3457824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8F765A-0367-7774-5899-AE197671913F}"/>
              </a:ext>
            </a:extLst>
          </p:cNvPr>
          <p:cNvSpPr>
            <a:spLocks noGrp="1"/>
          </p:cNvSpPr>
          <p:nvPr>
            <p:ph type="title"/>
          </p:nvPr>
        </p:nvSpPr>
        <p:spPr>
          <a:xfrm>
            <a:off x="871442" y="685800"/>
            <a:ext cx="4353116" cy="1474666"/>
          </a:xfrm>
        </p:spPr>
        <p:txBody>
          <a:bodyPr anchor="b">
            <a:normAutofit/>
          </a:bodyPr>
          <a:lstStyle/>
          <a:p>
            <a:pPr algn="ctr"/>
            <a:r>
              <a:rPr lang="en-IL" sz="3200">
                <a:solidFill>
                  <a:srgbClr val="595959"/>
                </a:solidFill>
              </a:rPr>
              <a:t>Agent</a:t>
            </a:r>
          </a:p>
        </p:txBody>
      </p:sp>
      <p:sp>
        <p:nvSpPr>
          <p:cNvPr id="3" name="Content Placeholder 2">
            <a:extLst>
              <a:ext uri="{FF2B5EF4-FFF2-40B4-BE49-F238E27FC236}">
                <a16:creationId xmlns:a16="http://schemas.microsoft.com/office/drawing/2014/main" id="{C42B05BA-B307-2F23-783A-AE826BA5827F}"/>
              </a:ext>
            </a:extLst>
          </p:cNvPr>
          <p:cNvSpPr>
            <a:spLocks noGrp="1"/>
          </p:cNvSpPr>
          <p:nvPr>
            <p:ph idx="1"/>
          </p:nvPr>
        </p:nvSpPr>
        <p:spPr>
          <a:xfrm>
            <a:off x="871442" y="2447337"/>
            <a:ext cx="4353116" cy="3770434"/>
          </a:xfrm>
        </p:spPr>
        <p:txBody>
          <a:bodyPr anchor="t">
            <a:normAutofit/>
          </a:bodyPr>
          <a:lstStyle/>
          <a:p>
            <a:r>
              <a:rPr lang="en-US" sz="2000">
                <a:solidFill>
                  <a:srgbClr val="595959"/>
                </a:solidFill>
              </a:rPr>
              <a:t>C</a:t>
            </a:r>
            <a:r>
              <a:rPr lang="en-IL" sz="2000">
                <a:solidFill>
                  <a:srgbClr val="595959"/>
                </a:solidFill>
              </a:rPr>
              <a:t>md + L (chat). </a:t>
            </a:r>
            <a:r>
              <a:rPr lang="en-US" sz="2000">
                <a:solidFill>
                  <a:srgbClr val="595959"/>
                </a:solidFill>
              </a:rPr>
              <a:t>S</a:t>
            </a:r>
            <a:r>
              <a:rPr lang="en-IL" sz="2000">
                <a:solidFill>
                  <a:srgbClr val="595959"/>
                </a:solidFill>
              </a:rPr>
              <a:t>upports, among else,</a:t>
            </a:r>
          </a:p>
          <a:p>
            <a:pPr fontAlgn="base">
              <a:spcBef>
                <a:spcPts val="750"/>
              </a:spcBef>
              <a:buFont typeface="Arial" panose="020B0604020202020204" pitchFamily="34" charset="0"/>
              <a:buChar char="•"/>
            </a:pPr>
            <a:r>
              <a:rPr lang="en-US" sz="2000" b="0" i="0">
                <a:solidFill>
                  <a:srgbClr val="595959"/>
                </a:solidFill>
                <a:effectLst/>
                <a:latin typeface="Poppins" panose="020B0604020202020204" pitchFamily="34" charset="0"/>
              </a:rPr>
              <a:t>Pull in context automatically like try recommended, explain etc</a:t>
            </a:r>
          </a:p>
          <a:p>
            <a:pPr fontAlgn="base">
              <a:spcBef>
                <a:spcPts val="750"/>
              </a:spcBef>
              <a:buFont typeface="Arial" panose="020B0604020202020204" pitchFamily="34" charset="0"/>
              <a:buChar char="•"/>
            </a:pPr>
            <a:r>
              <a:rPr lang="en-US" sz="2000" b="0" i="0">
                <a:solidFill>
                  <a:srgbClr val="595959"/>
                </a:solidFill>
                <a:effectLst/>
                <a:latin typeface="Poppins" panose="020B0604020202020204" pitchFamily="34" charset="0"/>
              </a:rPr>
              <a:t>Run terminal commands</a:t>
            </a:r>
          </a:p>
          <a:p>
            <a:pPr fontAlgn="base">
              <a:spcBef>
                <a:spcPts val="750"/>
              </a:spcBef>
              <a:buFont typeface="Arial" panose="020B0604020202020204" pitchFamily="34" charset="0"/>
              <a:buChar char="•"/>
            </a:pPr>
            <a:r>
              <a:rPr lang="en-US" sz="2000" b="0" i="0">
                <a:solidFill>
                  <a:srgbClr val="595959"/>
                </a:solidFill>
                <a:effectLst/>
                <a:latin typeface="Poppins" panose="020B0604020202020204" pitchFamily="34" charset="0"/>
              </a:rPr>
              <a:t>Create and modify files</a:t>
            </a:r>
          </a:p>
          <a:p>
            <a:pPr fontAlgn="base">
              <a:spcBef>
                <a:spcPts val="750"/>
              </a:spcBef>
              <a:buFont typeface="Arial" panose="020B0604020202020204" pitchFamily="34" charset="0"/>
              <a:buChar char="•"/>
            </a:pPr>
            <a:r>
              <a:rPr lang="en-US" sz="2000" b="0" i="0">
                <a:solidFill>
                  <a:srgbClr val="595959"/>
                </a:solidFill>
                <a:effectLst/>
                <a:latin typeface="Poppins" panose="020B0604020202020204" pitchFamily="34" charset="0"/>
              </a:rPr>
              <a:t>Do semantic code search</a:t>
            </a:r>
          </a:p>
          <a:p>
            <a:pPr fontAlgn="base">
              <a:spcBef>
                <a:spcPts val="750"/>
              </a:spcBef>
              <a:buFont typeface="Arial" panose="020B0604020202020204" pitchFamily="34" charset="0"/>
              <a:buChar char="•"/>
            </a:pPr>
            <a:r>
              <a:rPr lang="en-US" sz="2000" b="0" i="0">
                <a:solidFill>
                  <a:srgbClr val="595959"/>
                </a:solidFill>
                <a:effectLst/>
                <a:latin typeface="Poppins" panose="020B0604020202020204" pitchFamily="34" charset="0"/>
              </a:rPr>
              <a:t>Handle file operations</a:t>
            </a:r>
          </a:p>
          <a:p>
            <a:endParaRPr lang="en-IL" sz="2000">
              <a:solidFill>
                <a:srgbClr val="595959"/>
              </a:solidFill>
            </a:endParaRPr>
          </a:p>
        </p:txBody>
      </p:sp>
      <p:pic>
        <p:nvPicPr>
          <p:cNvPr id="4" name="Picture 3">
            <a:extLst>
              <a:ext uri="{FF2B5EF4-FFF2-40B4-BE49-F238E27FC236}">
                <a16:creationId xmlns:a16="http://schemas.microsoft.com/office/drawing/2014/main" id="{CABAA62C-B7E6-5F74-10C6-9B75DEA98E0D}"/>
              </a:ext>
            </a:extLst>
          </p:cNvPr>
          <p:cNvPicPr>
            <a:picLocks noChangeAspect="1"/>
          </p:cNvPicPr>
          <p:nvPr/>
        </p:nvPicPr>
        <p:blipFill>
          <a:blip r:embed="rId2"/>
          <a:srcRect t="4390" r="2" b="20882"/>
          <a:stretch/>
        </p:blipFill>
        <p:spPr>
          <a:xfrm>
            <a:off x="7301904" y="685799"/>
            <a:ext cx="3756850" cy="5531972"/>
          </a:xfrm>
          <a:prstGeom prst="rect">
            <a:avLst/>
          </a:prstGeom>
        </p:spPr>
      </p:pic>
      <p:sp>
        <p:nvSpPr>
          <p:cNvPr id="5" name="TextBox 4">
            <a:extLst>
              <a:ext uri="{FF2B5EF4-FFF2-40B4-BE49-F238E27FC236}">
                <a16:creationId xmlns:a16="http://schemas.microsoft.com/office/drawing/2014/main" id="{AF199F39-1957-9B97-BAAA-96D0ED427BD3}"/>
              </a:ext>
            </a:extLst>
          </p:cNvPr>
          <p:cNvSpPr txBox="1"/>
          <p:nvPr/>
        </p:nvSpPr>
        <p:spPr>
          <a:xfrm>
            <a:off x="2449286" y="7576457"/>
            <a:ext cx="184731" cy="369332"/>
          </a:xfrm>
          <a:prstGeom prst="rect">
            <a:avLst/>
          </a:prstGeom>
          <a:noFill/>
        </p:spPr>
        <p:txBody>
          <a:bodyPr wrap="none" rtlCol="0">
            <a:spAutoFit/>
          </a:bodyPr>
          <a:lstStyle/>
          <a:p>
            <a:endParaRPr lang="en-IL" dirty="0"/>
          </a:p>
        </p:txBody>
      </p:sp>
    </p:spTree>
    <p:extLst>
      <p:ext uri="{BB962C8B-B14F-4D97-AF65-F5344CB8AC3E}">
        <p14:creationId xmlns:p14="http://schemas.microsoft.com/office/powerpoint/2010/main" val="441600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7DDE-D048-9AEF-E0F9-EB2C976CD398}"/>
              </a:ext>
            </a:extLst>
          </p:cNvPr>
          <p:cNvSpPr>
            <a:spLocks noGrp="1"/>
          </p:cNvSpPr>
          <p:nvPr>
            <p:ph type="title"/>
          </p:nvPr>
        </p:nvSpPr>
        <p:spPr/>
        <p:txBody>
          <a:bodyPr/>
          <a:lstStyle/>
          <a:p>
            <a:r>
              <a:rPr lang="en-IL" dirty="0"/>
              <a:t>Some more co-pilot weaknesses</a:t>
            </a:r>
          </a:p>
        </p:txBody>
      </p:sp>
      <p:sp>
        <p:nvSpPr>
          <p:cNvPr id="3" name="Content Placeholder 2">
            <a:extLst>
              <a:ext uri="{FF2B5EF4-FFF2-40B4-BE49-F238E27FC236}">
                <a16:creationId xmlns:a16="http://schemas.microsoft.com/office/drawing/2014/main" id="{A77B62E1-B07D-839B-A783-92CDFD3BB058}"/>
              </a:ext>
            </a:extLst>
          </p:cNvPr>
          <p:cNvSpPr>
            <a:spLocks noGrp="1"/>
          </p:cNvSpPr>
          <p:nvPr>
            <p:ph idx="1"/>
          </p:nvPr>
        </p:nvSpPr>
        <p:spPr/>
        <p:txBody>
          <a:bodyPr>
            <a:normAutofit fontScale="85000" lnSpcReduction="20000"/>
          </a:bodyPr>
          <a:lstStyle/>
          <a:p>
            <a:r>
              <a:rPr lang="en-IL" dirty="0"/>
              <a:t>Limited context window. Esp. felt in big projects. </a:t>
            </a:r>
            <a:r>
              <a:rPr lang="en-US" dirty="0"/>
              <a:t>S</a:t>
            </a:r>
            <a:r>
              <a:rPr lang="en-IL" dirty="0"/>
              <a:t>ee: </a:t>
            </a:r>
            <a:r>
              <a:rPr lang="en-US" dirty="0">
                <a:hlinkClick r:id="rId2"/>
              </a:rPr>
              <a:t>https://www.reddit.com/r/cursor/comments/1f7cku2/cursor_vs_vscodecopilot/</a:t>
            </a:r>
            <a:r>
              <a:rPr lang="en-US" dirty="0"/>
              <a:t>, quote: “he difference is huge: </a:t>
            </a:r>
            <a:r>
              <a:rPr lang="en-US" dirty="0" err="1"/>
              <a:t>VSCode+Copilot</a:t>
            </a:r>
            <a:r>
              <a:rPr lang="en-US" dirty="0"/>
              <a:t> feels like a generation old. Cursor feels so more natural, it covers more stuff, the chat is more immediately useful, applying changes shows the difference. Even the ⌘K is better, with </a:t>
            </a:r>
            <a:r>
              <a:rPr lang="en-US" dirty="0" err="1"/>
              <a:t>followup</a:t>
            </a:r>
            <a:r>
              <a:rPr lang="en-US" dirty="0"/>
              <a:t> on the proposed code: with Copilot you have to accept it then change again.”</a:t>
            </a:r>
          </a:p>
          <a:p>
            <a:r>
              <a:rPr lang="en-US" dirty="0"/>
              <a:t>Occasional Inaccuracies:  can sometimes generate incorrect or irrelevant code, requiring developers to review and validate the suggestions. Can be seen in many reviews: </a:t>
            </a:r>
            <a:r>
              <a:rPr lang="en-US" sz="1800" b="0" i="0" u="sng" strike="noStrike" dirty="0">
                <a:solidFill>
                  <a:srgbClr val="0000EE"/>
                </a:solidFill>
                <a:effectLst/>
                <a:latin typeface="Arial" panose="020B0604020202020204" pitchFamily="34" charset="0"/>
                <a:hlinkClick r:id="rId3"/>
              </a:rPr>
              <a:t>https://www.gartner.com/reviews/market/generative-ai-apps/vendor/github/product/github-copilot</a:t>
            </a:r>
            <a:endParaRPr lang="en-US" sz="1800" b="0" i="0" u="sng" strike="noStrike" dirty="0">
              <a:solidFill>
                <a:srgbClr val="0000EE"/>
              </a:solidFill>
              <a:effectLst/>
              <a:latin typeface="Arial" panose="020B0604020202020204" pitchFamily="34" charset="0"/>
            </a:endParaRPr>
          </a:p>
          <a:p>
            <a:r>
              <a:rPr lang="en-US" dirty="0"/>
              <a:t>Reliance on open ai models only. Can be a significant drawback since the competition between the AI companies is fierce and there are many non open ai models who are either cheaper or better in some areas.</a:t>
            </a:r>
            <a:br>
              <a:rPr lang="en-US" dirty="0"/>
            </a:br>
            <a:endParaRPr lang="en-IL" dirty="0"/>
          </a:p>
        </p:txBody>
      </p:sp>
    </p:spTree>
    <p:extLst>
      <p:ext uri="{BB962C8B-B14F-4D97-AF65-F5344CB8AC3E}">
        <p14:creationId xmlns:p14="http://schemas.microsoft.com/office/powerpoint/2010/main" val="238254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264A9-ADC8-583D-7E82-7F4B54C5889B}"/>
              </a:ext>
            </a:extLst>
          </p:cNvPr>
          <p:cNvSpPr>
            <a:spLocks noGrp="1"/>
          </p:cNvSpPr>
          <p:nvPr>
            <p:ph type="title"/>
          </p:nvPr>
        </p:nvSpPr>
        <p:spPr/>
        <p:txBody>
          <a:bodyPr/>
          <a:lstStyle/>
          <a:p>
            <a:r>
              <a:rPr lang="en-IL" dirty="0"/>
              <a:t>Privacy</a:t>
            </a:r>
          </a:p>
        </p:txBody>
      </p:sp>
      <p:sp>
        <p:nvSpPr>
          <p:cNvPr id="3" name="Content Placeholder 2">
            <a:extLst>
              <a:ext uri="{FF2B5EF4-FFF2-40B4-BE49-F238E27FC236}">
                <a16:creationId xmlns:a16="http://schemas.microsoft.com/office/drawing/2014/main" id="{C4E308E0-B047-8487-AD3C-52E7B74AB854}"/>
              </a:ext>
            </a:extLst>
          </p:cNvPr>
          <p:cNvSpPr>
            <a:spLocks noGrp="1"/>
          </p:cNvSpPr>
          <p:nvPr>
            <p:ph idx="1"/>
          </p:nvPr>
        </p:nvSpPr>
        <p:spPr/>
        <p:txBody>
          <a:bodyPr>
            <a:normAutofit fontScale="85000" lnSpcReduction="20000"/>
          </a:bodyPr>
          <a:lstStyle/>
          <a:p>
            <a:endParaRPr lang="en-IL" dirty="0"/>
          </a:p>
          <a:p>
            <a:r>
              <a:rPr lang="en-US" dirty="0">
                <a:solidFill>
                  <a:srgbClr val="000000"/>
                </a:solidFill>
                <a:effectLst/>
              </a:rPr>
              <a:t>Privacy Mode: Cursor AI offers a "Privacy Mode" in its settings. When enabled, Cursor claims that:   </a:t>
            </a:r>
            <a:br>
              <a:rPr lang="en-US" dirty="0">
                <a:solidFill>
                  <a:srgbClr val="000000"/>
                </a:solidFill>
                <a:effectLst/>
              </a:rPr>
            </a:br>
            <a:endParaRPr lang="en-US" dirty="0">
              <a:solidFill>
                <a:srgbClr val="000000"/>
              </a:solidFill>
              <a:effectLst/>
            </a:endParaRPr>
          </a:p>
          <a:p>
            <a:pPr lvl="1"/>
            <a:r>
              <a:rPr lang="en-US" dirty="0">
                <a:solidFill>
                  <a:srgbClr val="000000"/>
                </a:solidFill>
                <a:effectLst/>
              </a:rPr>
              <a:t>Zero data retention is enabled</a:t>
            </a:r>
          </a:p>
          <a:p>
            <a:pPr lvl="1"/>
            <a:r>
              <a:rPr lang="en-US" dirty="0">
                <a:solidFill>
                  <a:srgbClr val="000000"/>
                </a:solidFill>
                <a:effectLst/>
              </a:rPr>
              <a:t>None of your code is stored or used for training by them or any third party</a:t>
            </a:r>
          </a:p>
          <a:p>
            <a:pPr lvl="1"/>
            <a:r>
              <a:rPr lang="en-US" dirty="0">
                <a:solidFill>
                  <a:srgbClr val="000000"/>
                </a:solidFill>
                <a:effectLst/>
              </a:rPr>
              <a:t>Privacy Policy | Cursor - The AI Code Editor: </a:t>
            </a:r>
            <a:r>
              <a:rPr lang="en-US" dirty="0">
                <a:solidFill>
                  <a:srgbClr val="000000"/>
                </a:solidFill>
                <a:effectLst/>
                <a:hlinkClick r:id="rId2"/>
              </a:rPr>
              <a:t>www.cursor.com</a:t>
            </a:r>
            <a:r>
              <a:rPr lang="en-US" dirty="0">
                <a:solidFill>
                  <a:srgbClr val="000000"/>
                </a:solidFill>
                <a:effectLst/>
              </a:rPr>
              <a:t>, </a:t>
            </a:r>
            <a:r>
              <a:rPr lang="en-US" dirty="0">
                <a:solidFill>
                  <a:srgbClr val="000000"/>
                </a:solidFill>
                <a:effectLst/>
                <a:hlinkClick r:id="rId3"/>
              </a:rPr>
              <a:t>https://www.cursor.com/privacy</a:t>
            </a:r>
            <a:r>
              <a:rPr lang="en-US" dirty="0">
                <a:solidFill>
                  <a:srgbClr val="000000"/>
                </a:solidFill>
                <a:effectLst/>
              </a:rPr>
              <a:t>, </a:t>
            </a:r>
          </a:p>
          <a:p>
            <a:r>
              <a:rPr lang="en-US" dirty="0">
                <a:solidFill>
                  <a:srgbClr val="000000"/>
                </a:solidFill>
                <a:effectLst/>
              </a:rPr>
              <a:t>Workspace Trust (VS Code Feature): Cursor is built on VS Code, which has a "Workspace Trust" feature. This helps prevent potentially malicious code in projects from automatically running. </a:t>
            </a:r>
            <a:r>
              <a:rPr lang="en-US" dirty="0">
                <a:solidFill>
                  <a:srgbClr val="000000"/>
                </a:solidFill>
              </a:rPr>
              <a:t> So for extra protection make </a:t>
            </a:r>
            <a:r>
              <a:rPr lang="en-US" dirty="0">
                <a:solidFill>
                  <a:srgbClr val="000000"/>
                </a:solidFill>
                <a:effectLst/>
              </a:rPr>
              <a:t>sure this is enabled in your Cursor settings: </a:t>
            </a:r>
            <a:r>
              <a:rPr lang="en-US" dirty="0" err="1">
                <a:solidFill>
                  <a:srgbClr val="000000"/>
                </a:solidFill>
                <a:effectLst/>
              </a:rPr>
              <a:t>security.workspace.trust.enabled</a:t>
            </a:r>
            <a:endParaRPr lang="en-US" dirty="0">
              <a:solidFill>
                <a:srgbClr val="000000"/>
              </a:solidFill>
              <a:effectLst/>
            </a:endParaRPr>
          </a:p>
          <a:p>
            <a:r>
              <a:rPr lang="en-US" dirty="0">
                <a:solidFill>
                  <a:srgbClr val="000000"/>
                </a:solidFill>
                <a:effectLst/>
              </a:rPr>
              <a:t>This is the closest you'll get to a guarantee of local processing within Cursor itself 😅</a:t>
            </a:r>
          </a:p>
          <a:p>
            <a:endParaRPr lang="en-IL" dirty="0"/>
          </a:p>
        </p:txBody>
      </p:sp>
    </p:spTree>
    <p:extLst>
      <p:ext uri="{BB962C8B-B14F-4D97-AF65-F5344CB8AC3E}">
        <p14:creationId xmlns:p14="http://schemas.microsoft.com/office/powerpoint/2010/main" val="993831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8EFE3-6619-C4F8-768A-EA16787B3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A785B-2040-D058-06F6-E0C56D142801}"/>
              </a:ext>
            </a:extLst>
          </p:cNvPr>
          <p:cNvSpPr>
            <a:spLocks noGrp="1"/>
          </p:cNvSpPr>
          <p:nvPr>
            <p:ph type="title"/>
          </p:nvPr>
        </p:nvSpPr>
        <p:spPr/>
        <p:txBody>
          <a:bodyPr/>
          <a:lstStyle/>
          <a:p>
            <a:r>
              <a:rPr lang="en-IL" dirty="0"/>
              <a:t>Privacy </a:t>
            </a:r>
          </a:p>
        </p:txBody>
      </p:sp>
      <p:sp>
        <p:nvSpPr>
          <p:cNvPr id="3" name="Content Placeholder 2">
            <a:extLst>
              <a:ext uri="{FF2B5EF4-FFF2-40B4-BE49-F238E27FC236}">
                <a16:creationId xmlns:a16="http://schemas.microsoft.com/office/drawing/2014/main" id="{BBDD963A-0DB3-406A-E22D-8D97B2BBA990}"/>
              </a:ext>
            </a:extLst>
          </p:cNvPr>
          <p:cNvSpPr>
            <a:spLocks noGrp="1"/>
          </p:cNvSpPr>
          <p:nvPr>
            <p:ph idx="1"/>
          </p:nvPr>
        </p:nvSpPr>
        <p:spPr/>
        <p:txBody>
          <a:bodyPr>
            <a:normAutofit/>
          </a:bodyPr>
          <a:lstStyle/>
          <a:p>
            <a:endParaRPr lang="en-IL" dirty="0"/>
          </a:p>
          <a:p>
            <a:r>
              <a:rPr lang="en-IL" dirty="0"/>
              <a:t>However, if it’s not enough for an extra sensitive project/s just use copilot or the excellent ollama and any of the top models available for free, such as llama 3.x, qwen, mistral and deepseek models. I’ll demo how to use deepseek-r1:32b with vscode.</a:t>
            </a:r>
          </a:p>
          <a:p>
            <a:endParaRPr lang="en-IL" dirty="0"/>
          </a:p>
        </p:txBody>
      </p:sp>
    </p:spTree>
    <p:extLst>
      <p:ext uri="{BB962C8B-B14F-4D97-AF65-F5344CB8AC3E}">
        <p14:creationId xmlns:p14="http://schemas.microsoft.com/office/powerpoint/2010/main" val="4122830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14401</TotalTime>
  <Words>890</Words>
  <Application>Microsoft Macintosh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Helvetica Neue</vt:lpstr>
      <vt:lpstr>Menlo</vt:lpstr>
      <vt:lpstr>Poppins</vt:lpstr>
      <vt:lpstr>Office Theme</vt:lpstr>
      <vt:lpstr>Cursor AI: Supercharging Your Code</vt:lpstr>
      <vt:lpstr>Setup and Installation - Getting Started Quickly</vt:lpstr>
      <vt:lpstr>Demo slide – chat about project</vt:lpstr>
      <vt:lpstr>Why choose over co-pilot</vt:lpstr>
      <vt:lpstr>Why choose over co-pilot</vt:lpstr>
      <vt:lpstr>Why choose over co-pilot</vt:lpstr>
      <vt:lpstr>Agent</vt:lpstr>
      <vt:lpstr>Some more co-pilot weaknesses</vt:lpstr>
      <vt:lpstr>Privacy</vt:lpstr>
      <vt:lpstr>Privacy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Yosi Izaq</dc:creator>
  <cp:lastModifiedBy>Izaq, Yosi</cp:lastModifiedBy>
  <cp:revision>8</cp:revision>
  <dcterms:created xsi:type="dcterms:W3CDTF">2025-02-10T16:48:17Z</dcterms:created>
  <dcterms:modified xsi:type="dcterms:W3CDTF">2025-02-24T16:30:22Z</dcterms:modified>
</cp:coreProperties>
</file>