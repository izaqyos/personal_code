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9"/>
  </p:notesMasterIdLst>
  <p:handoutMasterIdLst>
    <p:handoutMasterId r:id="rId20"/>
  </p:handoutMasterIdLst>
  <p:sldIdLst>
    <p:sldId id="256" r:id="rId3"/>
    <p:sldId id="315" r:id="rId4"/>
    <p:sldId id="318" r:id="rId5"/>
    <p:sldId id="319" r:id="rId6"/>
    <p:sldId id="317" r:id="rId7"/>
    <p:sldId id="321" r:id="rId8"/>
    <p:sldId id="320" r:id="rId9"/>
    <p:sldId id="322" r:id="rId10"/>
    <p:sldId id="323" r:id="rId11"/>
    <p:sldId id="324" r:id="rId12"/>
    <p:sldId id="325" r:id="rId13"/>
    <p:sldId id="326" r:id="rId14"/>
    <p:sldId id="327" r:id="rId15"/>
    <p:sldId id="316" r:id="rId16"/>
    <p:sldId id="280" r:id="rId17"/>
    <p:sldId id="277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62" autoAdjust="0"/>
    <p:restoredTop sz="94660"/>
  </p:normalViewPr>
  <p:slideViewPr>
    <p:cSldViewPr showGuides="1">
      <p:cViewPr varScale="1">
        <p:scale>
          <a:sx n="128" d="100"/>
          <a:sy n="128" d="100"/>
        </p:scale>
        <p:origin x="1096" y="1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2/27/19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2/27/19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2/27/19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Statements/const" TargetMode="External"/><Relationship Id="rId2" Type="http://schemas.openxmlformats.org/officeDocument/2006/relationships/hyperlink" Target="https://developer.mozilla.org/en-US/docs/Web/JavaScript/Reference/Statements/le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eveloper.mozilla.org/en-US/docs/Web/JavaScript/Reference/Statements/l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eveloper.mozilla.org/en-US/docs/Web/JavaScript/Reference/Statements/con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eveloper.mozilla.org/en-US/docs/Web/JavaScript/Reference/Clas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eveloper.mozilla.org/en-US/docs/Web/JavaScript/Reference/Clas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eveloper.mozilla.org/en-US/docs/Web/JavaScript/Reference/Global_Objects/Promi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ernoon.com/6-reasons-why-javascripts-async-await-blows-promises-away-tutorial-c7ec10518dd9" TargetMode="External"/><Relationship Id="rId3" Type="http://schemas.openxmlformats.org/officeDocument/2006/relationships/hyperlink" Target="http://node.green/" TargetMode="External"/><Relationship Id="rId7" Type="http://schemas.openxmlformats.org/officeDocument/2006/relationships/hyperlink" Target="http://www.jstips.co/en/javascript/keyword-var-vs-let/" TargetMode="External"/><Relationship Id="rId2" Type="http://schemas.openxmlformats.org/officeDocument/2006/relationships/hyperlink" Target="https://www.excella.com/insights/typescript-vs-es6-vs-es201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ploringjs.com/es6/" TargetMode="External"/><Relationship Id="rId5" Type="http://schemas.openxmlformats.org/officeDocument/2006/relationships/hyperlink" Target="http://nodesource.com/blog/six-of-the-most-exciting-es6-features-in-node-js-v6-lts/" TargetMode="External"/><Relationship Id="rId4" Type="http://schemas.openxmlformats.org/officeDocument/2006/relationships/hyperlink" Target="https://scotch.io/tutorials/better-javascript-with-es6-pt-ii-a-deep-dive-into-classes" TargetMode="External"/><Relationship Id="rId9" Type="http://schemas.openxmlformats.org/officeDocument/2006/relationships/hyperlink" Target="https://javascript.info/async-await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6613374" cy="2514601"/>
          </a:xfrm>
        </p:spPr>
        <p:txBody>
          <a:bodyPr/>
          <a:lstStyle/>
          <a:p>
            <a:r>
              <a:rPr lang="en-US" dirty="0"/>
              <a:t>Node JS – ES6</a:t>
            </a:r>
            <a:br>
              <a:rPr lang="en-US" dirty="0"/>
            </a:b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/>
              <a:t>Amir Yahalom, SAP.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Let</a:t>
            </a:r>
            <a:r>
              <a:rPr lang="en-US" dirty="0"/>
              <a:t> and </a:t>
            </a:r>
            <a:r>
              <a:rPr lang="en-US" dirty="0" err="1">
                <a:hlinkClick r:id="rId3"/>
              </a:rPr>
              <a:t>Const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b="1" i="1" dirty="0"/>
              <a:t>let</a:t>
            </a:r>
            <a:r>
              <a:rPr lang="en-US" dirty="0"/>
              <a:t> and </a:t>
            </a:r>
            <a:r>
              <a:rPr lang="en-US" b="1" i="1" dirty="0" err="1"/>
              <a:t>const</a:t>
            </a:r>
            <a:r>
              <a:rPr lang="en-US" dirty="0"/>
              <a:t> are both block scope variables</a:t>
            </a:r>
          </a:p>
          <a:p>
            <a:pPr lvl="1"/>
            <a:r>
              <a:rPr lang="en-US" b="1" i="1" dirty="0"/>
              <a:t>var</a:t>
            </a:r>
            <a:r>
              <a:rPr lang="en-US" dirty="0"/>
              <a:t> is a function scope variable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562" y="2708920"/>
            <a:ext cx="4356100" cy="2235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2175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b="1" i="1" dirty="0"/>
              <a:t>let</a:t>
            </a:r>
            <a:r>
              <a:rPr lang="en-US" dirty="0"/>
              <a:t> is the new block scoping var</a:t>
            </a:r>
          </a:p>
          <a:p>
            <a:r>
              <a:rPr lang="en-US" b="1" i="1" dirty="0"/>
              <a:t>let</a:t>
            </a:r>
            <a:r>
              <a:rPr lang="en-US" i="1" dirty="0"/>
              <a:t> </a:t>
            </a:r>
            <a:r>
              <a:rPr lang="en-US" dirty="0"/>
              <a:t>improves scoping options in JS, NOT replaces</a:t>
            </a:r>
            <a:r>
              <a:rPr lang="en-US" i="1" dirty="0"/>
              <a:t> </a:t>
            </a:r>
            <a:r>
              <a:rPr lang="en-US" b="1" i="1" dirty="0"/>
              <a:t>var</a:t>
            </a:r>
          </a:p>
          <a:p>
            <a:r>
              <a:rPr lang="en-US" dirty="0"/>
              <a:t>In legacy code, </a:t>
            </a:r>
            <a:r>
              <a:rPr lang="en-US" b="1" i="1" dirty="0"/>
              <a:t>let</a:t>
            </a:r>
            <a:r>
              <a:rPr lang="en-US" dirty="0"/>
              <a:t> should replace </a:t>
            </a:r>
            <a:r>
              <a:rPr lang="en-US" b="1" i="1" dirty="0"/>
              <a:t>var</a:t>
            </a:r>
            <a:r>
              <a:rPr lang="en-US" dirty="0"/>
              <a:t> only when </a:t>
            </a:r>
            <a:r>
              <a:rPr lang="en-US" b="1" i="1" dirty="0"/>
              <a:t>var</a:t>
            </a:r>
            <a:r>
              <a:rPr lang="en-US" dirty="0"/>
              <a:t> was already signaling block scoping stylistically</a:t>
            </a:r>
          </a:p>
          <a:p>
            <a:r>
              <a:rPr lang="en-US" dirty="0"/>
              <a:t>When NOT to replace - example: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12" y="4077072"/>
            <a:ext cx="80899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8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/>
              <a:t>creates a read-only reference to a value</a:t>
            </a:r>
          </a:p>
          <a:p>
            <a:r>
              <a:rPr lang="en-US" b="1" dirty="0"/>
              <a:t>NOT immutable</a:t>
            </a:r>
            <a:r>
              <a:rPr lang="en-US" dirty="0"/>
              <a:t>, just cannot be reassigned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1" y="2924943"/>
            <a:ext cx="5933197" cy="1000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91" y="4448809"/>
            <a:ext cx="1775357" cy="121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/>
              <a:t>Syntactical sugar over JavaScript's existing prototype-based inheritance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52" y="2420888"/>
            <a:ext cx="3759448" cy="38168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40" y="2738512"/>
            <a:ext cx="4584700" cy="3175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4510236" y="4329310"/>
            <a:ext cx="1584176" cy="0"/>
          </a:xfrm>
          <a:prstGeom prst="straightConnector1">
            <a:avLst/>
          </a:prstGeom>
          <a:ln w="317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3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b="1" i="1" dirty="0"/>
              <a:t>function declarations </a:t>
            </a:r>
            <a:r>
              <a:rPr lang="en-US" dirty="0"/>
              <a:t>are hoisted and </a:t>
            </a:r>
            <a:r>
              <a:rPr lang="en-US" b="1" i="1" dirty="0"/>
              <a:t>class declarations </a:t>
            </a:r>
            <a:r>
              <a:rPr lang="en-US" dirty="0"/>
              <a:t>are not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Each class can have </a:t>
            </a:r>
            <a:br>
              <a:rPr lang="en-US" dirty="0"/>
            </a:br>
            <a:r>
              <a:rPr lang="en-US" dirty="0"/>
              <a:t>a constructor, getters/setters, </a:t>
            </a:r>
            <a:br>
              <a:rPr lang="en-US" dirty="0"/>
            </a:br>
            <a:r>
              <a:rPr lang="en-US" dirty="0"/>
              <a:t>methods, static methods..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2159706"/>
            <a:ext cx="2376264" cy="7652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308" y="3286188"/>
            <a:ext cx="3683000" cy="3340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12" y="2159706"/>
            <a:ext cx="3873500" cy="698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36" y="4365104"/>
            <a:ext cx="3136900" cy="1803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5573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Native Promise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/>
              <a:t>Native promises can be used instead of Promise libraries</a:t>
            </a:r>
          </a:p>
          <a:p>
            <a:r>
              <a:rPr lang="en-US" dirty="0"/>
              <a:t>Same principals, less methods than known libraries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52" y="3140968"/>
            <a:ext cx="5112568" cy="21671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6976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BD94-8A1A-7141-A10E-D3CAA3F1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Defaulting function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8993-2810-0B48-A128-F16AB865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ES6 enables a default value to be set for function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Turns to: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011B6-B4BC-894D-B0A2-A8E9AE20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2420888"/>
            <a:ext cx="4013200" cy="171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A0A66-D341-654E-AF5B-202ED406B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2" y="4941168"/>
            <a:ext cx="55499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3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9B05-05BF-1344-90BB-92C00D04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De-structuring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0C32B-C441-BA43-88FF-6CD22412B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Destructs arrays or objects: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“…”: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83839-55FC-FB49-912F-A9F9DDE0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76" y="2276872"/>
            <a:ext cx="4536504" cy="1323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F96118-3CE9-AA44-80F6-71EC0007A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4" y="4365104"/>
            <a:ext cx="6475141" cy="38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8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9481-6F13-F94C-A11F-FE37DA63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arguments in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89BFA-6A93-514F-A0CB-BA84E4072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de-structuring syntax allows a more cleaner way than the “arguments” notion: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BEB68-4166-0748-BFDD-0E14F71B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2708920"/>
            <a:ext cx="4608512" cy="27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2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CFFF-1E82-0B4A-A5EB-C78ECF7D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465D-52E3-1141-BEA8-E896A940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Syntactic sugar on top of promises</a:t>
            </a:r>
          </a:p>
          <a:p>
            <a:r>
              <a:rPr lang="en-US" dirty="0"/>
              <a:t>“</a:t>
            </a:r>
            <a:r>
              <a:rPr lang="en-US" dirty="0" err="1"/>
              <a:t>async</a:t>
            </a:r>
            <a:r>
              <a:rPr lang="en-US" dirty="0"/>
              <a:t>” keyword applies on functions</a:t>
            </a:r>
          </a:p>
          <a:p>
            <a:r>
              <a:rPr lang="en-US" dirty="0"/>
              <a:t>“</a:t>
            </a:r>
            <a:r>
              <a:rPr lang="en-US" dirty="0" err="1"/>
              <a:t>async</a:t>
            </a:r>
            <a:r>
              <a:rPr lang="en-US" dirty="0"/>
              <a:t>” function returns a promise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B7D2-EF4D-3A40-9C2A-4C9EB5A9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3418703"/>
            <a:ext cx="1872208" cy="1011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A97476-7652-B640-9A79-849D51FE4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48" y="3429000"/>
            <a:ext cx="2520280" cy="10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3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CFFF-1E82-0B4A-A5EB-C78ECF7D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465D-52E3-1141-BEA8-E896A940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“await” keyword could be used only within an </a:t>
            </a:r>
            <a:r>
              <a:rPr lang="en-US" dirty="0" err="1"/>
              <a:t>async</a:t>
            </a:r>
            <a:r>
              <a:rPr lang="en-US" dirty="0"/>
              <a:t> function</a:t>
            </a:r>
          </a:p>
          <a:p>
            <a:r>
              <a:rPr lang="en-US" dirty="0"/>
              <a:t>“await” makes JavaScript wait until that promise returns its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93FD5-9D30-884C-B37D-B89A22BF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3068960"/>
            <a:ext cx="6408712" cy="241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6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CFFF-1E82-0B4A-A5EB-C78ECF7D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Await –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465D-52E3-1141-BEA8-E896A940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await makes error handling “sync” as you can try catch it: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8714C-02EF-A040-BBAD-42B55B2F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2520950"/>
            <a:ext cx="58547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0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/>
              <a:t>Working directory: /exercise/es6</a:t>
            </a:r>
          </a:p>
          <a:p>
            <a:r>
              <a:rPr lang="en-US" dirty="0"/>
              <a:t>In this project, the integration tests are already written, and currently fail.</a:t>
            </a:r>
          </a:p>
          <a:p>
            <a:r>
              <a:rPr lang="en-US" dirty="0"/>
              <a:t>Make the tests green by implementing the TODOs in </a:t>
            </a:r>
            <a:r>
              <a:rPr lang="en-US" dirty="0" err="1"/>
              <a:t>dirs-watcher.js</a:t>
            </a:r>
            <a:endParaRPr lang="en-US" dirty="0"/>
          </a:p>
          <a:p>
            <a:pPr lvl="1"/>
            <a:r>
              <a:rPr lang="en-US" dirty="0"/>
              <a:t>The idea is to watch the given directory for file changes</a:t>
            </a:r>
          </a:p>
          <a:p>
            <a:pPr lvl="1"/>
            <a:r>
              <a:rPr lang="en-US" dirty="0"/>
              <a:t>DO NOT change the code in test file</a:t>
            </a:r>
          </a:p>
          <a:p>
            <a:r>
              <a:rPr lang="en-US" dirty="0">
                <a:sym typeface="Wingdings"/>
              </a:rPr>
              <a:t>Run test </a:t>
            </a:r>
            <a:r>
              <a:rPr lang="en-US" dirty="0" err="1">
                <a:sym typeface="Wingdings"/>
              </a:rPr>
              <a:t>cmd</a:t>
            </a:r>
            <a:r>
              <a:rPr lang="en-US" dirty="0">
                <a:sym typeface="Wingdings"/>
              </a:rPr>
              <a:t>: </a:t>
            </a:r>
            <a:r>
              <a:rPr lang="en-US" i="1" dirty="0" err="1">
                <a:solidFill>
                  <a:schemeClr val="accent1"/>
                </a:solidFill>
                <a:sym typeface="Wingdings"/>
              </a:rPr>
              <a:t>npm</a:t>
            </a:r>
            <a:r>
              <a:rPr lang="en-US" i="1" dirty="0">
                <a:solidFill>
                  <a:schemeClr val="accent1"/>
                </a:solidFill>
                <a:sym typeface="Wingdings"/>
              </a:rPr>
              <a:t> test</a:t>
            </a:r>
            <a:endParaRPr lang="is-IS" i="1" dirty="0">
              <a:solidFill>
                <a:schemeClr val="accent1"/>
              </a:solidFill>
              <a:sym typeface="Wingding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1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TypeScript vs ES6 vs ES2015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Node.js ES2015/ES6, ES2016 and ES2017 support</a:t>
            </a:r>
            <a:endParaRPr lang="he-IL" dirty="0"/>
          </a:p>
          <a:p>
            <a:r>
              <a:rPr lang="en-US" dirty="0">
                <a:hlinkClick r:id="rId4"/>
              </a:rPr>
              <a:t>Better JavaScript with ES6, Pt. II: A Deep Dive into Classes</a:t>
            </a:r>
            <a:endParaRPr lang="en-US" dirty="0"/>
          </a:p>
          <a:p>
            <a:r>
              <a:rPr lang="en-US" dirty="0">
                <a:hlinkClick r:id="rId5"/>
              </a:rPr>
              <a:t>6 of the Most Exciting ES6 Features in Node.js v6 LTS</a:t>
            </a:r>
            <a:endParaRPr lang="en-US" dirty="0"/>
          </a:p>
          <a:p>
            <a:r>
              <a:rPr lang="en-US" dirty="0">
                <a:hlinkClick r:id="rId6"/>
              </a:rPr>
              <a:t>Exploring ES6 (book)</a:t>
            </a:r>
            <a:endParaRPr lang="en-US" dirty="0"/>
          </a:p>
          <a:p>
            <a:r>
              <a:rPr lang="en-US" dirty="0">
                <a:hlinkClick r:id="rId7"/>
              </a:rPr>
              <a:t>ES6, var vs let</a:t>
            </a:r>
            <a:endParaRPr lang="en-US" dirty="0"/>
          </a:p>
          <a:p>
            <a:r>
              <a:rPr lang="en-US" dirty="0">
                <a:hlinkClick r:id="rId8"/>
              </a:rPr>
              <a:t>6 Reasons Why JavaScript’s </a:t>
            </a:r>
            <a:r>
              <a:rPr lang="en-US" dirty="0" err="1">
                <a:hlinkClick r:id="rId8"/>
              </a:rPr>
              <a:t>Async</a:t>
            </a:r>
            <a:r>
              <a:rPr lang="en-US" dirty="0">
                <a:hlinkClick r:id="rId8"/>
              </a:rPr>
              <a:t>/Await Blows Promises Away</a:t>
            </a:r>
            <a:endParaRPr lang="en-US" dirty="0"/>
          </a:p>
          <a:p>
            <a:r>
              <a:rPr lang="en-US" dirty="0" err="1">
                <a:hlinkClick r:id="rId9"/>
              </a:rPr>
              <a:t>Async</a:t>
            </a:r>
            <a:r>
              <a:rPr lang="en-US" dirty="0">
                <a:hlinkClick r:id="rId9"/>
              </a:rPr>
              <a:t> / Await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307</Words>
  <Application>Microsoft Macintosh PowerPoint</Application>
  <PresentationFormat>Custom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Franklin Gothic Medium</vt:lpstr>
      <vt:lpstr>Business Contrast 16x9</vt:lpstr>
      <vt:lpstr>Node JS – ES6 </vt:lpstr>
      <vt:lpstr>Let and Const</vt:lpstr>
      <vt:lpstr>Let</vt:lpstr>
      <vt:lpstr>Const</vt:lpstr>
      <vt:lpstr>Class</vt:lpstr>
      <vt:lpstr>Class</vt:lpstr>
      <vt:lpstr>Native Promise</vt:lpstr>
      <vt:lpstr>Defaulting function parameters</vt:lpstr>
      <vt:lpstr>De-structuring</vt:lpstr>
      <vt:lpstr>Extra arguments in a function</vt:lpstr>
      <vt:lpstr>Async Await</vt:lpstr>
      <vt:lpstr>Async Await</vt:lpstr>
      <vt:lpstr>Async Await – Error Handling</vt:lpstr>
      <vt:lpstr>Exercise</vt:lpstr>
      <vt:lpstr>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cp:lastPrinted>2016-12-05T07:44:42Z</cp:lastPrinted>
  <dcterms:created xsi:type="dcterms:W3CDTF">2016-03-15T13:03:36Z</dcterms:created>
  <dcterms:modified xsi:type="dcterms:W3CDTF">2019-02-28T06:44:53Z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