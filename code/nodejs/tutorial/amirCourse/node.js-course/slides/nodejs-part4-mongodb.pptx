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27"/>
  </p:notesMasterIdLst>
  <p:handoutMasterIdLst>
    <p:handoutMasterId r:id="rId28"/>
  </p:handoutMasterIdLst>
  <p:sldIdLst>
    <p:sldId id="256" r:id="rId3"/>
    <p:sldId id="341" r:id="rId4"/>
    <p:sldId id="340" r:id="rId5"/>
    <p:sldId id="330" r:id="rId6"/>
    <p:sldId id="331" r:id="rId7"/>
    <p:sldId id="335" r:id="rId8"/>
    <p:sldId id="336" r:id="rId9"/>
    <p:sldId id="337" r:id="rId10"/>
    <p:sldId id="332" r:id="rId11"/>
    <p:sldId id="338" r:id="rId12"/>
    <p:sldId id="333" r:id="rId13"/>
    <p:sldId id="334" r:id="rId14"/>
    <p:sldId id="339" r:id="rId15"/>
    <p:sldId id="342" r:id="rId16"/>
    <p:sldId id="345" r:id="rId17"/>
    <p:sldId id="343" r:id="rId18"/>
    <p:sldId id="347" r:id="rId19"/>
    <p:sldId id="348" r:id="rId20"/>
    <p:sldId id="349" r:id="rId21"/>
    <p:sldId id="350" r:id="rId22"/>
    <p:sldId id="346" r:id="rId23"/>
    <p:sldId id="351" r:id="rId24"/>
    <p:sldId id="280" r:id="rId25"/>
    <p:sldId id="277" r:id="rId2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09" autoAdjust="0"/>
    <p:restoredTop sz="94660"/>
  </p:normalViewPr>
  <p:slideViewPr>
    <p:cSldViewPr showGuides="1">
      <p:cViewPr varScale="1">
        <p:scale>
          <a:sx n="112" d="100"/>
          <a:sy n="112" d="100"/>
        </p:scale>
        <p:origin x="312" y="19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1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12/7/16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12/7/16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12/7/16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12/7/16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>
              <a:defRPr sz="5400" b="1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>
              <a:spcBef>
                <a:spcPts val="60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12/7/16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12/7/16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12/7/16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12/7/16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12/7/16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>
              <a:defRPr sz="36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12/7/16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>
              <a:defRPr sz="36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12/7/16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rPr lang="en-US"/>
              <a:t>12/7/16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E0FA9E5-6744-4841-888F-9E7CC0C2B7EC}" type="datetimeFigureOut">
              <a:rPr lang="en-US"/>
              <a:pPr/>
              <a:t>12/7/16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AEAE4A8-A6E5-453E-B946-FB774B73F48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mongodb.com/" TargetMode="External"/><Relationship Id="rId3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mongodb.com/" TargetMode="External"/><Relationship Id="rId3" Type="http://schemas.openxmlformats.org/officeDocument/2006/relationships/hyperlink" Target="https://docs.mongodb.com/manual/mongo/#start-the-mongo-shel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ongodb.com/manual/mongo/#start-the-mongo-shell" TargetMode="External"/><Relationship Id="rId4" Type="http://schemas.openxmlformats.org/officeDocument/2006/relationships/hyperlink" Target="https://docs.mongodb.com/manual/reference/method/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mongodb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mongodb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ongodb.com/manual/reference/operator/query/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mongodb.com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mongodb.com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mongodb.com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mongodb.com/" TargetMode="External"/><Relationship Id="rId3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mongodb.com/" TargetMode="External"/><Relationship Id="rId3" Type="http://schemas.openxmlformats.org/officeDocument/2006/relationships/hyperlink" Target="https://docs.mongodb.com/manual/reference/operator/update/" TargetMode="External"/><Relationship Id="rId4" Type="http://schemas.openxmlformats.org/officeDocument/2006/relationships/hyperlink" Target="https://docs.mongodb.com/manual/reference/operator/update/rename/#up._S_rename" TargetMode="External"/><Relationship Id="rId5" Type="http://schemas.openxmlformats.org/officeDocument/2006/relationships/hyperlink" Target="https://docs.mongodb.com/manual/reference/operator/update/inc/#up._S_inc" TargetMode="External"/><Relationship Id="rId6" Type="http://schemas.openxmlformats.org/officeDocument/2006/relationships/hyperlink" Target="https://docs.mongodb.com/manual/reference/operator/update/set/#up._S_set" TargetMode="External"/><Relationship Id="rId7" Type="http://schemas.openxmlformats.org/officeDocument/2006/relationships/hyperlink" Target="https://docs.mongodb.com/manual/reference/operator/update/addToSet/#up._S_addToSet" TargetMode="External"/><Relationship Id="rId8" Type="http://schemas.openxmlformats.org/officeDocument/2006/relationships/hyperlink" Target="https://docs.mongodb.com/manual/reference/operator/update/pop/#up._S_pop" TargetMode="External"/><Relationship Id="rId9" Type="http://schemas.openxmlformats.org/officeDocument/2006/relationships/hyperlink" Target="https://docs.mongodb.com/manual/reference/operator/update/push/#up._S_push" TargetMode="External"/><Relationship Id="rId10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mongodb.com/" TargetMode="External"/><Relationship Id="rId3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ongodb.com/manual/indexes/" TargetMode="External"/><Relationship Id="rId4" Type="http://schemas.openxmlformats.org/officeDocument/2006/relationships/hyperlink" Target="https://docs.mongodb.com/manual/indexes/#b-tree" TargetMode="External"/><Relationship Id="rId5" Type="http://schemas.openxmlformats.org/officeDocument/2006/relationships/hyperlink" Target="https://docs.mongodb.com/manual/indexes/#text-indexes" TargetMode="External"/><Relationship Id="rId6" Type="http://schemas.openxmlformats.org/officeDocument/2006/relationships/hyperlink" Target="https://docs.mongodb.com/manual/indexes/#geospatial-index" TargetMode="External"/><Relationship Id="rId7" Type="http://schemas.openxmlformats.org/officeDocument/2006/relationships/hyperlink" Target="https://docs.mongodb.com/manual/core/index-creation/" TargetMode="External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mongodb.com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mongodb.com/" TargetMode="External"/><Relationship Id="rId3" Type="http://schemas.openxmlformats.org/officeDocument/2006/relationships/hyperlink" Target="https://docs.mongodb.com/manual/core/index-text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issjs/node-mongoskin" TargetMode="External"/><Relationship Id="rId4" Type="http://schemas.openxmlformats.org/officeDocument/2006/relationships/hyperlink" Target="http://mongoosejs.com/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mongodb.com/getting-started/node/client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mongoosejs.com/docs/connections.html" TargetMode="External"/><Relationship Id="rId4" Type="http://schemas.openxmlformats.org/officeDocument/2006/relationships/hyperlink" Target="https://mongodb.github.io/node-mongodb-native/driver-articles/mongoclient.html#mongoclient-connection-pooling" TargetMode="External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mongoosejs.com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mongoosejs.com/docs/guide.html" TargetMode="External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mongoosejs.com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mongoosejs.com/docs/models.html" TargetMode="External"/><Relationship Id="rId4" Type="http://schemas.openxmlformats.org/officeDocument/2006/relationships/hyperlink" Target="http://mongoosejs.com/docs/api.html#model_Model.find" TargetMode="External"/><Relationship Id="rId5" Type="http://schemas.openxmlformats.org/officeDocument/2006/relationships/hyperlink" Target="http://mongoosejs.com/docs/api.html#model_Model.create" TargetMode="External"/><Relationship Id="rId6" Type="http://schemas.openxmlformats.org/officeDocument/2006/relationships/hyperlink" Target="http://mongoosejs.com/docs/api.html#model_Model.update" TargetMode="External"/><Relationship Id="rId7" Type="http://schemas.openxmlformats.org/officeDocument/2006/relationships/hyperlink" Target="http://mongoosejs.com/docs/api.html#model_Model.remove" TargetMode="External"/><Relationship Id="rId8" Type="http://schemas.openxmlformats.org/officeDocument/2006/relationships/hyperlink" Target="http://mongoosejs.com/docs/api.html#model_Model-save" TargetMode="External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mongoosejs.com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mongoosejs.com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mongoosejs.com/" TargetMode="External"/><Relationship Id="rId3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mongoosejs.com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mongoosejs.com/docs/customschematypes.html" TargetMode="External"/><Relationship Id="rId4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mongoosejs.com/docs/schematypes.html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tepoint.com/sql-vs-nosql-differences/" TargetMode="External"/><Relationship Id="rId4" Type="http://schemas.openxmlformats.org/officeDocument/2006/relationships/hyperlink" Target="https://docs.mongodb.com/manual/core/write-operations-atomicity" TargetMode="External"/><Relationship Id="rId5" Type="http://schemas.openxmlformats.org/officeDocument/2006/relationships/hyperlink" Target="https://docs.mongodb.com/manual/sharding/" TargetMode="External"/><Relationship Id="rId6" Type="http://schemas.openxmlformats.org/officeDocument/2006/relationships/hyperlink" Target="https://docs.mongodb.com/manual/replication/" TargetMode="External"/><Relationship Id="rId7" Type="http://schemas.openxmlformats.org/officeDocument/2006/relationships/hyperlink" Target="https://docs.mongodb.com/ecosystem/tools/administration-interfaces/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mongodb.com/nosql-explained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10285782" cy="2514601"/>
          </a:xfrm>
        </p:spPr>
        <p:txBody>
          <a:bodyPr/>
          <a:lstStyle/>
          <a:p>
            <a:r>
              <a:rPr lang="en-US" dirty="0" smtClean="0"/>
              <a:t>Node JS - part 4 </a:t>
            </a:r>
            <a:br>
              <a:rPr lang="en-US" dirty="0" smtClean="0"/>
            </a:br>
            <a:r>
              <a:rPr lang="en-US" sz="4400" dirty="0" smtClean="0"/>
              <a:t>MongoDB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6973416" cy="1397000"/>
          </a:xfrm>
        </p:spPr>
        <p:txBody>
          <a:bodyPr>
            <a:normAutofit/>
          </a:bodyPr>
          <a:lstStyle/>
          <a:p>
            <a:r>
              <a:rPr lang="en-US" dirty="0" smtClean="0"/>
              <a:t>Amir Yahalom, SAP.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25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Mongo</a:t>
            </a:r>
            <a:r>
              <a:rPr lang="en-US" dirty="0" smtClean="0"/>
              <a:t> vs. SQL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525" y="1828800"/>
            <a:ext cx="8456176" cy="4191000"/>
          </a:xfrm>
        </p:spPr>
      </p:pic>
    </p:spTree>
    <p:extLst>
      <p:ext uri="{BB962C8B-B14F-4D97-AF65-F5344CB8AC3E}">
        <p14:creationId xmlns:p14="http://schemas.microsoft.com/office/powerpoint/2010/main" val="813519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MongoDB</a:t>
            </a:r>
            <a:r>
              <a:rPr lang="en-US" dirty="0" smtClean="0"/>
              <a:t> - </a:t>
            </a:r>
            <a:r>
              <a:rPr lang="en-US" dirty="0" smtClean="0">
                <a:hlinkClick r:id="rId3"/>
              </a:rPr>
              <a:t>Shell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</a:t>
            </a:r>
            <a:r>
              <a:rPr lang="en-US" dirty="0"/>
              <a:t>interactive JavaScript </a:t>
            </a:r>
            <a:r>
              <a:rPr lang="en-US" dirty="0" smtClean="0"/>
              <a:t>CLI </a:t>
            </a:r>
            <a:r>
              <a:rPr lang="en-US" dirty="0"/>
              <a:t>to </a:t>
            </a:r>
            <a:r>
              <a:rPr lang="en-US" dirty="0" smtClean="0"/>
              <a:t>MongoDB</a:t>
            </a:r>
          </a:p>
          <a:p>
            <a:r>
              <a:rPr lang="en-US" dirty="0"/>
              <a:t>You can use the mongo shell to query and update data as well as perform administrative </a:t>
            </a:r>
            <a:r>
              <a:rPr lang="en-US" dirty="0" smtClean="0"/>
              <a:t>operations</a:t>
            </a:r>
          </a:p>
          <a:p>
            <a:r>
              <a:rPr lang="en-US" dirty="0" smtClean="0"/>
              <a:t>Starting Mongo server: (cmd) </a:t>
            </a:r>
          </a:p>
          <a:p>
            <a:pPr lvl="1"/>
            <a:r>
              <a:rPr lang="en-US" dirty="0" smtClean="0">
                <a:solidFill>
                  <a:schemeClr val="accent1"/>
                </a:solidFill>
              </a:rPr>
              <a:t>[windows] </a:t>
            </a:r>
            <a:r>
              <a:rPr lang="en-US" dirty="0" smtClean="0"/>
              <a:t>cd &lt;mongodb installation dir&gt;/bin </a:t>
            </a:r>
          </a:p>
          <a:p>
            <a:pPr lvl="1"/>
            <a:r>
              <a:rPr lang="en-US" dirty="0" smtClean="0"/>
              <a:t>mongod –</a:t>
            </a:r>
            <a:r>
              <a:rPr lang="en-US" dirty="0" err="1" smtClean="0"/>
              <a:t>dbpath</a:t>
            </a:r>
            <a:r>
              <a:rPr lang="en-US" dirty="0" smtClean="0"/>
              <a:t> “&lt;desired dir to store data&gt;”</a:t>
            </a:r>
          </a:p>
          <a:p>
            <a:r>
              <a:rPr lang="en-US" dirty="0"/>
              <a:t>Starting Mongo </a:t>
            </a:r>
            <a:r>
              <a:rPr lang="en-US" dirty="0" smtClean="0"/>
              <a:t>client: </a:t>
            </a:r>
            <a:r>
              <a:rPr lang="en-US" dirty="0"/>
              <a:t>(cmd)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[windows] </a:t>
            </a:r>
            <a:r>
              <a:rPr lang="en-US" dirty="0"/>
              <a:t>cd &lt;mongodb installation dir</a:t>
            </a:r>
            <a:r>
              <a:rPr lang="en-US" dirty="0" smtClean="0"/>
              <a:t>&gt;/bin</a:t>
            </a:r>
          </a:p>
          <a:p>
            <a:pPr lvl="1"/>
            <a:r>
              <a:rPr lang="en-US" dirty="0" smtClean="0"/>
              <a:t>mongo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740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MongoDB</a:t>
            </a:r>
            <a:r>
              <a:rPr lang="en-US" dirty="0" smtClean="0"/>
              <a:t> - Client </a:t>
            </a:r>
            <a:r>
              <a:rPr lang="en-US" dirty="0" smtClean="0">
                <a:hlinkClick r:id="rId3"/>
              </a:rPr>
              <a:t>Shell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US" dirty="0" smtClean="0"/>
              <a:t>isplay current database(test as default </a:t>
            </a:r>
            <a:r>
              <a:rPr lang="en-US" dirty="0" err="1" smtClean="0"/>
              <a:t>db</a:t>
            </a:r>
            <a:r>
              <a:rPr lang="en-US" dirty="0" smtClean="0"/>
              <a:t>): </a:t>
            </a:r>
            <a:r>
              <a:rPr lang="en-US" b="1" dirty="0" err="1" smtClean="0">
                <a:solidFill>
                  <a:schemeClr val="accent1"/>
                </a:solidFill>
              </a:rPr>
              <a:t>db</a:t>
            </a:r>
            <a:endParaRPr lang="en-US" b="1" dirty="0" smtClean="0">
              <a:solidFill>
                <a:schemeClr val="accent1"/>
              </a:solidFill>
            </a:endParaRPr>
          </a:p>
          <a:p>
            <a:r>
              <a:rPr lang="en-US" dirty="0" smtClean="0"/>
              <a:t>To switch (or create) database: </a:t>
            </a:r>
            <a:r>
              <a:rPr lang="en-US" b="1" dirty="0" smtClean="0">
                <a:solidFill>
                  <a:schemeClr val="accent1"/>
                </a:solidFill>
              </a:rPr>
              <a:t>use </a:t>
            </a:r>
            <a:r>
              <a:rPr lang="en-US" b="1" dirty="0">
                <a:solidFill>
                  <a:schemeClr val="accent1"/>
                </a:solidFill>
              </a:rPr>
              <a:t>&lt;database&gt;</a:t>
            </a:r>
          </a:p>
          <a:p>
            <a:r>
              <a:rPr lang="en-US" dirty="0"/>
              <a:t>L</a:t>
            </a:r>
            <a:r>
              <a:rPr lang="en-US" dirty="0" smtClean="0"/>
              <a:t>ist </a:t>
            </a:r>
            <a:r>
              <a:rPr lang="en-US" dirty="0"/>
              <a:t>the available databases</a:t>
            </a:r>
            <a:r>
              <a:rPr lang="en-US" dirty="0" smtClean="0"/>
              <a:t>: </a:t>
            </a:r>
            <a:r>
              <a:rPr lang="en-US" b="1" dirty="0" smtClean="0">
                <a:solidFill>
                  <a:schemeClr val="accent1"/>
                </a:solidFill>
              </a:rPr>
              <a:t>show </a:t>
            </a:r>
            <a:r>
              <a:rPr lang="en-US" b="1" dirty="0" err="1" smtClean="0">
                <a:solidFill>
                  <a:schemeClr val="accent1"/>
                </a:solidFill>
              </a:rPr>
              <a:t>dbs</a:t>
            </a:r>
            <a:endParaRPr lang="en-US" b="1" dirty="0" smtClean="0">
              <a:solidFill>
                <a:schemeClr val="accent1"/>
              </a:solidFill>
            </a:endParaRPr>
          </a:p>
          <a:p>
            <a:r>
              <a:rPr lang="en-US" dirty="0" smtClean="0"/>
              <a:t>Show current database stats: </a:t>
            </a:r>
            <a:r>
              <a:rPr lang="en-US" b="1" dirty="0" err="1" smtClean="0">
                <a:solidFill>
                  <a:schemeClr val="accent1"/>
                </a:solidFill>
              </a:rPr>
              <a:t>db.stats</a:t>
            </a:r>
            <a:r>
              <a:rPr lang="en-US" b="1" dirty="0" smtClean="0">
                <a:solidFill>
                  <a:schemeClr val="accent1"/>
                </a:solidFill>
              </a:rPr>
              <a:t>()</a:t>
            </a:r>
          </a:p>
          <a:p>
            <a:r>
              <a:rPr lang="en-US" b="1" dirty="0" smtClean="0">
                <a:solidFill>
                  <a:schemeClr val="accent1"/>
                </a:solidFill>
                <a:hlinkClick r:id="rId4"/>
              </a:rPr>
              <a:t>More</a:t>
            </a:r>
            <a:r>
              <a:rPr lang="is-IS" b="1" dirty="0" smtClean="0">
                <a:solidFill>
                  <a:schemeClr val="accent1"/>
                </a:solidFill>
                <a:hlinkClick r:id="rId4"/>
              </a:rPr>
              <a:t>…</a:t>
            </a:r>
            <a:endParaRPr lang="en-US" b="1" dirty="0">
              <a:solidFill>
                <a:schemeClr val="accent1"/>
              </a:solidFill>
            </a:endParaRPr>
          </a:p>
          <a:p>
            <a:r>
              <a:rPr lang="en-US" dirty="0" smtClean="0"/>
              <a:t>CRUD operations: </a:t>
            </a:r>
            <a:r>
              <a:rPr lang="en-US" dirty="0" err="1" smtClean="0">
                <a:solidFill>
                  <a:schemeClr val="accent1"/>
                </a:solidFill>
              </a:rPr>
              <a:t>db.COLLECTION.METHOD</a:t>
            </a:r>
            <a:r>
              <a:rPr lang="en-US" dirty="0" smtClean="0">
                <a:solidFill>
                  <a:schemeClr val="accent1"/>
                </a:solidFill>
              </a:rPr>
              <a:t>(</a:t>
            </a:r>
            <a:r>
              <a:rPr lang="is-IS" dirty="0" smtClean="0">
                <a:solidFill>
                  <a:schemeClr val="accent1"/>
                </a:solidFill>
              </a:rPr>
              <a:t>…</a:t>
            </a:r>
            <a:r>
              <a:rPr lang="en-US" dirty="0" smtClean="0">
                <a:solidFill>
                  <a:schemeClr val="accent1"/>
                </a:solidFill>
              </a:rPr>
              <a:t>)</a:t>
            </a:r>
          </a:p>
          <a:p>
            <a:pPr lvl="1"/>
            <a:r>
              <a:rPr lang="en-US" dirty="0" smtClean="0"/>
              <a:t>COLLECTION - name of desired collection</a:t>
            </a:r>
          </a:p>
          <a:p>
            <a:pPr lvl="1"/>
            <a:r>
              <a:rPr lang="en-US" dirty="0" smtClean="0"/>
              <a:t>METHOD - method name (remove, insert, find, update/save)</a:t>
            </a:r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23095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MongoDB</a:t>
            </a:r>
            <a:r>
              <a:rPr lang="en-US" dirty="0" smtClean="0"/>
              <a:t> – Insert, Find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Insert:</a:t>
            </a:r>
          </a:p>
          <a:p>
            <a:pPr lvl="1"/>
            <a:r>
              <a:rPr lang="en-US" dirty="0" smtClean="0">
                <a:solidFill>
                  <a:schemeClr val="accent1"/>
                </a:solidFill>
              </a:rPr>
              <a:t>document</a:t>
            </a:r>
            <a:r>
              <a:rPr lang="en-US" dirty="0" smtClean="0"/>
              <a:t> – </a:t>
            </a:r>
            <a:r>
              <a:rPr lang="en-US" b="1" dirty="0" smtClean="0"/>
              <a:t>js object </a:t>
            </a:r>
            <a:r>
              <a:rPr lang="en-US" dirty="0" smtClean="0"/>
              <a:t>(JSON) or </a:t>
            </a:r>
            <a:r>
              <a:rPr lang="en-US" b="1" dirty="0" smtClean="0"/>
              <a:t>array of objects</a:t>
            </a:r>
          </a:p>
          <a:p>
            <a:pPr lvl="1"/>
            <a:r>
              <a:rPr lang="en-US" b="1" dirty="0" smtClean="0"/>
              <a:t>Example:</a:t>
            </a:r>
          </a:p>
          <a:p>
            <a:endParaRPr lang="en-US" b="1" dirty="0" smtClean="0"/>
          </a:p>
          <a:p>
            <a:r>
              <a:rPr lang="en-US" dirty="0" smtClean="0"/>
              <a:t>Find:</a:t>
            </a:r>
          </a:p>
          <a:p>
            <a:pPr lvl="1"/>
            <a:r>
              <a:rPr lang="en-US" dirty="0" smtClean="0"/>
              <a:t>SELECTOR - js object, describes the desired documents</a:t>
            </a:r>
          </a:p>
          <a:p>
            <a:pPr lvl="1"/>
            <a:r>
              <a:rPr lang="en-US" dirty="0" smtClean="0"/>
              <a:t>if SELECTOR is null, mongo will return all documents in the collection</a:t>
            </a:r>
          </a:p>
          <a:p>
            <a:pPr lvl="1"/>
            <a:r>
              <a:rPr lang="en-US" dirty="0" smtClean="0"/>
              <a:t>Examples:</a:t>
            </a:r>
            <a:endParaRPr lang="en-US" dirty="0"/>
          </a:p>
          <a:p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012" y="1828800"/>
            <a:ext cx="5070762" cy="457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4012" y="3547864"/>
            <a:ext cx="4900605" cy="457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60" y="2659564"/>
            <a:ext cx="6720143" cy="3238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1924" y="5266928"/>
            <a:ext cx="4392488" cy="2717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1923" y="5799123"/>
            <a:ext cx="6541331" cy="36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524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MongoDB</a:t>
            </a:r>
            <a:r>
              <a:rPr lang="en-US" dirty="0" smtClean="0"/>
              <a:t> – </a:t>
            </a:r>
            <a:r>
              <a:rPr lang="en-US" dirty="0" smtClean="0">
                <a:hlinkClick r:id="rId3"/>
              </a:rPr>
              <a:t>query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$</a:t>
            </a:r>
            <a:r>
              <a:rPr lang="en-US" dirty="0" err="1" smtClean="0"/>
              <a:t>eq</a:t>
            </a:r>
            <a:r>
              <a:rPr lang="en-US" dirty="0" smtClean="0"/>
              <a:t> - </a:t>
            </a:r>
            <a:r>
              <a:rPr lang="en-US" dirty="0"/>
              <a:t>matches documents where the value of a field equals </a:t>
            </a:r>
            <a:r>
              <a:rPr lang="en-US" dirty="0" smtClean="0"/>
              <a:t>specified </a:t>
            </a:r>
            <a:r>
              <a:rPr lang="en-US" dirty="0"/>
              <a:t>value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Similar: $</a:t>
            </a:r>
            <a:r>
              <a:rPr lang="en-US" dirty="0" err="1" smtClean="0"/>
              <a:t>gt</a:t>
            </a:r>
            <a:r>
              <a:rPr lang="en-US" dirty="0" smtClean="0"/>
              <a:t>, $ne, $</a:t>
            </a:r>
            <a:r>
              <a:rPr lang="en-US" dirty="0" err="1" smtClean="0"/>
              <a:t>lte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$or – joins array of query objects (selectors)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$in – </a:t>
            </a:r>
            <a:r>
              <a:rPr lang="en-US" dirty="0"/>
              <a:t>m</a:t>
            </a:r>
            <a:r>
              <a:rPr lang="en-US" dirty="0" smtClean="0"/>
              <a:t>atches </a:t>
            </a:r>
            <a:r>
              <a:rPr lang="en-US" dirty="0"/>
              <a:t>any of the values specified in an array.</a:t>
            </a:r>
            <a:endParaRPr lang="en-US" dirty="0" smtClean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924" y="4684370"/>
            <a:ext cx="8530444" cy="37733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924" y="4149080"/>
            <a:ext cx="8393048" cy="45081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924" y="2281840"/>
            <a:ext cx="3513077" cy="42708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924" y="2829168"/>
            <a:ext cx="5271801" cy="37335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924" y="5661248"/>
            <a:ext cx="6019800" cy="3683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924" y="6140047"/>
            <a:ext cx="6019800" cy="36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353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MongoDB</a:t>
            </a:r>
            <a:r>
              <a:rPr lang="en-US" dirty="0" smtClean="0"/>
              <a:t> – projection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can pass to </a:t>
            </a:r>
            <a:r>
              <a:rPr lang="en-US" dirty="0" err="1" smtClean="0"/>
              <a:t>collection.find</a:t>
            </a:r>
            <a:r>
              <a:rPr lang="en-US" dirty="0" smtClean="0"/>
              <a:t>() second parameter, which defines the fields we want to get – the projection of result set:</a:t>
            </a:r>
          </a:p>
          <a:p>
            <a:pPr lvl="1"/>
            <a:r>
              <a:rPr lang="en-US" dirty="0"/>
              <a:t>{FIELD_NAME: 1, ANOTHER_FIELD: </a:t>
            </a:r>
            <a:r>
              <a:rPr lang="en-US" dirty="0" smtClean="0"/>
              <a:t>0,…} </a:t>
            </a:r>
            <a:r>
              <a:rPr lang="en-US" dirty="0" smtClean="0">
                <a:sym typeface="Wingdings"/>
              </a:rPr>
              <a:t> </a:t>
            </a:r>
            <a:r>
              <a:rPr lang="en-US" dirty="0"/>
              <a:t>{“name”: 1, “age”: </a:t>
            </a:r>
            <a:r>
              <a:rPr lang="en-US" dirty="0" smtClean="0"/>
              <a:t>0}</a:t>
            </a:r>
            <a:endParaRPr lang="en-US" dirty="0"/>
          </a:p>
          <a:p>
            <a:pPr lvl="1"/>
            <a:r>
              <a:rPr lang="en-US" dirty="0" smtClean="0"/>
              <a:t>1 – return field</a:t>
            </a:r>
          </a:p>
          <a:p>
            <a:pPr lvl="1"/>
            <a:r>
              <a:rPr lang="en-US" dirty="0" smtClean="0"/>
              <a:t>0 – don’t return field (redundant, used to hide Mongo’s _id field which is the only field that is not 0 by default)</a:t>
            </a:r>
            <a:endParaRPr lang="en-US" dirty="0"/>
          </a:p>
          <a:p>
            <a:r>
              <a:rPr lang="en-US" dirty="0" smtClean="0"/>
              <a:t>You can sort the results using sort()</a:t>
            </a:r>
          </a:p>
          <a:p>
            <a:endParaRPr lang="en-US" dirty="0"/>
          </a:p>
          <a:p>
            <a:r>
              <a:rPr lang="en-US" dirty="0" smtClean="0"/>
              <a:t>Or limit size (select top) using limit()</a:t>
            </a:r>
          </a:p>
          <a:p>
            <a:endParaRPr lang="en-US" dirty="0" smtClean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4437112"/>
            <a:ext cx="6357073" cy="39053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445224"/>
            <a:ext cx="4646855" cy="39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52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MongoDB</a:t>
            </a:r>
            <a:r>
              <a:rPr lang="en-US" dirty="0" smtClean="0"/>
              <a:t> –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new </a:t>
            </a:r>
            <a:r>
              <a:rPr lang="en-US" dirty="0" err="1" smtClean="0"/>
              <a:t>db</a:t>
            </a:r>
            <a:r>
              <a:rPr lang="en-US" dirty="0" smtClean="0"/>
              <a:t> with one collection (“posts”)</a:t>
            </a:r>
          </a:p>
          <a:p>
            <a:r>
              <a:rPr lang="en-US" dirty="0" smtClean="0"/>
              <a:t>Insert the content of the file “</a:t>
            </a:r>
            <a:r>
              <a:rPr lang="en-US" dirty="0" err="1" smtClean="0"/>
              <a:t>posts.json</a:t>
            </a:r>
            <a:r>
              <a:rPr lang="en-US" dirty="0" smtClean="0"/>
              <a:t>” </a:t>
            </a:r>
          </a:p>
          <a:p>
            <a:pPr lvl="1"/>
            <a:r>
              <a:rPr lang="en-US" dirty="0" smtClean="0"/>
              <a:t>Insert in single cmd: </a:t>
            </a:r>
            <a:r>
              <a:rPr lang="en-US" dirty="0" err="1" smtClean="0"/>
              <a:t>db.posts.insert</a:t>
            </a:r>
            <a:r>
              <a:rPr lang="en-US" dirty="0" smtClean="0"/>
              <a:t>([</a:t>
            </a:r>
            <a:r>
              <a:rPr lang="is-IS" dirty="0"/>
              <a:t>.</a:t>
            </a:r>
            <a:r>
              <a:rPr lang="is-IS" dirty="0" smtClean="0"/>
              <a:t>..</a:t>
            </a:r>
            <a:r>
              <a:rPr lang="en-US" dirty="0" smtClean="0"/>
              <a:t>])</a:t>
            </a:r>
          </a:p>
          <a:p>
            <a:r>
              <a:rPr lang="en-US" dirty="0" smtClean="0"/>
              <a:t>Implement the following queries:</a:t>
            </a:r>
          </a:p>
          <a:p>
            <a:pPr lvl="1"/>
            <a:r>
              <a:rPr lang="en-US" dirty="0" smtClean="0"/>
              <a:t>Get all the posts of Bob</a:t>
            </a:r>
          </a:p>
          <a:p>
            <a:pPr lvl="1"/>
            <a:r>
              <a:rPr lang="en-US" dirty="0" smtClean="0"/>
              <a:t>Get all posts where number of likes is less than 30</a:t>
            </a:r>
            <a:endParaRPr lang="en-US" dirty="0"/>
          </a:p>
          <a:p>
            <a:pPr lvl="1"/>
            <a:r>
              <a:rPr lang="en-US" dirty="0"/>
              <a:t>Get all posts where number of </a:t>
            </a:r>
            <a:r>
              <a:rPr lang="en-US" dirty="0" smtClean="0"/>
              <a:t>followers is 14</a:t>
            </a:r>
          </a:p>
          <a:p>
            <a:pPr lvl="1"/>
            <a:r>
              <a:rPr lang="en-US" dirty="0"/>
              <a:t>Get all posts where </a:t>
            </a:r>
            <a:r>
              <a:rPr lang="en-US" dirty="0" smtClean="0"/>
              <a:t>the post body contains the word “dummy” </a:t>
            </a:r>
          </a:p>
          <a:p>
            <a:pPr lvl="1"/>
            <a:r>
              <a:rPr lang="en-US" dirty="0"/>
              <a:t>Get all posts where </a:t>
            </a:r>
            <a:r>
              <a:rPr lang="en-US" dirty="0" smtClean="0"/>
              <a:t>the keywords includes “MongoDB”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42868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MongoDB</a:t>
            </a:r>
            <a:r>
              <a:rPr lang="en-US" dirty="0" smtClean="0"/>
              <a:t> –Update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9925744" cy="4191000"/>
          </a:xfrm>
        </p:spPr>
        <p:txBody>
          <a:bodyPr/>
          <a:lstStyle/>
          <a:p>
            <a:endParaRPr lang="en-US" b="1" dirty="0"/>
          </a:p>
          <a:p>
            <a:endParaRPr lang="en-US" b="1" dirty="0" smtClean="0"/>
          </a:p>
          <a:p>
            <a:r>
              <a:rPr lang="en-US" dirty="0" smtClean="0"/>
              <a:t>SELECTOR – same as in other methods</a:t>
            </a:r>
          </a:p>
          <a:p>
            <a:r>
              <a:rPr lang="en-US" dirty="0" smtClean="0"/>
              <a:t>UPDATED_DATA – object which describes the desired changes / updated document</a:t>
            </a:r>
          </a:p>
          <a:p>
            <a:r>
              <a:rPr lang="en-US" dirty="0" smtClean="0"/>
              <a:t>OPTIONS – configuration</a:t>
            </a:r>
          </a:p>
          <a:p>
            <a:pPr lvl="1"/>
            <a:r>
              <a:rPr lang="en-US" dirty="0" err="1" smtClean="0"/>
              <a:t>upsert</a:t>
            </a:r>
            <a:r>
              <a:rPr lang="en-US" dirty="0" smtClean="0"/>
              <a:t> – insert or update </a:t>
            </a:r>
            <a:r>
              <a:rPr lang="en-US" dirty="0"/>
              <a:t>(false by default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multi – whether to update multiple documents (false by default)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969" y="2025588"/>
            <a:ext cx="8197286" cy="3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2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MongoDB</a:t>
            </a:r>
            <a:r>
              <a:rPr lang="en-US" dirty="0" smtClean="0"/>
              <a:t> – </a:t>
            </a:r>
            <a:r>
              <a:rPr lang="en-US" dirty="0" smtClean="0">
                <a:hlinkClick r:id="rId3"/>
              </a:rPr>
              <a:t>Update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Fields operators:</a:t>
            </a:r>
          </a:p>
          <a:p>
            <a:pPr lvl="1"/>
            <a:r>
              <a:rPr lang="en-US" dirty="0" smtClean="0">
                <a:hlinkClick r:id="rId4"/>
              </a:rPr>
              <a:t>$rename</a:t>
            </a:r>
            <a:r>
              <a:rPr lang="en-US" dirty="0" smtClean="0"/>
              <a:t> – change the field name</a:t>
            </a:r>
          </a:p>
          <a:p>
            <a:pPr lvl="1"/>
            <a:r>
              <a:rPr lang="en-US" dirty="0" smtClean="0">
                <a:hlinkClick r:id="rId5"/>
              </a:rPr>
              <a:t>$inc</a:t>
            </a:r>
            <a:r>
              <a:rPr lang="en-US" dirty="0" smtClean="0"/>
              <a:t> - </a:t>
            </a:r>
            <a:r>
              <a:rPr lang="en-US" dirty="0"/>
              <a:t>Increments the value of the field by the specified </a:t>
            </a:r>
            <a:r>
              <a:rPr lang="en-US" dirty="0" smtClean="0"/>
              <a:t>amount</a:t>
            </a:r>
          </a:p>
          <a:p>
            <a:pPr lvl="1"/>
            <a:r>
              <a:rPr lang="en-US" dirty="0">
                <a:hlinkClick r:id="rId6"/>
              </a:rPr>
              <a:t>$set</a:t>
            </a:r>
            <a:r>
              <a:rPr lang="en-US" dirty="0"/>
              <a:t> </a:t>
            </a:r>
            <a:r>
              <a:rPr lang="en-US" dirty="0" smtClean="0"/>
              <a:t>- replaces </a:t>
            </a:r>
            <a:r>
              <a:rPr lang="en-US" dirty="0"/>
              <a:t>the value of a field with the specified </a:t>
            </a:r>
            <a:r>
              <a:rPr lang="en-US" dirty="0" smtClean="0"/>
              <a:t>value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r>
              <a:rPr lang="en-US" dirty="0" smtClean="0">
                <a:hlinkClick r:id="rId7"/>
              </a:rPr>
              <a:t>$addToSet</a:t>
            </a:r>
            <a:r>
              <a:rPr lang="en-US" dirty="0" smtClean="0"/>
              <a:t> - </a:t>
            </a:r>
            <a:r>
              <a:rPr lang="en-US" dirty="0"/>
              <a:t>adds a value to an array unless the value is already </a:t>
            </a:r>
            <a:r>
              <a:rPr lang="en-US" dirty="0" smtClean="0"/>
              <a:t>present</a:t>
            </a:r>
          </a:p>
          <a:p>
            <a:pPr lvl="1"/>
            <a:r>
              <a:rPr lang="en-US" dirty="0" smtClean="0">
                <a:hlinkClick r:id="rId8"/>
              </a:rPr>
              <a:t>$pop</a:t>
            </a:r>
            <a:r>
              <a:rPr lang="en-US" dirty="0" smtClean="0"/>
              <a:t> - </a:t>
            </a:r>
            <a:r>
              <a:rPr lang="en-US" dirty="0"/>
              <a:t>removes the </a:t>
            </a:r>
            <a:r>
              <a:rPr lang="en-US" dirty="0" smtClean="0"/>
              <a:t>first (-1) </a:t>
            </a:r>
            <a:r>
              <a:rPr lang="en-US" dirty="0"/>
              <a:t>or </a:t>
            </a:r>
            <a:r>
              <a:rPr lang="en-US" dirty="0" smtClean="0"/>
              <a:t>last (1) </a:t>
            </a:r>
            <a:r>
              <a:rPr lang="en-US" dirty="0"/>
              <a:t>element of an </a:t>
            </a:r>
            <a:r>
              <a:rPr lang="en-US" dirty="0" smtClean="0"/>
              <a:t>array</a:t>
            </a:r>
          </a:p>
          <a:p>
            <a:pPr lvl="1"/>
            <a:r>
              <a:rPr lang="en-US" dirty="0" smtClean="0">
                <a:hlinkClick r:id="rId9"/>
              </a:rPr>
              <a:t>$push</a:t>
            </a:r>
            <a:r>
              <a:rPr lang="en-US" dirty="0" smtClean="0"/>
              <a:t> - </a:t>
            </a:r>
            <a:r>
              <a:rPr lang="en-US" dirty="0"/>
              <a:t>appends a specified value to an array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1507" y="3953892"/>
            <a:ext cx="8754209" cy="21432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956" y="3356992"/>
            <a:ext cx="4025900" cy="368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5212" y="5805264"/>
            <a:ext cx="8866580" cy="26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559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MongoDB</a:t>
            </a:r>
            <a:r>
              <a:rPr lang="en-US" dirty="0" smtClean="0"/>
              <a:t> – Remove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8917632" cy="4191000"/>
          </a:xfrm>
        </p:spPr>
        <p:txBody>
          <a:bodyPr/>
          <a:lstStyle/>
          <a:p>
            <a:endParaRPr lang="en-US" b="1" dirty="0" smtClean="0"/>
          </a:p>
          <a:p>
            <a:r>
              <a:rPr lang="en-US" dirty="0"/>
              <a:t>SELECTOR – same as in other </a:t>
            </a:r>
            <a:r>
              <a:rPr lang="en-US" dirty="0" smtClean="0"/>
              <a:t>methods</a:t>
            </a:r>
          </a:p>
          <a:p>
            <a:r>
              <a:rPr lang="en-US" dirty="0" smtClean="0"/>
              <a:t>Optional second parameter if you want to remove just one document (true/1)</a:t>
            </a:r>
          </a:p>
          <a:p>
            <a:r>
              <a:rPr lang="en-US" dirty="0"/>
              <a:t>if SELECTOR is null, mongo will </a:t>
            </a:r>
            <a:r>
              <a:rPr lang="en-US" dirty="0" smtClean="0"/>
              <a:t>remove </a:t>
            </a:r>
            <a:r>
              <a:rPr lang="en-US" b="1" dirty="0" smtClean="0"/>
              <a:t>all the documents </a:t>
            </a:r>
            <a:r>
              <a:rPr lang="en-US" dirty="0" smtClean="0"/>
              <a:t>in the collection</a:t>
            </a:r>
          </a:p>
          <a:p>
            <a:r>
              <a:rPr lang="en-US" dirty="0" err="1" smtClean="0"/>
              <a:t>db.COLLECTION.drop</a:t>
            </a:r>
            <a:r>
              <a:rPr lang="en-US" dirty="0" smtClean="0"/>
              <a:t>() drops the entire collection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972" y="1772816"/>
            <a:ext cx="5040560" cy="4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469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MongoDB</a:t>
            </a:r>
            <a:r>
              <a:rPr lang="en-US" dirty="0" smtClean="0"/>
              <a:t> - </a:t>
            </a:r>
            <a:r>
              <a:rPr lang="en-US" dirty="0" smtClean="0">
                <a:hlinkClick r:id="rId3"/>
              </a:rPr>
              <a:t>Indexing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Without indexes, MongoDB must perform a </a:t>
            </a:r>
            <a:r>
              <a:rPr lang="en-US" i="1" dirty="0"/>
              <a:t>collection scan</a:t>
            </a:r>
            <a:r>
              <a:rPr lang="en-US" dirty="0"/>
              <a:t>, i.e. scan every document in </a:t>
            </a:r>
            <a:r>
              <a:rPr lang="en-US" dirty="0" smtClean="0"/>
              <a:t>the collection</a:t>
            </a:r>
          </a:p>
          <a:p>
            <a:r>
              <a:rPr lang="en-US" dirty="0" smtClean="0"/>
              <a:t>Indexes </a:t>
            </a:r>
            <a:r>
              <a:rPr lang="en-US" dirty="0"/>
              <a:t>are special </a:t>
            </a:r>
            <a:r>
              <a:rPr lang="en-US" dirty="0">
                <a:hlinkClick r:id="rId4"/>
              </a:rPr>
              <a:t>data </a:t>
            </a:r>
            <a:r>
              <a:rPr lang="en-US" dirty="0" smtClean="0">
                <a:hlinkClick r:id="rId4"/>
              </a:rPr>
              <a:t>structures</a:t>
            </a:r>
            <a:r>
              <a:rPr lang="en-US" dirty="0"/>
              <a:t> that store a small portion of the collection’s data set in an easy to traverse </a:t>
            </a:r>
            <a:r>
              <a:rPr lang="en-US" dirty="0" smtClean="0"/>
              <a:t>form</a:t>
            </a:r>
          </a:p>
          <a:p>
            <a:pPr lvl="1"/>
            <a:r>
              <a:rPr lang="en-US" dirty="0" smtClean="0">
                <a:hlinkClick r:id="rId5"/>
              </a:rPr>
              <a:t>Text Index</a:t>
            </a:r>
            <a:r>
              <a:rPr lang="en-US" dirty="0" smtClean="0"/>
              <a:t>, </a:t>
            </a:r>
            <a:r>
              <a:rPr lang="en-US" dirty="0" smtClean="0">
                <a:hlinkClick r:id="rId6"/>
              </a:rPr>
              <a:t>Geo Index</a:t>
            </a:r>
            <a:r>
              <a:rPr lang="is-IS" dirty="0" smtClean="0"/>
              <a:t>…</a:t>
            </a:r>
            <a:endParaRPr lang="en-US" dirty="0"/>
          </a:p>
          <a:p>
            <a:r>
              <a:rPr lang="en-US" b="1" dirty="0" err="1" smtClean="0">
                <a:hlinkClick r:id="rId7"/>
              </a:rPr>
              <a:t>db.COLLECTION.createIndex</a:t>
            </a:r>
            <a:r>
              <a:rPr lang="en-US" b="1" dirty="0" smtClean="0">
                <a:hlinkClick r:id="rId7"/>
              </a:rPr>
              <a:t>()</a:t>
            </a:r>
            <a:endParaRPr lang="en-US" b="1" dirty="0" smtClean="0"/>
          </a:p>
          <a:p>
            <a:endParaRPr lang="en-US" b="1" dirty="0"/>
          </a:p>
          <a:p>
            <a:pPr lvl="1"/>
            <a:r>
              <a:rPr lang="en-US" b="1" dirty="0" smtClean="0"/>
              <a:t>On multiple fields: </a:t>
            </a:r>
          </a:p>
          <a:p>
            <a:pPr lvl="1"/>
            <a:endParaRPr lang="en-US" b="1" dirty="0"/>
          </a:p>
          <a:p>
            <a:pPr lvl="1"/>
            <a:endParaRPr lang="en-US" b="1" dirty="0" smtClean="0"/>
          </a:p>
          <a:p>
            <a:pPr lvl="1"/>
            <a:r>
              <a:rPr lang="en-US" b="1" dirty="0" smtClean="0"/>
              <a:t>Create index with specified name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940" y="4005064"/>
            <a:ext cx="5118830" cy="3600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923" y="4869160"/>
            <a:ext cx="7443315" cy="4310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20" y="5898912"/>
            <a:ext cx="10687032" cy="41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MongoDB</a:t>
            </a:r>
            <a:r>
              <a:rPr lang="en-US" dirty="0" smtClean="0"/>
              <a:t> –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Drop and recreate the posts collection</a:t>
            </a:r>
          </a:p>
          <a:p>
            <a:r>
              <a:rPr lang="en-US" dirty="0" smtClean="0"/>
              <a:t>Create index for fields: “</a:t>
            </a:r>
            <a:r>
              <a:rPr lang="en-US" dirty="0" err="1" smtClean="0"/>
              <a:t>userName</a:t>
            </a:r>
            <a:r>
              <a:rPr lang="en-US" dirty="0" smtClean="0"/>
              <a:t>” and “body” (</a:t>
            </a:r>
            <a:r>
              <a:rPr lang="en-US" dirty="0" smtClean="0">
                <a:hlinkClick r:id="rId3"/>
              </a:rPr>
              <a:t>text index</a:t>
            </a:r>
            <a:r>
              <a:rPr lang="en-US" dirty="0" smtClean="0"/>
              <a:t>)</a:t>
            </a:r>
          </a:p>
          <a:p>
            <a:r>
              <a:rPr lang="en-US" dirty="0" smtClean="0"/>
              <a:t>List the collection indexes</a:t>
            </a:r>
          </a:p>
          <a:p>
            <a:r>
              <a:rPr lang="en-US" dirty="0" smtClean="0"/>
              <a:t>Change </a:t>
            </a:r>
            <a:r>
              <a:rPr lang="en-US" dirty="0" err="1" smtClean="0"/>
              <a:t>userName</a:t>
            </a:r>
            <a:r>
              <a:rPr lang="en-US" dirty="0" smtClean="0"/>
              <a:t> for Bob’s posts to “</a:t>
            </a:r>
            <a:r>
              <a:rPr lang="en-US" dirty="0" err="1" smtClean="0"/>
              <a:t>Bobi</a:t>
            </a:r>
            <a:r>
              <a:rPr lang="en-US" dirty="0" smtClean="0"/>
              <a:t>”</a:t>
            </a:r>
          </a:p>
          <a:p>
            <a:r>
              <a:rPr lang="en-US" dirty="0" smtClean="0"/>
              <a:t>Add keyword for all </a:t>
            </a:r>
            <a:r>
              <a:rPr lang="en-US" dirty="0" err="1" smtClean="0"/>
              <a:t>Bobi’s</a:t>
            </a:r>
            <a:r>
              <a:rPr lang="en-US" dirty="0" smtClean="0"/>
              <a:t> posts: “</a:t>
            </a:r>
            <a:r>
              <a:rPr lang="en-US" dirty="0" err="1" smtClean="0"/>
              <a:t>bobi</a:t>
            </a:r>
            <a:r>
              <a:rPr lang="en-US" dirty="0" smtClean="0"/>
              <a:t>”</a:t>
            </a:r>
          </a:p>
          <a:p>
            <a:r>
              <a:rPr lang="en-US" dirty="0" smtClean="0"/>
              <a:t>Remove the last keyword in all documents</a:t>
            </a:r>
          </a:p>
          <a:p>
            <a:r>
              <a:rPr lang="en-US" dirty="0"/>
              <a:t>Remove all documents with less than 12 followers</a:t>
            </a:r>
          </a:p>
          <a:p>
            <a:r>
              <a:rPr lang="en-US" dirty="0" smtClean="0"/>
              <a:t>Change field name: “followers” to “subscribers”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83146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MongoDB with Node.js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is an official module of </a:t>
            </a:r>
            <a:r>
              <a:rPr lang="en-US" dirty="0" smtClean="0">
                <a:hlinkClick r:id="rId2"/>
              </a:rPr>
              <a:t>mongodb</a:t>
            </a:r>
            <a:r>
              <a:rPr lang="en-US" dirty="0" smtClean="0"/>
              <a:t> (driver)</a:t>
            </a:r>
          </a:p>
          <a:p>
            <a:pPr lvl="1"/>
            <a:r>
              <a:rPr lang="en-US" dirty="0" smtClean="0"/>
              <a:t>It provides low-level API (like core modules) for interacting with mongo server</a:t>
            </a:r>
          </a:p>
          <a:p>
            <a:r>
              <a:rPr lang="en-US" dirty="0" smtClean="0"/>
              <a:t>You can find multiple modules in npm:</a:t>
            </a:r>
          </a:p>
          <a:p>
            <a:pPr lvl="1"/>
            <a:r>
              <a:rPr lang="en-US" dirty="0" smtClean="0">
                <a:hlinkClick r:id="rId3"/>
              </a:rPr>
              <a:t>mongoskin</a:t>
            </a:r>
            <a:r>
              <a:rPr lang="en-US" dirty="0" smtClean="0"/>
              <a:t> – a light-weight wrapper of the driver</a:t>
            </a:r>
          </a:p>
          <a:p>
            <a:pPr lvl="1"/>
            <a:r>
              <a:rPr lang="en-US" dirty="0" smtClean="0">
                <a:hlinkClick r:id="rId4"/>
              </a:rPr>
              <a:t>mongoose</a:t>
            </a:r>
            <a:r>
              <a:rPr lang="en-US" dirty="0" smtClean="0"/>
              <a:t> – wraps the driver into a complete solution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44454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Mongoose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10213776" cy="4191000"/>
          </a:xfrm>
        </p:spPr>
        <p:txBody>
          <a:bodyPr/>
          <a:lstStyle/>
          <a:p>
            <a:r>
              <a:rPr lang="en-US" dirty="0"/>
              <a:t>Provides a schema-based modelling for your app data</a:t>
            </a:r>
          </a:p>
          <a:p>
            <a:r>
              <a:rPr lang="en-US" dirty="0"/>
              <a:t>It includes built-in type casting, validation, query building, business logic hooks and </a:t>
            </a:r>
            <a:r>
              <a:rPr lang="en-US" dirty="0" smtClean="0"/>
              <a:t>more</a:t>
            </a:r>
          </a:p>
          <a:p>
            <a:r>
              <a:rPr lang="en-US" dirty="0" smtClean="0"/>
              <a:t>DB connection:</a:t>
            </a:r>
          </a:p>
          <a:p>
            <a:endParaRPr lang="en-US" dirty="0"/>
          </a:p>
          <a:p>
            <a:r>
              <a:rPr lang="en-US" dirty="0" smtClean="0"/>
              <a:t>You can plug a Promise library</a:t>
            </a:r>
          </a:p>
          <a:p>
            <a:r>
              <a:rPr lang="en-US" dirty="0" smtClean="0">
                <a:hlinkClick r:id="rId3"/>
              </a:rPr>
              <a:t>Connection</a:t>
            </a:r>
            <a:r>
              <a:rPr lang="en-US" dirty="0" smtClean="0"/>
              <a:t> reference is now on </a:t>
            </a:r>
            <a:r>
              <a:rPr lang="en-US" b="1" i="1" dirty="0" err="1" smtClean="0"/>
              <a:t>mongoose.connection</a:t>
            </a:r>
            <a:endParaRPr lang="en-US" b="1" i="1" dirty="0" smtClean="0"/>
          </a:p>
          <a:p>
            <a:pPr lvl="1"/>
            <a:r>
              <a:rPr lang="en-US" dirty="0" smtClean="0"/>
              <a:t>It is an instance of</a:t>
            </a:r>
            <a:r>
              <a:rPr lang="en-US" b="1" i="1" dirty="0" smtClean="0"/>
              <a:t> EventEmitter</a:t>
            </a:r>
            <a:r>
              <a:rPr lang="en-US" dirty="0" smtClean="0"/>
              <a:t> so you can register on events:</a:t>
            </a:r>
          </a:p>
          <a:p>
            <a:pPr lvl="1"/>
            <a:r>
              <a:rPr lang="en-US" dirty="0" smtClean="0"/>
              <a:t>NOTE that this “connection” is actually a </a:t>
            </a:r>
            <a:r>
              <a:rPr lang="en-US" b="1" dirty="0" smtClean="0">
                <a:hlinkClick r:id="rId4"/>
              </a:rPr>
              <a:t>connection pool</a:t>
            </a:r>
            <a:r>
              <a:rPr lang="en-US" b="1" dirty="0" smtClean="0"/>
              <a:t> </a:t>
            </a:r>
            <a:r>
              <a:rPr lang="en-US" dirty="0" smtClean="0"/>
              <a:t>implemented in driver (</a:t>
            </a:r>
            <a:r>
              <a:rPr lang="en-US" dirty="0" err="1" smtClean="0"/>
              <a:t>c++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/>
              <a:t>You can create more pools but it is not necessary (in most cases)</a:t>
            </a:r>
          </a:p>
          <a:p>
            <a:pPr lvl="1"/>
            <a:endParaRPr lang="en-US" dirty="0" smtClean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743" y="2876967"/>
            <a:ext cx="5668713" cy="7783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4685" y="5806449"/>
            <a:ext cx="7907849" cy="7188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300" y="3905661"/>
            <a:ext cx="4369172" cy="29823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053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Mongoose</a:t>
            </a:r>
            <a:r>
              <a:rPr lang="en-US" dirty="0" smtClean="0"/>
              <a:t> - </a:t>
            </a:r>
            <a:r>
              <a:rPr lang="en-US" dirty="0" smtClean="0">
                <a:hlinkClick r:id="rId3"/>
              </a:rPr>
              <a:t>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10861848" cy="4191000"/>
          </a:xfrm>
        </p:spPr>
        <p:txBody>
          <a:bodyPr/>
          <a:lstStyle/>
          <a:p>
            <a:r>
              <a:rPr lang="en-US" dirty="0" smtClean="0"/>
              <a:t>Schema describes the structure of data in a specific collection (Schema == collection)</a:t>
            </a:r>
          </a:p>
          <a:p>
            <a:r>
              <a:rPr lang="en-US" dirty="0" smtClean="0"/>
              <a:t>Once we have a Schema, we can create a Model class</a:t>
            </a:r>
          </a:p>
          <a:p>
            <a:pPr lvl="1"/>
            <a:r>
              <a:rPr lang="en-US" dirty="0" smtClean="0"/>
              <a:t>Documents are instances of the Model class</a:t>
            </a:r>
          </a:p>
          <a:p>
            <a:r>
              <a:rPr lang="en-US" dirty="0" smtClean="0"/>
              <a:t>Schema constructor accepts an Object with all the the desired fields: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868" y="3769898"/>
            <a:ext cx="3632200" cy="8763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068" y="4714056"/>
            <a:ext cx="5219700" cy="304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068" y="5086714"/>
            <a:ext cx="4546600" cy="355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068" y="5513660"/>
            <a:ext cx="3784600" cy="11557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12" name="Straight Arrow Connector 11"/>
          <p:cNvCxnSpPr/>
          <p:nvPr/>
        </p:nvCxnSpPr>
        <p:spPr>
          <a:xfrm>
            <a:off x="4830068" y="4137992"/>
            <a:ext cx="2560488" cy="0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62564" y="3921968"/>
            <a:ext cx="3312368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mtClean="0"/>
              <a:t>Define schema with 1 field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411768" y="4858072"/>
            <a:ext cx="963612" cy="0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62564" y="4642048"/>
            <a:ext cx="3312368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Create Model class for </a:t>
            </a:r>
            <a:r>
              <a:rPr lang="en-US" b="1" dirty="0" smtClean="0"/>
              <a:t>Kitten</a:t>
            </a:r>
            <a:endParaRPr lang="en-US" b="1" dirty="0"/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4976668" y="5994866"/>
            <a:ext cx="2398712" cy="15334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62564" y="5778842"/>
            <a:ext cx="2736304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We can CRUD the Kitten instance (i.e. document)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24390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Mongoose</a:t>
            </a:r>
            <a:r>
              <a:rPr lang="en-US" dirty="0" smtClean="0"/>
              <a:t> </a:t>
            </a:r>
            <a:r>
              <a:rPr lang="en-US" dirty="0" smtClean="0">
                <a:hlinkClick r:id="rId3"/>
              </a:rPr>
              <a:t>–</a:t>
            </a:r>
            <a:r>
              <a:rPr lang="en-US" dirty="0" smtClean="0"/>
              <a:t> Schema </a:t>
            </a:r>
            <a:r>
              <a:rPr lang="en-US" dirty="0" smtClean="0">
                <a:hlinkClick r:id="rId3"/>
              </a:rPr>
              <a:t>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Models are fancy constructors compiled from our Schema </a:t>
            </a:r>
            <a:r>
              <a:rPr lang="en-US" dirty="0" smtClean="0"/>
              <a:t>definitions</a:t>
            </a:r>
          </a:p>
          <a:p>
            <a:r>
              <a:rPr lang="en-US" dirty="0"/>
              <a:t>All document </a:t>
            </a:r>
            <a:r>
              <a:rPr lang="en-US" dirty="0" smtClean="0"/>
              <a:t>CRUD </a:t>
            </a:r>
            <a:r>
              <a:rPr lang="en-US" dirty="0"/>
              <a:t>is handled by these </a:t>
            </a:r>
            <a:r>
              <a:rPr lang="en-US" dirty="0" smtClean="0"/>
              <a:t>models: </a:t>
            </a:r>
          </a:p>
          <a:p>
            <a:r>
              <a:rPr lang="en-US" b="1" dirty="0" smtClean="0">
                <a:hlinkClick r:id="rId4"/>
              </a:rPr>
              <a:t>Model.find(conditions[, projection][, options][, callback</a:t>
            </a:r>
            <a:r>
              <a:rPr lang="en-US" b="1" dirty="0">
                <a:hlinkClick r:id="rId4"/>
              </a:rPr>
              <a:t>])</a:t>
            </a:r>
            <a:endParaRPr lang="en-US" b="1" dirty="0"/>
          </a:p>
          <a:p>
            <a:r>
              <a:rPr lang="en-US" b="1" dirty="0" smtClean="0">
                <a:hlinkClick r:id="rId5"/>
              </a:rPr>
              <a:t>Model.create(doc(s)[, callback</a:t>
            </a:r>
            <a:r>
              <a:rPr lang="en-US" b="1" dirty="0">
                <a:hlinkClick r:id="rId5"/>
              </a:rPr>
              <a:t>])</a:t>
            </a:r>
            <a:endParaRPr lang="en-US" b="1" dirty="0"/>
          </a:p>
          <a:p>
            <a:r>
              <a:rPr lang="en-US" b="1" dirty="0" smtClean="0">
                <a:hlinkClick r:id="rId6"/>
              </a:rPr>
              <a:t>Model.update(conditions</a:t>
            </a:r>
            <a:r>
              <a:rPr lang="en-US" b="1" dirty="0">
                <a:hlinkClick r:id="rId6"/>
              </a:rPr>
              <a:t>, </a:t>
            </a:r>
            <a:r>
              <a:rPr lang="en-US" b="1" dirty="0" smtClean="0">
                <a:hlinkClick r:id="rId6"/>
              </a:rPr>
              <a:t>doc[, options][, callback</a:t>
            </a:r>
            <a:r>
              <a:rPr lang="en-US" b="1" dirty="0">
                <a:hlinkClick r:id="rId6"/>
              </a:rPr>
              <a:t>])</a:t>
            </a:r>
            <a:endParaRPr lang="en-US" b="1" dirty="0"/>
          </a:p>
          <a:p>
            <a:r>
              <a:rPr lang="en-US" b="1" dirty="0" smtClean="0">
                <a:hlinkClick r:id="rId7"/>
              </a:rPr>
              <a:t>Model.remove(conditions[, callback</a:t>
            </a:r>
            <a:r>
              <a:rPr lang="en-US" b="1" dirty="0">
                <a:hlinkClick r:id="rId7"/>
              </a:rPr>
              <a:t>])</a:t>
            </a:r>
            <a:endParaRPr lang="en-US" b="1" dirty="0"/>
          </a:p>
          <a:p>
            <a:r>
              <a:rPr lang="en-US" b="1" dirty="0" smtClean="0">
                <a:hlinkClick r:id="rId8"/>
              </a:rPr>
              <a:t>Model.prototype.save</a:t>
            </a:r>
            <a:r>
              <a:rPr lang="en-US" b="1" dirty="0">
                <a:hlinkClick r:id="rId8"/>
              </a:rPr>
              <a:t>([options</a:t>
            </a:r>
            <a:r>
              <a:rPr lang="en-US" b="1" dirty="0" smtClean="0">
                <a:hlinkClick r:id="rId8"/>
              </a:rPr>
              <a:t>][, options.safe]</a:t>
            </a:r>
            <a:br>
              <a:rPr lang="en-US" b="1" dirty="0" smtClean="0">
                <a:hlinkClick r:id="rId8"/>
              </a:rPr>
            </a:br>
            <a:r>
              <a:rPr lang="en-US" b="1" dirty="0" smtClean="0"/>
              <a:t>	</a:t>
            </a:r>
            <a:r>
              <a:rPr lang="en-US" b="1" dirty="0" smtClean="0">
                <a:hlinkClick r:id="rId8"/>
              </a:rPr>
              <a:t>[, options.validateBeforeSave][, fn])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(</a:t>
            </a:r>
            <a:r>
              <a:rPr lang="en-US" dirty="0" smtClean="0"/>
              <a:t>each document has .save() method)</a:t>
            </a:r>
          </a:p>
          <a:p>
            <a:r>
              <a:rPr lang="en-US" dirty="0" smtClean="0"/>
              <a:t>And more... All supports promise or callback syntax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588" y="2852936"/>
            <a:ext cx="4330700" cy="3175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888" y="4368046"/>
            <a:ext cx="5613400" cy="3302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86573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Mongoose</a:t>
            </a:r>
            <a:r>
              <a:rPr lang="en-US" dirty="0" smtClean="0"/>
              <a:t> -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Schema can have functionality, which will be exposed by the Model class:</a:t>
            </a:r>
          </a:p>
          <a:p>
            <a:pPr lvl="1"/>
            <a:r>
              <a:rPr lang="en-US" b="1" dirty="0"/>
              <a:t>Instance </a:t>
            </a:r>
            <a:r>
              <a:rPr lang="en-US" b="1" dirty="0" smtClean="0"/>
              <a:t>methods</a:t>
            </a:r>
            <a:r>
              <a:rPr lang="en-US" dirty="0" smtClean="0"/>
              <a:t> – will be available on </a:t>
            </a:r>
            <a:r>
              <a:rPr lang="en-US" dirty="0" err="1" smtClean="0"/>
              <a:t>Model.prototype</a:t>
            </a:r>
            <a:endParaRPr lang="en-US" b="1" dirty="0"/>
          </a:p>
          <a:p>
            <a:pPr lvl="1"/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932" y="2690097"/>
            <a:ext cx="7128792" cy="184820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932" y="4653136"/>
            <a:ext cx="5760640" cy="183791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29480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Mongoose</a:t>
            </a:r>
            <a:r>
              <a:rPr lang="en-US" dirty="0" smtClean="0"/>
              <a:t> -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s-IS" dirty="0" smtClean="0"/>
              <a:t>…</a:t>
            </a:r>
            <a:endParaRPr lang="en-US" dirty="0" smtClean="0"/>
          </a:p>
          <a:p>
            <a:pPr lvl="1"/>
            <a:r>
              <a:rPr lang="en-US" b="1" dirty="0" smtClean="0"/>
              <a:t>Statics </a:t>
            </a:r>
            <a:r>
              <a:rPr lang="en-US" dirty="0" smtClean="0"/>
              <a:t>– will be available on Model (static methods)</a:t>
            </a:r>
            <a:endParaRPr lang="en-US" b="1" dirty="0"/>
          </a:p>
          <a:p>
            <a:pPr lvl="1"/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" y="2780928"/>
            <a:ext cx="6768752" cy="263891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7938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Mongoose</a:t>
            </a:r>
            <a:r>
              <a:rPr lang="en-US" dirty="0" smtClean="0"/>
              <a:t> – Schema Middleware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Middleware (also called pre and post </a:t>
            </a:r>
            <a:r>
              <a:rPr lang="en-US" i="1" dirty="0"/>
              <a:t>hooks</a:t>
            </a:r>
            <a:r>
              <a:rPr lang="en-US" dirty="0"/>
              <a:t>) are functions which are passed control during execution of asynchronous </a:t>
            </a:r>
            <a:r>
              <a:rPr lang="en-US" dirty="0" smtClean="0"/>
              <a:t>functions</a:t>
            </a:r>
          </a:p>
          <a:p>
            <a:r>
              <a:rPr lang="en-US" dirty="0" smtClean="0"/>
              <a:t>Pre hooks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Post hooks: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899" y="3011242"/>
            <a:ext cx="4002833" cy="15675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899" y="5517232"/>
            <a:ext cx="4968552" cy="93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614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12" y="1828800"/>
            <a:ext cx="8686801" cy="48405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Each key in our </a:t>
            </a:r>
            <a:r>
              <a:rPr lang="en-US" dirty="0" smtClean="0"/>
              <a:t>schema</a:t>
            </a:r>
            <a:r>
              <a:rPr lang="en-US" dirty="0"/>
              <a:t> defines a property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 </a:t>
            </a:r>
            <a:r>
              <a:rPr lang="en-US" dirty="0"/>
              <a:t>our documents which will be cast to </a:t>
            </a:r>
            <a:r>
              <a:rPr lang="en-US" dirty="0" smtClean="0"/>
              <a:t>its</a:t>
            </a:r>
            <a:br>
              <a:rPr lang="en-US" dirty="0" smtClean="0"/>
            </a:br>
            <a:r>
              <a:rPr lang="en-US" dirty="0" smtClean="0"/>
              <a:t>associated</a:t>
            </a:r>
            <a:r>
              <a:rPr lang="en-US" dirty="0"/>
              <a:t> </a:t>
            </a:r>
            <a:r>
              <a:rPr lang="en-US" dirty="0" err="1" smtClean="0"/>
              <a:t>SchemaType</a:t>
            </a:r>
            <a:endParaRPr lang="en-US" dirty="0" smtClean="0"/>
          </a:p>
          <a:p>
            <a:r>
              <a:rPr lang="en-US" dirty="0" smtClean="0"/>
              <a:t>Available </a:t>
            </a:r>
            <a:r>
              <a:rPr lang="en-US" dirty="0" smtClean="0">
                <a:hlinkClick r:id="rId2"/>
              </a:rPr>
              <a:t>SchemaTypes</a:t>
            </a:r>
            <a:r>
              <a:rPr lang="en-US" dirty="0" smtClean="0"/>
              <a:t>:</a:t>
            </a:r>
          </a:p>
          <a:p>
            <a:pPr marL="605790" lvl="1" indent="-285750"/>
            <a:r>
              <a:rPr lang="en-US" dirty="0"/>
              <a:t>String</a:t>
            </a:r>
          </a:p>
          <a:p>
            <a:pPr marL="605790" lvl="1" indent="-285750"/>
            <a:r>
              <a:rPr lang="en-US" dirty="0"/>
              <a:t>Number</a:t>
            </a:r>
          </a:p>
          <a:p>
            <a:pPr marL="605790" lvl="1" indent="-285750"/>
            <a:r>
              <a:rPr lang="en-US" dirty="0"/>
              <a:t>Date</a:t>
            </a:r>
          </a:p>
          <a:p>
            <a:pPr marL="605790" lvl="1" indent="-285750"/>
            <a:r>
              <a:rPr lang="en-US" dirty="0"/>
              <a:t>Buffer</a:t>
            </a:r>
          </a:p>
          <a:p>
            <a:pPr marL="605790" lvl="1" indent="-285750"/>
            <a:r>
              <a:rPr lang="en-US" dirty="0"/>
              <a:t>Boolean</a:t>
            </a:r>
          </a:p>
          <a:p>
            <a:pPr marL="605790" lvl="1" indent="-285750"/>
            <a:r>
              <a:rPr lang="en-US" dirty="0"/>
              <a:t>Mixed</a:t>
            </a:r>
          </a:p>
          <a:p>
            <a:pPr marL="605790" lvl="1" indent="-285750"/>
            <a:r>
              <a:rPr lang="en-US" dirty="0"/>
              <a:t>ObjectId</a:t>
            </a:r>
          </a:p>
          <a:p>
            <a:pPr marL="605790" lvl="1" indent="-285750"/>
            <a:r>
              <a:rPr lang="en-US" dirty="0" smtClean="0"/>
              <a:t>Array</a:t>
            </a:r>
          </a:p>
          <a:p>
            <a:pPr marL="285750" indent="-285750"/>
            <a:r>
              <a:rPr lang="en-US" dirty="0" smtClean="0"/>
              <a:t>You can create </a:t>
            </a:r>
            <a:r>
              <a:rPr lang="en-US" dirty="0" smtClean="0">
                <a:hlinkClick r:id="rId3"/>
              </a:rPr>
              <a:t>Custom </a:t>
            </a:r>
            <a:r>
              <a:rPr lang="en-US" dirty="0" err="1" smtClean="0">
                <a:hlinkClick r:id="rId3"/>
              </a:rPr>
              <a:t>SchemaType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9984" y="1136476"/>
            <a:ext cx="5753100" cy="56769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24983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Mongoose &amp; express – </a:t>
            </a:r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Create a new </a:t>
            </a:r>
            <a:r>
              <a:rPr lang="en-US" dirty="0" err="1" smtClean="0"/>
              <a:t>db</a:t>
            </a:r>
            <a:r>
              <a:rPr lang="en-US" dirty="0" smtClean="0"/>
              <a:t> with 2 collections:</a:t>
            </a:r>
          </a:p>
          <a:p>
            <a:pPr lvl="1"/>
            <a:r>
              <a:rPr lang="en-US" dirty="0" smtClean="0"/>
              <a:t>users</a:t>
            </a:r>
          </a:p>
          <a:p>
            <a:pPr lvl="1"/>
            <a:r>
              <a:rPr lang="en-US" dirty="0" smtClean="0"/>
              <a:t>posts </a:t>
            </a:r>
          </a:p>
          <a:p>
            <a:r>
              <a:rPr lang="en-US" dirty="0" smtClean="0"/>
              <a:t>Implement Node app using express &amp; mongoose:</a:t>
            </a:r>
          </a:p>
          <a:p>
            <a:r>
              <a:rPr lang="en-US" dirty="0" smtClean="0"/>
              <a:t>Create schemas based on </a:t>
            </a:r>
            <a:r>
              <a:rPr lang="en-US" dirty="0"/>
              <a:t>the </a:t>
            </a:r>
            <a:r>
              <a:rPr lang="en-US" dirty="0" err="1" smtClean="0"/>
              <a:t>posts.json</a:t>
            </a:r>
            <a:r>
              <a:rPr lang="en-US" dirty="0" smtClean="0"/>
              <a:t> &amp; </a:t>
            </a:r>
            <a:r>
              <a:rPr lang="en-US" dirty="0" err="1" smtClean="0"/>
              <a:t>users.json</a:t>
            </a:r>
            <a:r>
              <a:rPr lang="en-US" dirty="0" smtClean="0"/>
              <a:t> content structure</a:t>
            </a:r>
          </a:p>
          <a:p>
            <a:r>
              <a:rPr lang="en-US" dirty="0"/>
              <a:t>Implement posts API:</a:t>
            </a:r>
          </a:p>
          <a:p>
            <a:pPr lvl="1"/>
            <a:r>
              <a:rPr lang="en-US" dirty="0"/>
              <a:t>Add post</a:t>
            </a:r>
          </a:p>
          <a:p>
            <a:pPr lvl="1"/>
            <a:r>
              <a:rPr lang="en-US" dirty="0"/>
              <a:t>Like/follow</a:t>
            </a:r>
          </a:p>
          <a:p>
            <a:pPr lvl="1"/>
            <a:r>
              <a:rPr lang="en-US" dirty="0"/>
              <a:t>Add </a:t>
            </a:r>
            <a:r>
              <a:rPr lang="en-US" dirty="0" smtClean="0"/>
              <a:t>keyword</a:t>
            </a:r>
          </a:p>
          <a:p>
            <a:pPr lvl="1"/>
            <a:r>
              <a:rPr lang="en-US" dirty="0" smtClean="0"/>
              <a:t>Remove post</a:t>
            </a:r>
            <a:endParaRPr lang="en-US" dirty="0"/>
          </a:p>
          <a:p>
            <a:r>
              <a:rPr lang="en-US" dirty="0" smtClean="0"/>
              <a:t>Implement CRUD API for users</a:t>
            </a:r>
          </a:p>
          <a:p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74973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What is NoSQL</a:t>
            </a:r>
            <a:endParaRPr lang="en-US" dirty="0" smtClean="0"/>
          </a:p>
          <a:p>
            <a:r>
              <a:rPr lang="en-US" dirty="0">
                <a:hlinkClick r:id="rId3"/>
              </a:rPr>
              <a:t>SQL vs NoSQL: The </a:t>
            </a:r>
            <a:r>
              <a:rPr lang="en-US" dirty="0" smtClean="0">
                <a:hlinkClick r:id="rId3"/>
              </a:rPr>
              <a:t>Differences</a:t>
            </a:r>
            <a:endParaRPr lang="en-US" dirty="0" smtClean="0"/>
          </a:p>
          <a:p>
            <a:r>
              <a:rPr lang="en-US" dirty="0">
                <a:hlinkClick r:id="rId4"/>
              </a:rPr>
              <a:t>Atomicity and </a:t>
            </a:r>
            <a:r>
              <a:rPr lang="en-US" dirty="0" smtClean="0">
                <a:hlinkClick r:id="rId4"/>
              </a:rPr>
              <a:t>Transactions</a:t>
            </a:r>
            <a:endParaRPr lang="en-US" dirty="0" smtClean="0"/>
          </a:p>
          <a:p>
            <a:r>
              <a:rPr lang="en-US" dirty="0" smtClean="0">
                <a:hlinkClick r:id="rId5"/>
              </a:rPr>
              <a:t>Sharding</a:t>
            </a:r>
            <a:endParaRPr lang="en-US" dirty="0" smtClean="0"/>
          </a:p>
          <a:p>
            <a:r>
              <a:rPr lang="en-US" dirty="0" smtClean="0">
                <a:hlinkClick r:id="rId6"/>
              </a:rPr>
              <a:t>Replication</a:t>
            </a:r>
            <a:endParaRPr lang="en-US" dirty="0" smtClean="0">
              <a:hlinkClick r:id="rId7"/>
            </a:endParaRPr>
          </a:p>
          <a:p>
            <a:r>
              <a:rPr lang="en-US" dirty="0" smtClean="0">
                <a:hlinkClick r:id="rId7"/>
              </a:rPr>
              <a:t>Mongo admin Uis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29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usiness Contrast 16x9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2D0870B-5333-4B89-B14A-85A8EA464D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Business contrast presentation (widescreen)</Template>
  <TotalTime>0</TotalTime>
  <Words>898</Words>
  <Application>Microsoft Macintosh PowerPoint</Application>
  <PresentationFormat>Custom</PresentationFormat>
  <Paragraphs>188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Franklin Gothic Medium</vt:lpstr>
      <vt:lpstr>Wingdings</vt:lpstr>
      <vt:lpstr>Arial</vt:lpstr>
      <vt:lpstr>Business Contrast 16x9</vt:lpstr>
      <vt:lpstr>Node JS - part 4  MongoDB</vt:lpstr>
      <vt:lpstr>Mongo vs. SQL</vt:lpstr>
      <vt:lpstr>MongoDB - Shell </vt:lpstr>
      <vt:lpstr>MongoDB - Client Shell </vt:lpstr>
      <vt:lpstr>MongoDB – Insert, Find</vt:lpstr>
      <vt:lpstr>MongoDB – query operators</vt:lpstr>
      <vt:lpstr>MongoDB – projection</vt:lpstr>
      <vt:lpstr>MongoDB – Exercise</vt:lpstr>
      <vt:lpstr>MongoDB –Update</vt:lpstr>
      <vt:lpstr>MongoDB – Update operators</vt:lpstr>
      <vt:lpstr>MongoDB – Remove</vt:lpstr>
      <vt:lpstr>MongoDB - Indexing</vt:lpstr>
      <vt:lpstr>MongoDB – Exercise</vt:lpstr>
      <vt:lpstr>MongoDB with Node.js</vt:lpstr>
      <vt:lpstr>Mongoose</vt:lpstr>
      <vt:lpstr>Mongoose - Schema</vt:lpstr>
      <vt:lpstr>Mongoose – Schema Model</vt:lpstr>
      <vt:lpstr>Mongoose - Schema</vt:lpstr>
      <vt:lpstr>Mongoose - Schema</vt:lpstr>
      <vt:lpstr>Mongoose – Schema Middleware</vt:lpstr>
      <vt:lpstr>Schema Types</vt:lpstr>
      <vt:lpstr>Mongoose &amp; express – Exercise</vt:lpstr>
      <vt:lpstr>Links</vt:lpstr>
      <vt:lpstr>Thank You</vt:lpstr>
    </vt:vector>
  </TitlesOfParts>
  <LinksUpToDate>false</LinksUpToDate>
  <SharedDoc>false</SharedDoc>
  <HyperlinksChanged>false</HyperlinksChanged>
  <AppVersion>15.0028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2016-03-15T13:03:36Z</dcterms:created>
  <dcterms:modified xsi:type="dcterms:W3CDTF">2016-12-07T01:20:09Z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TC028952669991</vt:lpwstr>
  </property>
</Properties>
</file>