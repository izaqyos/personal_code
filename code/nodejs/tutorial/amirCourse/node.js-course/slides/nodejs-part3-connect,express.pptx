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26"/>
  </p:notesMasterIdLst>
  <p:handoutMasterIdLst>
    <p:handoutMasterId r:id="rId27"/>
  </p:handoutMasterIdLst>
  <p:sldIdLst>
    <p:sldId id="256" r:id="rId3"/>
    <p:sldId id="310" r:id="rId4"/>
    <p:sldId id="315" r:id="rId5"/>
    <p:sldId id="312" r:id="rId6"/>
    <p:sldId id="313" r:id="rId7"/>
    <p:sldId id="314" r:id="rId8"/>
    <p:sldId id="311" r:id="rId9"/>
    <p:sldId id="332" r:id="rId10"/>
    <p:sldId id="316" r:id="rId11"/>
    <p:sldId id="318" r:id="rId12"/>
    <p:sldId id="317" r:id="rId13"/>
    <p:sldId id="324" r:id="rId14"/>
    <p:sldId id="322" r:id="rId15"/>
    <p:sldId id="323" r:id="rId16"/>
    <p:sldId id="330" r:id="rId17"/>
    <p:sldId id="325" r:id="rId18"/>
    <p:sldId id="326" r:id="rId19"/>
    <p:sldId id="327" r:id="rId20"/>
    <p:sldId id="328" r:id="rId21"/>
    <p:sldId id="329" r:id="rId22"/>
    <p:sldId id="331" r:id="rId23"/>
    <p:sldId id="280" r:id="rId24"/>
    <p:sldId id="277" r:id="rId2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12" autoAdjust="0"/>
    <p:restoredTop sz="94660"/>
  </p:normalViewPr>
  <p:slideViewPr>
    <p:cSldViewPr showGuides="1">
      <p:cViewPr varScale="1">
        <p:scale>
          <a:sx n="139" d="100"/>
          <a:sy n="139" d="100"/>
        </p:scale>
        <p:origin x="992" y="1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3/19/19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3/19/19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3/19/19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pmjs.com/package/response-time" TargetMode="External"/><Relationship Id="rId3" Type="http://schemas.openxmlformats.org/officeDocument/2006/relationships/hyperlink" Target="https://github.com/senchalabs/connect#middleware" TargetMode="External"/><Relationship Id="rId7" Type="http://schemas.openxmlformats.org/officeDocument/2006/relationships/hyperlink" Target="https://www.npmjs.com/package/morgan" TargetMode="External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mjs.com/package/cookie-session" TargetMode="External"/><Relationship Id="rId11" Type="http://schemas.openxmlformats.org/officeDocument/2006/relationships/hyperlink" Target="https://www.npmjs.com/package/connect-route" TargetMode="External"/><Relationship Id="rId5" Type="http://schemas.openxmlformats.org/officeDocument/2006/relationships/hyperlink" Target="https://www.npmjs.com/package/compression" TargetMode="External"/><Relationship Id="rId10" Type="http://schemas.openxmlformats.org/officeDocument/2006/relationships/hyperlink" Target="https://www.npmjs.com/package/connect-query" TargetMode="External"/><Relationship Id="rId4" Type="http://schemas.openxmlformats.org/officeDocument/2006/relationships/hyperlink" Target="https://www.npmjs.com/package/body-parser" TargetMode="External"/><Relationship Id="rId9" Type="http://schemas.openxmlformats.org/officeDocument/2006/relationships/hyperlink" Target="https://www.npmjs.com/package/csur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expressjs.com/en/guide/routing.html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xpressjs.com/en/4x/api.html#req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://expressjs.com/en/4x/api.html#r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expressjs.com/en/4x/api.html#router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github.com/expressjs/express/wiki?_ga=1.87415824.947735445.1470391473#template-engines" TargetMode="External"/><Relationship Id="rId7" Type="http://schemas.openxmlformats.org/officeDocument/2006/relationships/hyperlink" Target="http://expressjs.com/en/starter/generator.html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xpressjs.com/en/starter/static-files.html" TargetMode="External"/><Relationship Id="rId5" Type="http://schemas.openxmlformats.org/officeDocument/2006/relationships/hyperlink" Target="http://expressjs.com/en/4x/api.html#app.settings.table" TargetMode="External"/><Relationship Id="rId4" Type="http://schemas.openxmlformats.org/officeDocument/2006/relationships/hyperlink" Target="http://expressjs.com/en/guide/debugging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redis-mock" TargetMode="External"/><Relationship Id="rId2" Type="http://schemas.openxmlformats.org/officeDocument/2006/relationships/hyperlink" Target="https://randomuser.m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passportjs.org/" TargetMode="External"/><Relationship Id="rId7" Type="http://schemas.openxmlformats.org/officeDocument/2006/relationships/hyperlink" Target="http://passportjs.org/docs/providers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ssportjs.org/docs/twitter" TargetMode="External"/><Relationship Id="rId5" Type="http://schemas.openxmlformats.org/officeDocument/2006/relationships/hyperlink" Target="http://passportjs.org/docs/facebook" TargetMode="External"/><Relationship Id="rId4" Type="http://schemas.openxmlformats.org/officeDocument/2006/relationships/hyperlink" Target="http://passportjs.org/docs/username-passwor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passportjs.org/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passportjs.org/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://openid.net/" TargetMode="External"/><Relationship Id="rId4" Type="http://schemas.openxmlformats.org/officeDocument/2006/relationships/hyperlink" Target="http://oauth.net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passportjs.org/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github.com/expressjs/sess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passportjs.org/" TargetMode="External"/><Relationship Id="rId2" Type="http://schemas.openxmlformats.org/officeDocument/2006/relationships/hyperlink" Target="http://expressj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assport/express-4.x-local-example" TargetMode="External"/><Relationship Id="rId3" Type="http://schemas.openxmlformats.org/officeDocument/2006/relationships/hyperlink" Target="https://github.com/expressjs/express/wiki?_ga=1.87415824.947735445.1470391473#template-engines" TargetMode="External"/><Relationship Id="rId7" Type="http://schemas.openxmlformats.org/officeDocument/2006/relationships/hyperlink" Target="https://scotch.io/tutorials/easy-node-authentication-facebook" TargetMode="External"/><Relationship Id="rId2" Type="http://schemas.openxmlformats.org/officeDocument/2006/relationships/hyperlink" Target="https://nodejs.org/en/docs/guides/anatomy-of-an-http-transa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withhugo.com/setting-up-express-and-redis-with-docker-compose/" TargetMode="External"/><Relationship Id="rId5" Type="http://schemas.openxmlformats.org/officeDocument/2006/relationships/hyperlink" Target="http://expressjs.com/en/advanced/best-practice-performance.html" TargetMode="External"/><Relationship Id="rId4" Type="http://schemas.openxmlformats.org/officeDocument/2006/relationships/hyperlink" Target="http://expressjs.com/en/advanced/pm.html" TargetMode="External"/><Relationship Id="rId9" Type="http://schemas.openxmlformats.org/officeDocument/2006/relationships/hyperlink" Target="https://medium.com/@zurfyx/building-a-scalable-node-js-express-app-1be1a7134cfd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6973414" cy="2514601"/>
          </a:xfrm>
        </p:spPr>
        <p:txBody>
          <a:bodyPr/>
          <a:lstStyle/>
          <a:p>
            <a:r>
              <a:rPr lang="en-US" dirty="0"/>
              <a:t>Node JS - part 3 </a:t>
            </a:r>
            <a:br>
              <a:rPr lang="en-US" dirty="0"/>
            </a:br>
            <a:r>
              <a:rPr lang="en-US" sz="4400" dirty="0"/>
              <a:t>connect &amp; express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/>
              <a:t>Amir Yahalom, SAP.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Wraps the core http module</a:t>
            </a:r>
          </a:p>
          <a:p>
            <a:r>
              <a:rPr lang="en-US" dirty="0"/>
              <a:t>It is an extensible HTTP server framework (using plugins/middleware)</a:t>
            </a:r>
          </a:p>
          <a:p>
            <a:r>
              <a:rPr lang="en-US" dirty="0"/>
              <a:t>A middleware is a function that handles a request</a:t>
            </a:r>
          </a:p>
          <a:p>
            <a:pPr lvl="1"/>
            <a:r>
              <a:rPr lang="en-US" dirty="0"/>
              <a:t>Filters - process the request and pass it on to the next handlers</a:t>
            </a:r>
          </a:p>
          <a:p>
            <a:pPr lvl="2"/>
            <a:r>
              <a:rPr lang="en-US" dirty="0"/>
              <a:t>Logging, authentication, compression, parsers</a:t>
            </a:r>
            <a:r>
              <a:rPr lang="is-IS" dirty="0"/>
              <a:t>…</a:t>
            </a:r>
            <a:endParaRPr lang="en-US" dirty="0"/>
          </a:p>
          <a:p>
            <a:pPr lvl="1"/>
            <a:r>
              <a:rPr lang="en-US" dirty="0"/>
              <a:t>Providers - handle the request and ends it</a:t>
            </a:r>
          </a:p>
          <a:p>
            <a:pPr lvl="2"/>
            <a:r>
              <a:rPr lang="en-US" dirty="0"/>
              <a:t>Application API, static resources</a:t>
            </a:r>
            <a:r>
              <a:rPr lang="is-IS" dirty="0"/>
              <a:t>…</a:t>
            </a:r>
          </a:p>
          <a:p>
            <a:pPr lvl="1"/>
            <a:r>
              <a:rPr lang="is-IS" dirty="0"/>
              <a:t>Error handlers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3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connect() will return an instance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app.use</a:t>
            </a:r>
            <a:r>
              <a:rPr lang="en-US" b="1" dirty="0"/>
              <a:t>([route : string, ]handler : function)</a:t>
            </a:r>
          </a:p>
          <a:p>
            <a:pPr lvl="1"/>
            <a:r>
              <a:rPr lang="en-US" b="1" dirty="0"/>
              <a:t>add an handler to a given route (defaulting to “/”)</a:t>
            </a:r>
          </a:p>
          <a:p>
            <a:pPr lvl="1"/>
            <a:r>
              <a:rPr lang="en-US" b="1" dirty="0"/>
              <a:t>function handler([err, ]</a:t>
            </a:r>
            <a:r>
              <a:rPr lang="en-US" b="1" dirty="0" err="1"/>
              <a:t>req</a:t>
            </a:r>
            <a:r>
              <a:rPr lang="en-US" b="1" dirty="0"/>
              <a:t>, res, next)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92" y="2420888"/>
            <a:ext cx="3721062" cy="5760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6550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usage: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2355849"/>
            <a:ext cx="5389240" cy="38141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14492" y="2361654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request made to the server: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write a message into log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Respond with ‘Hello Connect’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4492" y="365767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Filter – pass the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4492" y="4312974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– ends the request</a:t>
            </a:r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flipH="1" flipV="1">
            <a:off x="5734372" y="3501008"/>
            <a:ext cx="1080120" cy="341332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1"/>
          </p:cNvCxnSpPr>
          <p:nvPr/>
        </p:nvCxnSpPr>
        <p:spPr>
          <a:xfrm flipH="1">
            <a:off x="6454452" y="4497640"/>
            <a:ext cx="360040" cy="1148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18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middleware will catch errors: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Error handler can end the request or forward it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92" y="2420888"/>
            <a:ext cx="5283200" cy="2032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943701" y="378904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handler recognized by accepting 4 </a:t>
            </a:r>
            <a:r>
              <a:rPr lang="en-US" dirty="0" err="1"/>
              <a:t>args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5806380" y="3933056"/>
            <a:ext cx="1137322" cy="4065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9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endParaRPr lang="en-US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1844823"/>
            <a:ext cx="5317232" cy="4525895"/>
          </a:xfrm>
        </p:spPr>
      </p:pic>
      <p:cxnSp>
        <p:nvCxnSpPr>
          <p:cNvPr id="17" name="Straight Connector 16"/>
          <p:cNvCxnSpPr>
            <a:stCxn id="15" idx="2"/>
          </p:cNvCxnSpPr>
          <p:nvPr/>
        </p:nvCxnSpPr>
        <p:spPr>
          <a:xfrm>
            <a:off x="3723828" y="6370718"/>
            <a:ext cx="44588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8182644" y="5301208"/>
            <a:ext cx="0" cy="1069510"/>
          </a:xfrm>
          <a:prstGeom prst="line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0516" y="4510861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</a:t>
            </a:r>
            <a:r>
              <a:rPr lang="en-US" b="1" dirty="0"/>
              <a:t>Error Middleware </a:t>
            </a:r>
            <a:r>
              <a:rPr lang="en-US" dirty="0"/>
              <a:t>can be written after this one</a:t>
            </a:r>
          </a:p>
        </p:txBody>
      </p:sp>
    </p:spTree>
    <p:extLst>
      <p:ext uri="{BB962C8B-B14F-4D97-AF65-F5344CB8AC3E}">
        <p14:creationId xmlns:p14="http://schemas.microsoft.com/office/powerpoint/2010/main" val="167922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middleware</a:t>
            </a:r>
            <a:r>
              <a:rPr lang="en-US" dirty="0"/>
              <a:t>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hlinkClick r:id="rId4"/>
              </a:rPr>
              <a:t>body-parser</a:t>
            </a:r>
            <a:r>
              <a:rPr lang="en-US" dirty="0"/>
              <a:t> - parse request bodies into </a:t>
            </a:r>
            <a:r>
              <a:rPr lang="en-US" dirty="0" err="1"/>
              <a:t>req.body</a:t>
            </a:r>
            <a:endParaRPr lang="en-US" dirty="0"/>
          </a:p>
          <a:p>
            <a:r>
              <a:rPr lang="en-US" b="1" dirty="0">
                <a:hlinkClick r:id="rId5"/>
              </a:rPr>
              <a:t>compression</a:t>
            </a:r>
            <a:r>
              <a:rPr lang="en-US" dirty="0"/>
              <a:t> - </a:t>
            </a:r>
            <a:r>
              <a:rPr lang="en-US" dirty="0" err="1"/>
              <a:t>gzip</a:t>
            </a:r>
            <a:r>
              <a:rPr lang="en-US" dirty="0"/>
              <a:t>/deflate outgoing responses</a:t>
            </a:r>
          </a:p>
          <a:p>
            <a:r>
              <a:rPr lang="en-US" b="1" dirty="0">
                <a:hlinkClick r:id="rId6"/>
              </a:rPr>
              <a:t>cookie-session</a:t>
            </a:r>
            <a:r>
              <a:rPr lang="en-US" dirty="0"/>
              <a:t> - store session state in browser cookie</a:t>
            </a:r>
          </a:p>
          <a:p>
            <a:r>
              <a:rPr lang="en-US" dirty="0">
                <a:hlinkClick r:id="rId7"/>
              </a:rPr>
              <a:t>morgan</a:t>
            </a:r>
            <a:r>
              <a:rPr lang="en-US" dirty="0"/>
              <a:t> – logging</a:t>
            </a:r>
          </a:p>
          <a:p>
            <a:r>
              <a:rPr lang="en-US" dirty="0">
                <a:hlinkClick r:id="rId8"/>
              </a:rPr>
              <a:t>response-time</a:t>
            </a:r>
            <a:r>
              <a:rPr lang="en-US" b="1" dirty="0"/>
              <a:t> - </a:t>
            </a:r>
            <a:r>
              <a:rPr lang="en-US" dirty="0"/>
              <a:t>records the response time, adds </a:t>
            </a:r>
            <a:r>
              <a:rPr lang="en-US" b="1" i="1" dirty="0"/>
              <a:t>X-Response-Time</a:t>
            </a:r>
            <a:r>
              <a:rPr lang="en-US" dirty="0"/>
              <a:t> header</a:t>
            </a:r>
          </a:p>
          <a:p>
            <a:r>
              <a:rPr lang="en-US" dirty="0">
                <a:hlinkClick r:id="rId9"/>
              </a:rPr>
              <a:t>csurf</a:t>
            </a:r>
            <a:r>
              <a:rPr lang="en-US" dirty="0"/>
              <a:t> – CSRF token middleware</a:t>
            </a:r>
          </a:p>
          <a:p>
            <a:r>
              <a:rPr lang="en-US" dirty="0">
                <a:hlinkClick r:id="rId10"/>
              </a:rPr>
              <a:t>connect-query</a:t>
            </a:r>
            <a:r>
              <a:rPr lang="en-US" dirty="0"/>
              <a:t> – parse query string</a:t>
            </a:r>
          </a:p>
          <a:p>
            <a:r>
              <a:rPr lang="en-US" dirty="0">
                <a:hlinkClick r:id="rId11"/>
              </a:rPr>
              <a:t>connect-route</a:t>
            </a:r>
            <a:r>
              <a:rPr lang="en-US" dirty="0"/>
              <a:t> – mini-connect app</a:t>
            </a:r>
          </a:p>
          <a:p>
            <a:r>
              <a:rPr lang="is-IS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0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Connect</a:t>
            </a:r>
            <a:r>
              <a:rPr lang="en-US" dirty="0"/>
              <a:t> – middleware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12" y="1772816"/>
            <a:ext cx="62611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0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framework designed for building web apps / APIs</a:t>
            </a:r>
          </a:p>
          <a:p>
            <a:r>
              <a:rPr lang="en-US" dirty="0"/>
              <a:t>It has all </a:t>
            </a:r>
            <a:r>
              <a:rPr lang="en-US" b="1" i="1" dirty="0"/>
              <a:t>connect</a:t>
            </a:r>
            <a:r>
              <a:rPr lang="en-US" dirty="0"/>
              <a:t> functionality, plus: </a:t>
            </a:r>
          </a:p>
          <a:p>
            <a:pPr lvl="1"/>
            <a:r>
              <a:rPr lang="en-US" dirty="0"/>
              <a:t>routing mechanism</a:t>
            </a:r>
          </a:p>
          <a:p>
            <a:pPr lvl="1"/>
            <a:r>
              <a:rPr lang="en-US" dirty="0"/>
              <a:t>view rendering</a:t>
            </a:r>
          </a:p>
          <a:p>
            <a:pPr lvl="1"/>
            <a:r>
              <a:rPr lang="en-US" dirty="0"/>
              <a:t>application settings support</a:t>
            </a:r>
          </a:p>
          <a:p>
            <a:pPr lvl="1"/>
            <a:r>
              <a:rPr lang="en-US" dirty="0"/>
              <a:t>top level verbs (get/post etc.)</a:t>
            </a:r>
          </a:p>
          <a:p>
            <a:r>
              <a:rPr lang="en-US" dirty="0"/>
              <a:t>you can still </a:t>
            </a:r>
            <a:r>
              <a:rPr lang="en-US" dirty="0" err="1"/>
              <a:t>app.use</a:t>
            </a:r>
            <a:r>
              <a:rPr lang="en-US" dirty="0"/>
              <a:t>(…) to add middleware</a:t>
            </a:r>
          </a:p>
          <a:p>
            <a:r>
              <a:rPr lang="en-US" dirty="0"/>
              <a:t>compatible with most of the plugins for </a:t>
            </a:r>
            <a:r>
              <a:rPr lang="en-US" b="1" i="1" dirty="0"/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30745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Hello world 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36" y="2348880"/>
            <a:ext cx="5647606" cy="44286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59825" y="2348880"/>
            <a:ext cx="3384376" cy="14773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Each response will have the following headers:</a:t>
            </a:r>
          </a:p>
          <a:p>
            <a:pPr fontAlgn="t"/>
            <a:r>
              <a:rPr lang="en-US" b="1" dirty="0"/>
              <a:t>X-Dummy-Header: </a:t>
            </a:r>
            <a:r>
              <a:rPr lang="en-US" dirty="0" err="1"/>
              <a:t>val</a:t>
            </a:r>
            <a:endParaRPr lang="en-US" dirty="0"/>
          </a:p>
          <a:p>
            <a:pPr fontAlgn="t"/>
            <a:r>
              <a:rPr lang="en-US" b="1" dirty="0"/>
              <a:t>X-Response-Time: </a:t>
            </a:r>
            <a:r>
              <a:rPr lang="en-US" dirty="0"/>
              <a:t>&lt;number&gt;</a:t>
            </a:r>
            <a:r>
              <a:rPr lang="en-US" dirty="0" err="1"/>
              <a:t>ms</a:t>
            </a:r>
            <a:endParaRPr lang="en-US" dirty="0"/>
          </a:p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022404" y="3068960"/>
            <a:ext cx="1944216" cy="864096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98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44824"/>
            <a:ext cx="8686801" cy="4191000"/>
          </a:xfrm>
        </p:spPr>
        <p:txBody>
          <a:bodyPr/>
          <a:lstStyle/>
          <a:p>
            <a:r>
              <a:rPr lang="en-US" dirty="0"/>
              <a:t>Route path and http method defines an endpoints for requests</a:t>
            </a:r>
          </a:p>
          <a:p>
            <a:r>
              <a:rPr lang="en-US" dirty="0"/>
              <a:t>HTTP methods: get, post, put, head, delete, options, patch</a:t>
            </a:r>
            <a:r>
              <a:rPr lang="is-IS" dirty="0"/>
              <a:t>… and ”all”</a:t>
            </a:r>
            <a:endParaRPr lang="en-US" dirty="0"/>
          </a:p>
          <a:p>
            <a:r>
              <a:rPr lang="en-US" dirty="0"/>
              <a:t>Path is a string or regex: </a:t>
            </a:r>
          </a:p>
          <a:p>
            <a:pPr lvl="1"/>
            <a:r>
              <a:rPr lang="en-US" dirty="0"/>
              <a:t>Strings: </a:t>
            </a:r>
            <a:r>
              <a:rPr lang="en-US" dirty="0">
                <a:solidFill>
                  <a:schemeClr val="accent1"/>
                </a:solidFill>
              </a:rPr>
              <a:t>”/v2/</a:t>
            </a:r>
            <a:r>
              <a:rPr lang="en-US" dirty="0" err="1">
                <a:solidFill>
                  <a:schemeClr val="accent1"/>
                </a:solidFill>
              </a:rPr>
              <a:t>api</a:t>
            </a:r>
            <a:r>
              <a:rPr lang="en-US" dirty="0">
                <a:solidFill>
                  <a:schemeClr val="accent1"/>
                </a:solidFill>
              </a:rPr>
              <a:t>”</a:t>
            </a:r>
          </a:p>
          <a:p>
            <a:pPr lvl="1"/>
            <a:r>
              <a:rPr lang="en-US" dirty="0"/>
              <a:t>String patterns: </a:t>
            </a:r>
            <a:r>
              <a:rPr lang="en-US" dirty="0">
                <a:solidFill>
                  <a:schemeClr val="accent1"/>
                </a:solidFill>
              </a:rPr>
              <a:t>“/v*/</a:t>
            </a:r>
            <a:r>
              <a:rPr lang="en-US" dirty="0" err="1">
                <a:solidFill>
                  <a:schemeClr val="accent1"/>
                </a:solidFill>
              </a:rPr>
              <a:t>api</a:t>
            </a:r>
            <a:r>
              <a:rPr lang="en-US" dirty="0">
                <a:solidFill>
                  <a:schemeClr val="accent1"/>
                </a:solidFill>
              </a:rPr>
              <a:t>” </a:t>
            </a:r>
            <a:r>
              <a:rPr lang="en-US" dirty="0"/>
              <a:t>( </a:t>
            </a:r>
            <a:r>
              <a:rPr lang="en-US" dirty="0">
                <a:solidFill>
                  <a:schemeClr val="accent5"/>
                </a:solidFill>
              </a:rPr>
              <a:t>“/v/</a:t>
            </a:r>
            <a:r>
              <a:rPr lang="en-US" dirty="0" err="1">
                <a:solidFill>
                  <a:schemeClr val="accent5"/>
                </a:solidFill>
              </a:rPr>
              <a:t>api</a:t>
            </a:r>
            <a:r>
              <a:rPr lang="en-US" dirty="0">
                <a:solidFill>
                  <a:schemeClr val="accent5"/>
                </a:solidFill>
              </a:rPr>
              <a:t>”</a:t>
            </a:r>
            <a:r>
              <a:rPr lang="en-US" dirty="0"/>
              <a:t>, </a:t>
            </a:r>
            <a:r>
              <a:rPr lang="en-US" dirty="0">
                <a:solidFill>
                  <a:schemeClr val="accent5"/>
                </a:solidFill>
              </a:rPr>
              <a:t>“/v3/</a:t>
            </a:r>
            <a:r>
              <a:rPr lang="en-US" dirty="0" err="1">
                <a:solidFill>
                  <a:schemeClr val="accent5"/>
                </a:solidFill>
              </a:rPr>
              <a:t>api</a:t>
            </a:r>
            <a:r>
              <a:rPr lang="en-US" dirty="0">
                <a:solidFill>
                  <a:schemeClr val="accent5"/>
                </a:solidFill>
              </a:rPr>
              <a:t>/”</a:t>
            </a:r>
            <a:r>
              <a:rPr lang="en-US" dirty="0"/>
              <a:t>,</a:t>
            </a:r>
            <a:r>
              <a:rPr lang="is-IS" dirty="0"/>
              <a:t>…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Regex: </a:t>
            </a:r>
            <a:r>
              <a:rPr lang="en-US" dirty="0">
                <a:solidFill>
                  <a:schemeClr val="accent1"/>
                </a:solidFill>
              </a:rPr>
              <a:t>/.</a:t>
            </a:r>
            <a:r>
              <a:rPr lang="en-US" dirty="0" err="1">
                <a:solidFill>
                  <a:schemeClr val="accent1"/>
                </a:solidFill>
              </a:rPr>
              <a:t>api</a:t>
            </a:r>
            <a:r>
              <a:rPr lang="en-US" dirty="0">
                <a:solidFill>
                  <a:schemeClr val="accent1"/>
                </a:solidFill>
              </a:rPr>
              <a:t>/ 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>
                <a:solidFill>
                  <a:schemeClr val="accent5"/>
                </a:solidFill>
              </a:rPr>
              <a:t>“/users/</a:t>
            </a:r>
            <a:r>
              <a:rPr lang="en-US" dirty="0" err="1">
                <a:solidFill>
                  <a:schemeClr val="accent5"/>
                </a:solidFill>
              </a:rPr>
              <a:t>api</a:t>
            </a:r>
            <a:r>
              <a:rPr lang="en-US" dirty="0">
                <a:solidFill>
                  <a:schemeClr val="accent5"/>
                </a:solidFill>
              </a:rPr>
              <a:t>”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>
                <a:solidFill>
                  <a:schemeClr val="accent5"/>
                </a:solidFill>
              </a:rPr>
              <a:t>“/groups/</a:t>
            </a:r>
            <a:r>
              <a:rPr lang="en-US" dirty="0" err="1">
                <a:solidFill>
                  <a:schemeClr val="accent5"/>
                </a:solidFill>
              </a:rPr>
              <a:t>api</a:t>
            </a:r>
            <a:r>
              <a:rPr lang="en-US" dirty="0">
                <a:solidFill>
                  <a:schemeClr val="accent5"/>
                </a:solidFill>
              </a:rPr>
              <a:t>”</a:t>
            </a:r>
            <a:r>
              <a:rPr lang="is-IS" dirty="0">
                <a:solidFill>
                  <a:schemeClr val="tx2"/>
                </a:solidFill>
              </a:rPr>
              <a:t>…)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Path Params marked with “:”, Query Params provided on </a:t>
            </a:r>
            <a:r>
              <a:rPr lang="en-US" dirty="0" err="1"/>
              <a:t>req.query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980" y="5085184"/>
            <a:ext cx="7373768" cy="15121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6789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– Route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route can be provided with multiple callbacks that behave like middleware to handle a request, the last should end the response</a:t>
            </a:r>
          </a:p>
          <a:p>
            <a:pPr marL="457200" lvl="2">
              <a:spcBef>
                <a:spcPts val="1800"/>
              </a:spcBef>
            </a:pPr>
            <a:r>
              <a:rPr lang="en-US" b="1" dirty="0"/>
              <a:t>function handler([err, ]</a:t>
            </a:r>
            <a:r>
              <a:rPr lang="en-US" b="1" dirty="0">
                <a:hlinkClick r:id="rId3"/>
              </a:rPr>
              <a:t>req</a:t>
            </a:r>
            <a:r>
              <a:rPr lang="en-US" b="1" dirty="0"/>
              <a:t>, </a:t>
            </a:r>
            <a:r>
              <a:rPr lang="en-US" b="1" dirty="0">
                <a:hlinkClick r:id="rId4"/>
              </a:rPr>
              <a:t>res</a:t>
            </a:r>
            <a:r>
              <a:rPr lang="en-US" b="1" dirty="0"/>
              <a:t>[, next])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be provided with array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14" y="3068960"/>
            <a:ext cx="8921606" cy="23042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2" y="6105681"/>
            <a:ext cx="8572679" cy="5181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8189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Router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Router instance is a complete middleware and routing system (mini-app)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0" y="2348880"/>
            <a:ext cx="4968552" cy="41355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460" y="3104964"/>
            <a:ext cx="5184576" cy="32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Straight Arrow Connector 6"/>
          <p:cNvCxnSpPr/>
          <p:nvPr/>
        </p:nvCxnSpPr>
        <p:spPr>
          <a:xfrm>
            <a:off x="5734372" y="3284984"/>
            <a:ext cx="648072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88024" y="2598275"/>
            <a:ext cx="528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You need to register your Router on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desired path: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3804" y="4293096"/>
            <a:ext cx="364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GET  http://localhost:3000/admin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804" y="5219594"/>
            <a:ext cx="436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GET  http</a:t>
            </a:r>
            <a:r>
              <a:rPr lang="en-US" i="1">
                <a:solidFill>
                  <a:schemeClr val="tx1">
                    <a:lumMod val="65000"/>
                    <a:lumOff val="35000"/>
                  </a:schemeClr>
                </a:solidFill>
              </a:rPr>
              <a:t>://localhost:3000/admin/profile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914940" y="4509120"/>
            <a:ext cx="1611520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590356" y="5445224"/>
            <a:ext cx="936104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9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View/template engine</a:t>
            </a:r>
            <a:r>
              <a:rPr lang="en-US" dirty="0"/>
              <a:t> - enables you to use static template files (like .</a:t>
            </a:r>
            <a:r>
              <a:rPr lang="en-US" dirty="0" err="1"/>
              <a:t>jsp</a:t>
            </a:r>
            <a:r>
              <a:rPr lang="en-US" dirty="0"/>
              <a:t> in java)</a:t>
            </a:r>
          </a:p>
          <a:p>
            <a:r>
              <a:rPr lang="en-US" dirty="0">
                <a:hlinkClick r:id="rId4"/>
              </a:rPr>
              <a:t>Debugging</a:t>
            </a:r>
            <a:r>
              <a:rPr lang="en-US" dirty="0"/>
              <a:t> – depends on env variable</a:t>
            </a:r>
          </a:p>
          <a:p>
            <a:r>
              <a:rPr lang="en-US" dirty="0">
                <a:hlinkClick r:id="rId5"/>
              </a:rPr>
              <a:t>Application Settings</a:t>
            </a:r>
            <a:r>
              <a:rPr lang="en-US" dirty="0"/>
              <a:t> can be modified using </a:t>
            </a:r>
            <a:r>
              <a:rPr lang="en-US" dirty="0" err="1"/>
              <a:t>app.set</a:t>
            </a:r>
            <a:r>
              <a:rPr lang="en-US" dirty="0"/>
              <a:t>(name, value)</a:t>
            </a:r>
          </a:p>
          <a:p>
            <a:pPr lvl="1"/>
            <a:r>
              <a:rPr lang="en-US" dirty="0"/>
              <a:t>env, </a:t>
            </a:r>
            <a:r>
              <a:rPr lang="en-US" dirty="0" err="1"/>
              <a:t>etag</a:t>
            </a:r>
            <a:r>
              <a:rPr lang="en-US" dirty="0"/>
              <a:t>, view engine, view cache, strict routing</a:t>
            </a:r>
            <a:r>
              <a:rPr lang="is-IS" dirty="0"/>
              <a:t>…</a:t>
            </a:r>
            <a:endParaRPr lang="en-US" dirty="0"/>
          </a:p>
          <a:p>
            <a:r>
              <a:rPr lang="en-US" dirty="0">
                <a:hlinkClick r:id="rId6"/>
              </a:rPr>
              <a:t>Serve static files</a:t>
            </a:r>
            <a:r>
              <a:rPr lang="en-US" dirty="0"/>
              <a:t> – images, js, </a:t>
            </a:r>
            <a:r>
              <a:rPr lang="en-US" dirty="0" err="1"/>
              <a:t>css</a:t>
            </a:r>
            <a:r>
              <a:rPr lang="is-IS" dirty="0"/>
              <a:t>…</a:t>
            </a:r>
          </a:p>
          <a:p>
            <a:endParaRPr lang="is-IS" dirty="0"/>
          </a:p>
          <a:p>
            <a:endParaRPr lang="is-IS" dirty="0"/>
          </a:p>
          <a:p>
            <a:r>
              <a:rPr lang="en-US" dirty="0">
                <a:hlinkClick r:id="rId7"/>
              </a:rPr>
              <a:t>express</a:t>
            </a:r>
            <a:r>
              <a:rPr lang="is-IS" dirty="0">
                <a:hlinkClick r:id="rId7"/>
              </a:rPr>
              <a:t>-generator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58" y="4581128"/>
            <a:ext cx="6910908" cy="4065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4242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Build API of users</a:t>
            </a:r>
          </a:p>
          <a:p>
            <a:pPr lvl="1"/>
            <a:r>
              <a:rPr lang="en-US" dirty="0"/>
              <a:t>GET /users </a:t>
            </a:r>
            <a:r>
              <a:rPr lang="en-US" dirty="0">
                <a:sym typeface="Wingdings"/>
              </a:rPr>
              <a:t> return all users</a:t>
            </a:r>
          </a:p>
          <a:p>
            <a:pPr lvl="1"/>
            <a:r>
              <a:rPr lang="en-US" dirty="0">
                <a:sym typeface="Wingdings"/>
              </a:rPr>
              <a:t>GET /users/:id  return user by id</a:t>
            </a:r>
          </a:p>
          <a:p>
            <a:pPr lvl="1"/>
            <a:r>
              <a:rPr lang="en-US" dirty="0">
                <a:sym typeface="Wingdings"/>
              </a:rPr>
              <a:t>POST /users  create user</a:t>
            </a:r>
          </a:p>
          <a:p>
            <a:pPr lvl="1"/>
            <a:r>
              <a:rPr lang="en-US" dirty="0">
                <a:sym typeface="Wingdings"/>
              </a:rPr>
              <a:t>PUT /users/:id  edit user</a:t>
            </a:r>
          </a:p>
          <a:p>
            <a:pPr lvl="1"/>
            <a:r>
              <a:rPr lang="en-US" dirty="0">
                <a:sym typeface="Wingdings"/>
              </a:rPr>
              <a:t>DELETE /users/:id  delete user</a:t>
            </a:r>
            <a:endParaRPr lang="en-US" dirty="0"/>
          </a:p>
          <a:p>
            <a:r>
              <a:rPr lang="en-US" dirty="0"/>
              <a:t>Use user base </a:t>
            </a:r>
            <a:r>
              <a:rPr lang="en-US" dirty="0" err="1"/>
              <a:t>jsons</a:t>
            </a:r>
            <a:r>
              <a:rPr lang="en-US" dirty="0"/>
              <a:t> from </a:t>
            </a:r>
            <a:r>
              <a:rPr lang="en-US" dirty="0">
                <a:hlinkClick r:id="rId2"/>
              </a:rPr>
              <a:t>randomuser.me</a:t>
            </a:r>
            <a:r>
              <a:rPr lang="en-US" dirty="0"/>
              <a:t>)</a:t>
            </a:r>
          </a:p>
          <a:p>
            <a:r>
              <a:rPr lang="en-US" dirty="0"/>
              <a:t>First phase:</a:t>
            </a:r>
          </a:p>
          <a:p>
            <a:pPr lvl="1"/>
            <a:r>
              <a:rPr lang="en-US" dirty="0"/>
              <a:t>Write an in-memory key-value storage by loading the JSON:</a:t>
            </a:r>
          </a:p>
          <a:p>
            <a:pPr lvl="2"/>
            <a:r>
              <a:rPr lang="en-US" dirty="0"/>
              <a:t>You can use modules like </a:t>
            </a:r>
            <a:r>
              <a:rPr lang="en-US" dirty="0" err="1">
                <a:hlinkClick r:id="rId3"/>
              </a:rPr>
              <a:t>redis</a:t>
            </a:r>
            <a:r>
              <a:rPr lang="en-US" dirty="0">
                <a:hlinkClick r:id="rId3"/>
              </a:rPr>
              <a:t>-mock</a:t>
            </a:r>
            <a:endParaRPr lang="en-US" dirty="0"/>
          </a:p>
          <a:p>
            <a:pPr lvl="1"/>
            <a:r>
              <a:rPr lang="en-US" dirty="0" err="1"/>
              <a:t>const</a:t>
            </a:r>
            <a:r>
              <a:rPr lang="en-US" dirty="0"/>
              <a:t> users = require(“./user-</a:t>
            </a:r>
            <a:r>
              <a:rPr lang="en-US" dirty="0" err="1"/>
              <a:t>base.json</a:t>
            </a:r>
            <a:r>
              <a:rPr lang="en-US" dirty="0"/>
              <a:t>”)</a:t>
            </a:r>
          </a:p>
          <a:p>
            <a:r>
              <a:rPr lang="en-US" dirty="0"/>
              <a:t>Second phase: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Redis</a:t>
            </a:r>
            <a:r>
              <a:rPr lang="en-US" dirty="0"/>
              <a:t> as your DB</a:t>
            </a:r>
          </a:p>
        </p:txBody>
      </p:sp>
    </p:spTree>
    <p:extLst>
      <p:ext uri="{BB962C8B-B14F-4D97-AF65-F5344CB8AC3E}">
        <p14:creationId xmlns:p14="http://schemas.microsoft.com/office/powerpoint/2010/main" val="2061765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passport</a:t>
            </a:r>
            <a:r>
              <a:rPr lang="en-US" dirty="0"/>
              <a:t>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middleware, flexible and modular</a:t>
            </a:r>
          </a:p>
          <a:p>
            <a:r>
              <a:rPr lang="en-US" dirty="0"/>
              <a:t>Set of strategies for authentication:</a:t>
            </a:r>
          </a:p>
          <a:p>
            <a:pPr lvl="1"/>
            <a:r>
              <a:rPr lang="en-US" dirty="0">
                <a:hlinkClick r:id="rId4"/>
              </a:rPr>
              <a:t>username and password</a:t>
            </a:r>
            <a:r>
              <a:rPr lang="en-US" dirty="0"/>
              <a:t>, </a:t>
            </a:r>
            <a:r>
              <a:rPr lang="en-US" dirty="0">
                <a:hlinkClick r:id="rId5"/>
              </a:rPr>
              <a:t>Facebook</a:t>
            </a:r>
            <a:r>
              <a:rPr lang="en-US" dirty="0"/>
              <a:t>, </a:t>
            </a:r>
            <a:r>
              <a:rPr lang="en-US" dirty="0">
                <a:hlinkClick r:id="rId6"/>
              </a:rPr>
              <a:t>Twitter</a:t>
            </a:r>
            <a:r>
              <a:rPr lang="en-US" dirty="0"/>
              <a:t>, and </a:t>
            </a:r>
            <a:r>
              <a:rPr lang="en-US" dirty="0">
                <a:hlinkClick r:id="rId7"/>
              </a:rPr>
              <a:t>more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Three pieces need to be configured to use Passport for authentication:</a:t>
            </a:r>
          </a:p>
          <a:p>
            <a:pPr lvl="1"/>
            <a:r>
              <a:rPr lang="en-US" dirty="0"/>
              <a:t>Authentication strategies</a:t>
            </a:r>
          </a:p>
          <a:p>
            <a:pPr lvl="1"/>
            <a:r>
              <a:rPr lang="en-US" dirty="0"/>
              <a:t>Application middleware</a:t>
            </a:r>
          </a:p>
          <a:p>
            <a:pPr lvl="1"/>
            <a:r>
              <a:rPr lang="en-US" dirty="0"/>
              <a:t>Sessions (</a:t>
            </a:r>
            <a:r>
              <a:rPr lang="en-US" i="1" dirty="0"/>
              <a:t>optional</a:t>
            </a:r>
            <a:r>
              <a:rPr lang="en-US" dirty="0"/>
              <a:t>)</a:t>
            </a:r>
          </a:p>
          <a:p>
            <a:r>
              <a:rPr lang="en-US" dirty="0"/>
              <a:t>Once those configured you can use passport as authentication filter</a:t>
            </a: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564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passport</a:t>
            </a:r>
            <a:r>
              <a:rPr lang="en-US" dirty="0"/>
              <a:t>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Authenticating requests (login) is simply done by calling </a:t>
            </a:r>
            <a:r>
              <a:rPr lang="en-US" b="1" i="1" dirty="0" err="1"/>
              <a:t>passport.authenticate</a:t>
            </a:r>
            <a:r>
              <a:rPr lang="en-US" b="1" i="1" dirty="0"/>
              <a:t>(</a:t>
            </a:r>
            <a:r>
              <a:rPr lang="en-US" b="1" i="1" dirty="0" err="1"/>
              <a:t>sStrategy</a:t>
            </a:r>
            <a:r>
              <a:rPr lang="en-US" b="1" i="1" dirty="0"/>
              <a:t>) </a:t>
            </a:r>
            <a:r>
              <a:rPr lang="en-US" dirty="0"/>
              <a:t>as a filter: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Verifying that user is authenticated:</a:t>
            </a:r>
            <a:br>
              <a:rPr lang="en-US" dirty="0"/>
            </a:b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345" y="2573908"/>
            <a:ext cx="7250533" cy="16471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345" y="5157192"/>
            <a:ext cx="6177431" cy="13123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7822604" y="5517232"/>
            <a:ext cx="648072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70676" y="5332566"/>
            <a:ext cx="331236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Validates </a:t>
            </a:r>
            <a:r>
              <a:rPr lang="en-US" dirty="0" err="1"/>
              <a:t>req.isAuthenticated</a:t>
            </a:r>
            <a:r>
              <a:rPr lang="en-US" dirty="0"/>
              <a:t>() exposed by passport</a:t>
            </a:r>
          </a:p>
        </p:txBody>
      </p:sp>
    </p:spTree>
    <p:extLst>
      <p:ext uri="{BB962C8B-B14F-4D97-AF65-F5344CB8AC3E}">
        <p14:creationId xmlns:p14="http://schemas.microsoft.com/office/powerpoint/2010/main" val="24371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passport</a:t>
            </a:r>
            <a:r>
              <a:rPr lang="en-US" dirty="0"/>
              <a:t>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9709720" cy="4191000"/>
          </a:xfrm>
        </p:spPr>
        <p:txBody>
          <a:bodyPr/>
          <a:lstStyle/>
          <a:p>
            <a:r>
              <a:rPr lang="en-US" i="1" dirty="0"/>
              <a:t>Strategies</a:t>
            </a:r>
            <a:r>
              <a:rPr lang="en-US" dirty="0"/>
              <a:t> used to authenticate requests, they can verify a username and password, delegate authentication (</a:t>
            </a:r>
            <a:r>
              <a:rPr lang="en-US" dirty="0">
                <a:hlinkClick r:id="rId4"/>
              </a:rPr>
              <a:t>OAuth</a:t>
            </a:r>
            <a:r>
              <a:rPr lang="en-US" dirty="0"/>
              <a:t>) or do federated authentication using </a:t>
            </a:r>
            <a:r>
              <a:rPr lang="en-US" dirty="0">
                <a:hlinkClick r:id="rId5"/>
              </a:rPr>
              <a:t>OpenID</a:t>
            </a:r>
            <a:endParaRPr lang="en-US" dirty="0"/>
          </a:p>
          <a:p>
            <a:r>
              <a:rPr lang="en-US" dirty="0"/>
              <a:t>You can add strategies with: </a:t>
            </a:r>
            <a:r>
              <a:rPr lang="en-US" dirty="0" err="1"/>
              <a:t>passport.use</a:t>
            </a:r>
            <a:r>
              <a:rPr lang="en-US" dirty="0"/>
              <a:t>([name, ]strategy)</a:t>
            </a:r>
            <a:br>
              <a:rPr lang="en-US" dirty="0"/>
            </a:b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385" y="2996952"/>
            <a:ext cx="7784443" cy="37444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455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passport</a:t>
            </a:r>
            <a:r>
              <a:rPr lang="en-US" dirty="0"/>
              <a:t> Application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9709720" cy="4191000"/>
          </a:xfrm>
        </p:spPr>
        <p:txBody>
          <a:bodyPr/>
          <a:lstStyle/>
          <a:p>
            <a:r>
              <a:rPr lang="en-US" dirty="0"/>
              <a:t>In a Connect or Express-based application, </a:t>
            </a:r>
            <a:r>
              <a:rPr lang="en-US" b="1" i="1" dirty="0" err="1"/>
              <a:t>passport.initialize</a:t>
            </a:r>
            <a:r>
              <a:rPr lang="en-US" b="1" i="1" dirty="0"/>
              <a:t>()</a:t>
            </a:r>
            <a:r>
              <a:rPr lang="en-US" dirty="0"/>
              <a:t> is required</a:t>
            </a:r>
          </a:p>
          <a:p>
            <a:r>
              <a:rPr lang="en-US" dirty="0"/>
              <a:t>If your app persist login sessions, </a:t>
            </a:r>
            <a:r>
              <a:rPr lang="en-US" dirty="0" err="1"/>
              <a:t>passport.session</a:t>
            </a:r>
            <a:r>
              <a:rPr lang="en-US" dirty="0"/>
              <a:t>() middleware must also be used</a:t>
            </a:r>
          </a:p>
          <a:p>
            <a:pPr lvl="1"/>
            <a:r>
              <a:rPr lang="en-US" dirty="0"/>
              <a:t>Be sure to use </a:t>
            </a:r>
            <a:r>
              <a:rPr lang="en-US" b="1" i="1" dirty="0">
                <a:hlinkClick r:id="rId4"/>
              </a:rPr>
              <a:t>express-session</a:t>
            </a:r>
            <a:r>
              <a:rPr lang="en-US" b="1" dirty="0"/>
              <a:t> </a:t>
            </a:r>
            <a:r>
              <a:rPr lang="en-US" dirty="0"/>
              <a:t>before that:</a:t>
            </a:r>
            <a:br>
              <a:rPr lang="en-US" dirty="0"/>
            </a:b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57"/>
          <a:stretch/>
        </p:blipFill>
        <p:spPr>
          <a:xfrm>
            <a:off x="2911653" y="3284984"/>
            <a:ext cx="6016837" cy="8640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371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Express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passport</a:t>
            </a:r>
            <a:r>
              <a:rPr lang="en-US" dirty="0"/>
              <a:t>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9709720" cy="4191000"/>
          </a:xfrm>
        </p:spPr>
        <p:txBody>
          <a:bodyPr/>
          <a:lstStyle/>
          <a:p>
            <a:r>
              <a:rPr lang="en-US" dirty="0"/>
              <a:t>Session can be established once authentication succeeds, it is maintained via cookie set in the user's browser</a:t>
            </a:r>
          </a:p>
          <a:p>
            <a:r>
              <a:rPr lang="en-US" dirty="0"/>
              <a:t>Each subsequent request will contain the unique cookie that identifies the session</a:t>
            </a:r>
          </a:p>
          <a:p>
            <a:r>
              <a:rPr lang="en-US" dirty="0"/>
              <a:t>Passport need to serialize and </a:t>
            </a:r>
            <a:r>
              <a:rPr lang="en-US" dirty="0" err="1"/>
              <a:t>deserialize</a:t>
            </a:r>
            <a:r>
              <a:rPr lang="en-US" dirty="0"/>
              <a:t> user instances to and from the session </a:t>
            </a:r>
            <a:br>
              <a:rPr lang="en-US" dirty="0"/>
            </a:b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328" y="3717032"/>
            <a:ext cx="5112568" cy="21866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6428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authentication to the User API app: </a:t>
            </a:r>
            <a:r>
              <a:rPr lang="en-US" b="1" dirty="0"/>
              <a:t>POST /login</a:t>
            </a:r>
          </a:p>
          <a:p>
            <a:r>
              <a:rPr lang="en-US" dirty="0"/>
              <a:t>Prevent from users to </a:t>
            </a:r>
            <a:r>
              <a:rPr lang="en-US" b="1" dirty="0"/>
              <a:t>edit</a:t>
            </a:r>
            <a:r>
              <a:rPr lang="en-US" dirty="0"/>
              <a:t> other users</a:t>
            </a:r>
          </a:p>
        </p:txBody>
      </p:sp>
    </p:spTree>
    <p:extLst>
      <p:ext uri="{BB962C8B-B14F-4D97-AF65-F5344CB8AC3E}">
        <p14:creationId xmlns:p14="http://schemas.microsoft.com/office/powerpoint/2010/main" val="30619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8686801" cy="4624536"/>
          </a:xfrm>
        </p:spPr>
        <p:txBody>
          <a:bodyPr/>
          <a:lstStyle/>
          <a:p>
            <a:r>
              <a:rPr lang="en-US" dirty="0">
                <a:hlinkClick r:id="rId2"/>
              </a:rPr>
              <a:t>Anatomy of an HTTP Transaction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Express Template Engines</a:t>
            </a:r>
            <a:endParaRPr lang="en-US" dirty="0"/>
          </a:p>
          <a:p>
            <a:r>
              <a:rPr lang="en-US" dirty="0">
                <a:hlinkClick r:id="rId4"/>
              </a:rPr>
              <a:t>Process managers for Express apps</a:t>
            </a:r>
            <a:endParaRPr lang="en-US" dirty="0"/>
          </a:p>
          <a:p>
            <a:r>
              <a:rPr lang="en-US" dirty="0">
                <a:hlinkClick r:id="rId5"/>
              </a:rPr>
              <a:t>Production best practices: performance and reliability</a:t>
            </a:r>
            <a:endParaRPr lang="en-US" dirty="0"/>
          </a:p>
          <a:p>
            <a:r>
              <a:rPr lang="en-US" dirty="0">
                <a:hlinkClick r:id="rId6"/>
              </a:rPr>
              <a:t>Express + Redis with docker</a:t>
            </a:r>
            <a:endParaRPr lang="en-US" dirty="0"/>
          </a:p>
          <a:p>
            <a:r>
              <a:rPr lang="en-US" dirty="0">
                <a:hlinkClick r:id="rId7"/>
              </a:rPr>
              <a:t>Easy Node Authentication: Facebook</a:t>
            </a:r>
          </a:p>
          <a:p>
            <a:r>
              <a:rPr lang="en-US" dirty="0">
                <a:hlinkClick r:id="rId8"/>
              </a:rPr>
              <a:t>Example Express 4.x app using Passport for authentication with username/password</a:t>
            </a:r>
            <a:endParaRPr lang="en-US" dirty="0"/>
          </a:p>
          <a:p>
            <a:r>
              <a:rPr lang="en-US" dirty="0">
                <a:hlinkClick r:id="rId9"/>
              </a:rPr>
              <a:t>Express application architecture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699</Words>
  <Application>Microsoft Macintosh PowerPoint</Application>
  <PresentationFormat>Custom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Franklin Gothic Medium</vt:lpstr>
      <vt:lpstr>Business Contrast 16x9</vt:lpstr>
      <vt:lpstr>Node JS - part 3  connect &amp; express</vt:lpstr>
      <vt:lpstr>Connect </vt:lpstr>
      <vt:lpstr>Connect </vt:lpstr>
      <vt:lpstr>Connect</vt:lpstr>
      <vt:lpstr>Connect</vt:lpstr>
      <vt:lpstr>Connect</vt:lpstr>
      <vt:lpstr>Connect – middleware modules</vt:lpstr>
      <vt:lpstr>Connect – middleware</vt:lpstr>
      <vt:lpstr>Express</vt:lpstr>
      <vt:lpstr>Express</vt:lpstr>
      <vt:lpstr>Express - Routing</vt:lpstr>
      <vt:lpstr>Express – Route Handlers</vt:lpstr>
      <vt:lpstr>Express - Router</vt:lpstr>
      <vt:lpstr>Express</vt:lpstr>
      <vt:lpstr>Exercise </vt:lpstr>
      <vt:lpstr>Express – passport plugin</vt:lpstr>
      <vt:lpstr>Express – passport authentication</vt:lpstr>
      <vt:lpstr>Express – passport strategies</vt:lpstr>
      <vt:lpstr>Express – passport Application Middleware</vt:lpstr>
      <vt:lpstr>Express – passport Sessions</vt:lpstr>
      <vt:lpstr>Exercise </vt:lpstr>
      <vt:lpstr>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2016-03-15T13:03:36Z</dcterms:created>
  <dcterms:modified xsi:type="dcterms:W3CDTF">2019-03-19T15:56:21Z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