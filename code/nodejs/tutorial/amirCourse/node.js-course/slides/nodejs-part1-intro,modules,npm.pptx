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29"/>
  </p:notesMasterIdLst>
  <p:handoutMasterIdLst>
    <p:handoutMasterId r:id="rId30"/>
  </p:handoutMasterIdLst>
  <p:sldIdLst>
    <p:sldId id="256" r:id="rId3"/>
    <p:sldId id="276" r:id="rId4"/>
    <p:sldId id="265" r:id="rId5"/>
    <p:sldId id="281" r:id="rId6"/>
    <p:sldId id="266" r:id="rId7"/>
    <p:sldId id="275" r:id="rId8"/>
    <p:sldId id="278" r:id="rId9"/>
    <p:sldId id="286" r:id="rId10"/>
    <p:sldId id="285" r:id="rId11"/>
    <p:sldId id="284" r:id="rId12"/>
    <p:sldId id="282" r:id="rId13"/>
    <p:sldId id="283" r:id="rId14"/>
    <p:sldId id="300" r:id="rId15"/>
    <p:sldId id="301" r:id="rId16"/>
    <p:sldId id="287" r:id="rId17"/>
    <p:sldId id="289" r:id="rId18"/>
    <p:sldId id="298" r:id="rId19"/>
    <p:sldId id="290" r:id="rId20"/>
    <p:sldId id="291" r:id="rId21"/>
    <p:sldId id="292" r:id="rId22"/>
    <p:sldId id="295" r:id="rId23"/>
    <p:sldId id="296" r:id="rId24"/>
    <p:sldId id="299" r:id="rId25"/>
    <p:sldId id="297" r:id="rId26"/>
    <p:sldId id="280" r:id="rId27"/>
    <p:sldId id="277" r:id="rId2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86369"/>
  </p:normalViewPr>
  <p:slideViewPr>
    <p:cSldViewPr showGuides="1">
      <p:cViewPr varScale="1">
        <p:scale>
          <a:sx n="128" d="100"/>
          <a:sy n="128" d="100"/>
        </p:scale>
        <p:origin x="1136" y="176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536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3/19/19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3/19/19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/>
              <a:pPr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wdf.sap.corp/BIT-CE/nodejs-cours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rongloop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strongloop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api/modules.html#modules_folders_as_modules" TargetMode="External"/><Relationship Id="rId2" Type="http://schemas.openxmlformats.org/officeDocument/2006/relationships/hyperlink" Target="https://nodejs.org/api/modules.html#modules_file_modul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odejs.org/api/modules.html#modules_caching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api/modules.html#modules_cycl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hyperlink" Target="https://nodejs.org/api/process.html#process_proces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api/timers.html#timers_setimmediate_callback_args" TargetMode="External"/><Relationship Id="rId2" Type="http://schemas.openxmlformats.org/officeDocument/2006/relationships/hyperlink" Target="https://nodejs.org/api/timers.html#timers_settimeout_callback_delay_arg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odejs.org/api/process.html#process_process_nexttick_callback_args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nodejs.org/api/crypto.html" TargetMode="External"/><Relationship Id="rId3" Type="http://schemas.openxmlformats.org/officeDocument/2006/relationships/hyperlink" Target="https://nodejs.org/api/path.html" TargetMode="External"/><Relationship Id="rId7" Type="http://schemas.openxmlformats.org/officeDocument/2006/relationships/hyperlink" Target="https://nodejs.org/api/events.html" TargetMode="External"/><Relationship Id="rId2" Type="http://schemas.openxmlformats.org/officeDocument/2006/relationships/hyperlink" Target="https://nodejs.org/api/f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odejs.org/api/cluster.html" TargetMode="External"/><Relationship Id="rId5" Type="http://schemas.openxmlformats.org/officeDocument/2006/relationships/hyperlink" Target="https://nodejs.org/api/http.html" TargetMode="External"/><Relationship Id="rId4" Type="http://schemas.openxmlformats.org/officeDocument/2006/relationships/hyperlink" Target="https://nodejs.org/api/util.html" TargetMode="External"/><Relationship Id="rId9" Type="http://schemas.openxmlformats.org/officeDocument/2006/relationships/hyperlink" Target="https://nodejs.org/api/repl.html#repl_rep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nodejs.org/api/f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api/http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nodejs.org/api/http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nodejs.org/api/events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pmjs.com/files/package.json" TargetMode="External"/><Relationship Id="rId2" Type="http://schemas.openxmlformats.org/officeDocument/2006/relationships/hyperlink" Target="https://www.npmjs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pmjs.com/getting-started/semantic-versioning" TargetMode="External"/><Relationship Id="rId2" Type="http://schemas.openxmlformats.org/officeDocument/2006/relationships/hyperlink" Target="https://docs.npmjs.com/getting-started/publishing-npm-package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://chaijs.com/" TargetMode="External"/><Relationship Id="rId3" Type="http://schemas.openxmlformats.org/officeDocument/2006/relationships/hyperlink" Target="https://lodash.com/" TargetMode="External"/><Relationship Id="rId7" Type="http://schemas.openxmlformats.org/officeDocument/2006/relationships/hyperlink" Target="https://www.npmjs.com/package/rxjs" TargetMode="External"/><Relationship Id="rId12" Type="http://schemas.openxmlformats.org/officeDocument/2006/relationships/hyperlink" Target="https://github.com/remy/nodemon" TargetMode="External"/><Relationship Id="rId2" Type="http://schemas.openxmlformats.org/officeDocument/2006/relationships/hyperlink" Target="http://underscorej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luebirdjs.com/docs/getting-started.html" TargetMode="External"/><Relationship Id="rId11" Type="http://schemas.openxmlformats.org/officeDocument/2006/relationships/hyperlink" Target="https://www.npmjs.com/package/commander" TargetMode="External"/><Relationship Id="rId5" Type="http://schemas.openxmlformats.org/officeDocument/2006/relationships/hyperlink" Target="https://github.com/kriskowal/q" TargetMode="External"/><Relationship Id="rId10" Type="http://schemas.openxmlformats.org/officeDocument/2006/relationships/hyperlink" Target="http://pm2.keymetrics.io/" TargetMode="External"/><Relationship Id="rId4" Type="http://schemas.openxmlformats.org/officeDocument/2006/relationships/hyperlink" Target="http://momentjs.com/docs/" TargetMode="External"/><Relationship Id="rId9" Type="http://schemas.openxmlformats.org/officeDocument/2006/relationships/hyperlink" Target="https://github.com/visionmedia/supertest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debuggable.com/posts/understanding-node-js:4bd98440-45e4-4a9a-8ef7-0f7ecbdd56cb" TargetMode="External"/><Relationship Id="rId2" Type="http://schemas.openxmlformats.org/officeDocument/2006/relationships/hyperlink" Target="https://confluence.jetbrains.com/display/WI/Running+and+debugging+Node.js+applic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to/nickytonline/10-things-i-regret-about-nodejs-14m3" TargetMode="External"/><Relationship Id="rId5" Type="http://schemas.openxmlformats.org/officeDocument/2006/relationships/hyperlink" Target="https://blog.risingstack.com/javascript-clean-coding-best-practices-node-js-at-scale/" TargetMode="External"/><Relationship Id="rId4" Type="http://schemas.openxmlformats.org/officeDocument/2006/relationships/hyperlink" Target="http://khan.io/2015/02/25/the-event-loop-and-non-blocking-io-in-node-js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389238" cy="2514601"/>
          </a:xfrm>
        </p:spPr>
        <p:txBody>
          <a:bodyPr/>
          <a:lstStyle/>
          <a:p>
            <a:r>
              <a:rPr lang="en-US" dirty="0">
                <a:hlinkClick r:id="rId2"/>
              </a:rPr>
              <a:t>Node JS</a:t>
            </a:r>
            <a:r>
              <a:rPr lang="en-US" dirty="0"/>
              <a:t> – part 1</a:t>
            </a:r>
            <a:br>
              <a:rPr lang="en-US" dirty="0"/>
            </a:br>
            <a:r>
              <a:rPr lang="en-US" sz="4400" dirty="0"/>
              <a:t>Intro, modules, npm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6973416" cy="1397000"/>
          </a:xfrm>
        </p:spPr>
        <p:txBody>
          <a:bodyPr>
            <a:normAutofit/>
          </a:bodyPr>
          <a:lstStyle/>
          <a:p>
            <a:r>
              <a:rPr lang="en-US" dirty="0"/>
              <a:t>Amir Yahalom, SAP.</a:t>
            </a:r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JS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Cross-platform JavaScript runtime</a:t>
            </a:r>
          </a:p>
          <a:p>
            <a:r>
              <a:rPr lang="en-US" dirty="0"/>
              <a:t>Written back in 2009 for Linux</a:t>
            </a:r>
          </a:p>
          <a:p>
            <a:pPr lvl="1"/>
            <a:r>
              <a:rPr lang="en-US" dirty="0"/>
              <a:t>2011 for Windows</a:t>
            </a:r>
          </a:p>
          <a:p>
            <a:r>
              <a:rPr lang="en-US" dirty="0"/>
              <a:t>Open source</a:t>
            </a:r>
          </a:p>
          <a:p>
            <a:r>
              <a:rPr lang="en-US" dirty="0"/>
              <a:t>Non-blocking I/O model</a:t>
            </a:r>
          </a:p>
          <a:p>
            <a:pPr lvl="1"/>
            <a:r>
              <a:rPr lang="en-US" dirty="0"/>
              <a:t>Implemented with JS event loop &amp; </a:t>
            </a:r>
            <a:r>
              <a:rPr lang="en-US" dirty="0" err="1"/>
              <a:t>libuv</a:t>
            </a:r>
            <a:r>
              <a:rPr lang="en-US" dirty="0"/>
              <a:t> evented I/O</a:t>
            </a:r>
          </a:p>
          <a:p>
            <a:r>
              <a:rPr lang="en-US" dirty="0"/>
              <a:t>Command line tool</a:t>
            </a:r>
          </a:p>
        </p:txBody>
      </p:sp>
    </p:spTree>
    <p:extLst>
      <p:ext uri="{BB962C8B-B14F-4D97-AF65-F5344CB8AC3E}">
        <p14:creationId xmlns:p14="http://schemas.microsoft.com/office/powerpoint/2010/main" val="230672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 The 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5915" y="3892698"/>
            <a:ext cx="1045029" cy="685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libuv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726559" y="3889759"/>
            <a:ext cx="816428" cy="685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8602" y="3889759"/>
            <a:ext cx="1045029" cy="685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C/C++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839246" y="3889759"/>
            <a:ext cx="794657" cy="685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JS</a:t>
            </a:r>
          </a:p>
        </p:txBody>
      </p:sp>
      <p:sp>
        <p:nvSpPr>
          <p:cNvPr id="9" name="Plus 8"/>
          <p:cNvSpPr/>
          <p:nvPr/>
        </p:nvSpPr>
        <p:spPr>
          <a:xfrm>
            <a:off x="2209801" y="4045098"/>
            <a:ext cx="388946" cy="388946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lus 9"/>
          <p:cNvSpPr/>
          <p:nvPr/>
        </p:nvSpPr>
        <p:spPr>
          <a:xfrm>
            <a:off x="3670799" y="4038186"/>
            <a:ext cx="388946" cy="388946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lus 10"/>
          <p:cNvSpPr/>
          <p:nvPr/>
        </p:nvSpPr>
        <p:spPr>
          <a:xfrm>
            <a:off x="5331965" y="4038186"/>
            <a:ext cx="388946" cy="388946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qual 11"/>
          <p:cNvSpPr/>
          <p:nvPr/>
        </p:nvSpPr>
        <p:spPr>
          <a:xfrm>
            <a:off x="6752238" y="4026081"/>
            <a:ext cx="434175" cy="40105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548" y="3573017"/>
            <a:ext cx="3392168" cy="1152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7974" y="2732062"/>
            <a:ext cx="2700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High performance evented I/O library (C/C++)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0728" y="5148481"/>
            <a:ext cx="2156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Google’s JavaScript Engine (C++)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046" y="2855172"/>
            <a:ext cx="1926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Additional libraries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7134" y="5271592"/>
            <a:ext cx="1511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Core modules</a:t>
            </a:r>
          </a:p>
        </p:txBody>
      </p:sp>
      <p:cxnSp>
        <p:nvCxnSpPr>
          <p:cNvPr id="20" name="Straight Arrow Connector 19"/>
          <p:cNvCxnSpPr>
            <a:endCxn id="16" idx="2"/>
          </p:cNvCxnSpPr>
          <p:nvPr/>
        </p:nvCxnSpPr>
        <p:spPr>
          <a:xfrm flipV="1">
            <a:off x="1578429" y="3316837"/>
            <a:ext cx="0" cy="479055"/>
          </a:xfrm>
          <a:prstGeom prst="straightConnector1">
            <a:avLst/>
          </a:prstGeom>
          <a:ln w="31750"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2"/>
            <a:endCxn id="17" idx="0"/>
          </p:cNvCxnSpPr>
          <p:nvPr/>
        </p:nvCxnSpPr>
        <p:spPr>
          <a:xfrm flipH="1">
            <a:off x="2928884" y="4575559"/>
            <a:ext cx="205889" cy="572922"/>
          </a:xfrm>
          <a:prstGeom prst="straightConnector1">
            <a:avLst/>
          </a:prstGeom>
          <a:ln w="31750"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2"/>
            <a:endCxn id="19" idx="0"/>
          </p:cNvCxnSpPr>
          <p:nvPr/>
        </p:nvCxnSpPr>
        <p:spPr>
          <a:xfrm>
            <a:off x="6236575" y="4575559"/>
            <a:ext cx="26151" cy="696033"/>
          </a:xfrm>
          <a:prstGeom prst="straightConnector1">
            <a:avLst/>
          </a:prstGeom>
          <a:ln w="31750"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0"/>
            <a:endCxn id="18" idx="2"/>
          </p:cNvCxnSpPr>
          <p:nvPr/>
        </p:nvCxnSpPr>
        <p:spPr>
          <a:xfrm flipV="1">
            <a:off x="4691117" y="3193726"/>
            <a:ext cx="66362" cy="696033"/>
          </a:xfrm>
          <a:prstGeom prst="straightConnector1">
            <a:avLst/>
          </a:prstGeom>
          <a:ln w="31750"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23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model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2" y="1844824"/>
            <a:ext cx="8925768" cy="493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0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Threaded Server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04" y="1690052"/>
            <a:ext cx="8404320" cy="4547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8108" y="6295496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https://strongloop.com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171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JS Server - Event-based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8108" y="6295496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https://strongloop.com</a:t>
            </a: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4" y="1709582"/>
            <a:ext cx="8477429" cy="447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Node.js has a simple module loading system</a:t>
            </a:r>
          </a:p>
          <a:p>
            <a:r>
              <a:rPr lang="en-US" dirty="0"/>
              <a:t>Each module is a </a:t>
            </a:r>
            <a:r>
              <a:rPr lang="en-US" dirty="0">
                <a:hlinkClick r:id="rId2"/>
              </a:rPr>
              <a:t>file</a:t>
            </a:r>
            <a:r>
              <a:rPr lang="en-US" dirty="0"/>
              <a:t> / </a:t>
            </a:r>
            <a:r>
              <a:rPr lang="en-US" dirty="0">
                <a:hlinkClick r:id="rId3"/>
              </a:rPr>
              <a:t>directory</a:t>
            </a:r>
            <a:endParaRPr lang="en-US" dirty="0"/>
          </a:p>
          <a:p>
            <a:r>
              <a:rPr lang="en-US" dirty="0"/>
              <a:t>Modules are imported with require(</a:t>
            </a:r>
            <a:r>
              <a:rPr lang="en-US" dirty="0" err="1"/>
              <a:t>moduleName</a:t>
            </a:r>
            <a:r>
              <a:rPr lang="en-US" dirty="0"/>
              <a:t>: string)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Core modules – built-in Node</a:t>
            </a:r>
          </a:p>
          <a:p>
            <a:pPr lvl="1"/>
            <a:r>
              <a:rPr lang="en-US" dirty="0"/>
              <a:t>NPM modules – loaded from repository</a:t>
            </a:r>
          </a:p>
          <a:p>
            <a:pPr lvl="1"/>
            <a:r>
              <a:rPr lang="en-US" dirty="0"/>
              <a:t>Local modules – your code</a:t>
            </a:r>
          </a:p>
          <a:p>
            <a:r>
              <a:rPr lang="en-US" dirty="0">
                <a:hlinkClick r:id="rId4"/>
              </a:rPr>
              <a:t>Module caching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01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Export code using </a:t>
            </a:r>
            <a:r>
              <a:rPr lang="en-US" b="1" i="1" dirty="0" err="1"/>
              <a:t>module.exports</a:t>
            </a:r>
            <a:endParaRPr lang="en-US" b="1" i="1" dirty="0"/>
          </a:p>
          <a:p>
            <a:r>
              <a:rPr lang="en-US" dirty="0"/>
              <a:t>Import with </a:t>
            </a:r>
            <a:r>
              <a:rPr lang="en-US" b="1" i="1" dirty="0"/>
              <a:t>require():</a:t>
            </a:r>
          </a:p>
          <a:p>
            <a:pPr lvl="1"/>
            <a:r>
              <a:rPr lang="en-US" dirty="0"/>
              <a:t>Imported module is in </a:t>
            </a:r>
            <a:r>
              <a:rPr lang="en-US" b="1" dirty="0"/>
              <a:t>same</a:t>
            </a:r>
            <a:r>
              <a:rPr lang="en-US" dirty="0"/>
              <a:t> dir </a:t>
            </a:r>
            <a:r>
              <a:rPr lang="en-US" dirty="0">
                <a:sym typeface="Wingdings"/>
              </a:rPr>
              <a:t> require(“./my-module”)</a:t>
            </a:r>
          </a:p>
          <a:p>
            <a:pPr lvl="1"/>
            <a:r>
              <a:rPr lang="en-US" dirty="0">
                <a:sym typeface="Wingdings"/>
              </a:rPr>
              <a:t>Imported module is in </a:t>
            </a:r>
            <a:r>
              <a:rPr lang="en-US" b="1" dirty="0">
                <a:sym typeface="Wingdings"/>
              </a:rPr>
              <a:t>parent</a:t>
            </a:r>
            <a:r>
              <a:rPr lang="en-US" dirty="0">
                <a:sym typeface="Wingdings"/>
              </a:rPr>
              <a:t> dir  require(“../my-module”)</a:t>
            </a:r>
          </a:p>
          <a:p>
            <a:r>
              <a:rPr lang="en-US" dirty="0">
                <a:sym typeface="Wingdings"/>
              </a:rPr>
              <a:t>json files can be imported as well </a:t>
            </a:r>
          </a:p>
          <a:p>
            <a:r>
              <a:rPr lang="en-US" dirty="0">
                <a:sym typeface="Wingdings"/>
              </a:rPr>
              <a:t>Suffix is optional</a:t>
            </a:r>
          </a:p>
          <a:p>
            <a:pPr lvl="1"/>
            <a:r>
              <a:rPr lang="en-US" dirty="0">
                <a:sym typeface="Wingdings"/>
              </a:rPr>
              <a:t>.js takes .json  add suffix in case of duplicated file name (x.js, x.json)</a:t>
            </a:r>
          </a:p>
          <a:p>
            <a:r>
              <a:rPr lang="en-US" dirty="0">
                <a:sym typeface="Wingdings"/>
                <a:hlinkClick r:id="rId2"/>
              </a:rPr>
              <a:t>Cyclic dependency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18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700808"/>
            <a:ext cx="8686801" cy="4191000"/>
          </a:xfrm>
        </p:spPr>
        <p:txBody>
          <a:bodyPr>
            <a:normAutofit/>
          </a:bodyPr>
          <a:lstStyle/>
          <a:p>
            <a:r>
              <a:rPr lang="en-US" u="sng" dirty="0"/>
              <a:t>examples/core-modules/local-</a:t>
            </a:r>
            <a:r>
              <a:rPr lang="en-US" u="sng" dirty="0" err="1"/>
              <a:t>module.js</a:t>
            </a:r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r>
              <a:rPr lang="en-US" u="sng" dirty="0"/>
              <a:t>examples/core-modules/use-local-</a:t>
            </a:r>
            <a:r>
              <a:rPr lang="en-US" u="sng" dirty="0" err="1"/>
              <a:t>module.js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DAC64-3B76-AE49-82EC-31993EB5ED61}"/>
              </a:ext>
            </a:extLst>
          </p:cNvPr>
          <p:cNvSpPr txBox="1"/>
          <p:nvPr/>
        </p:nvSpPr>
        <p:spPr>
          <a:xfrm>
            <a:off x="1341884" y="2151727"/>
            <a:ext cx="69027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80"/>
                </a:solidFill>
              </a:rPr>
              <a:t>let </a:t>
            </a:r>
            <a:r>
              <a:rPr lang="en-US" sz="1600" dirty="0" err="1">
                <a:solidFill>
                  <a:srgbClr val="458383"/>
                </a:solidFill>
              </a:rPr>
              <a:t>myVar</a:t>
            </a:r>
            <a:r>
              <a:rPr lang="en-US" sz="1600" dirty="0"/>
              <a:t>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 err="1"/>
              <a:t>module.</a:t>
            </a:r>
            <a:r>
              <a:rPr lang="en-US" sz="1600" b="1" dirty="0" err="1">
                <a:solidFill>
                  <a:srgbClr val="660E7A"/>
                </a:solidFill>
              </a:rPr>
              <a:t>exports</a:t>
            </a:r>
            <a:r>
              <a:rPr lang="en-US" sz="1600" b="1" dirty="0">
                <a:solidFill>
                  <a:srgbClr val="660E7A"/>
                </a:solidFill>
              </a:rPr>
              <a:t> </a:t>
            </a:r>
            <a:r>
              <a:rPr lang="en-US" sz="1600" dirty="0"/>
              <a:t>= {</a:t>
            </a:r>
            <a:br>
              <a:rPr lang="en-US" sz="1600" dirty="0"/>
            </a:br>
            <a:r>
              <a:rPr lang="en-US" sz="1600" dirty="0"/>
              <a:t>    </a:t>
            </a:r>
            <a:r>
              <a:rPr lang="en-US" sz="1600" dirty="0" err="1">
                <a:solidFill>
                  <a:srgbClr val="7A7A43"/>
                </a:solidFill>
              </a:rPr>
              <a:t>setVar</a:t>
            </a:r>
            <a:r>
              <a:rPr lang="en-US" sz="1600" dirty="0"/>
              <a:t>: </a:t>
            </a:r>
            <a:r>
              <a:rPr lang="en-US" sz="1600" b="1" dirty="0">
                <a:solidFill>
                  <a:srgbClr val="000080"/>
                </a:solidFill>
              </a:rPr>
              <a:t>function </a:t>
            </a:r>
            <a:r>
              <a:rPr lang="en-US" sz="1600" dirty="0"/>
              <a:t>(</a:t>
            </a:r>
            <a:r>
              <a:rPr lang="en-US" sz="1600" dirty="0" err="1"/>
              <a:t>newVar</a:t>
            </a:r>
            <a:r>
              <a:rPr lang="en-US" sz="1600" dirty="0"/>
              <a:t>) {</a:t>
            </a: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dirty="0" err="1">
                <a:solidFill>
                  <a:srgbClr val="458383"/>
                </a:solidFill>
              </a:rPr>
              <a:t>myVar</a:t>
            </a:r>
            <a:r>
              <a:rPr lang="en-US" sz="1600" dirty="0">
                <a:solidFill>
                  <a:srgbClr val="458383"/>
                </a:solidFill>
              </a:rPr>
              <a:t> </a:t>
            </a:r>
            <a:r>
              <a:rPr lang="en-US" sz="1600" dirty="0"/>
              <a:t>= </a:t>
            </a:r>
            <a:r>
              <a:rPr lang="en-US" sz="1600" dirty="0" err="1"/>
              <a:t>newVar</a:t>
            </a:r>
            <a:r>
              <a:rPr lang="en-US" sz="1600" dirty="0"/>
              <a:t>;</a:t>
            </a:r>
            <a:br>
              <a:rPr lang="en-US" sz="1600" dirty="0"/>
            </a:br>
            <a:r>
              <a:rPr lang="en-US" sz="1600" dirty="0"/>
              <a:t>    },</a:t>
            </a:r>
            <a:br>
              <a:rPr lang="en-US" sz="1600" dirty="0"/>
            </a:br>
            <a:r>
              <a:rPr lang="en-US" sz="1600" dirty="0"/>
              <a:t>    </a:t>
            </a:r>
            <a:r>
              <a:rPr lang="en-US" sz="1600" dirty="0" err="1">
                <a:solidFill>
                  <a:srgbClr val="7A7A43"/>
                </a:solidFill>
              </a:rPr>
              <a:t>getVar</a:t>
            </a:r>
            <a:r>
              <a:rPr lang="en-US" sz="1600" dirty="0"/>
              <a:t>: </a:t>
            </a:r>
            <a:r>
              <a:rPr lang="en-US" sz="1600" b="1" dirty="0">
                <a:solidFill>
                  <a:srgbClr val="000080"/>
                </a:solidFill>
              </a:rPr>
              <a:t>function </a:t>
            </a:r>
            <a:r>
              <a:rPr lang="en-US" sz="1600" dirty="0"/>
              <a:t>() {</a:t>
            </a: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b="1" dirty="0">
                <a:solidFill>
                  <a:srgbClr val="000080"/>
                </a:solidFill>
              </a:rPr>
              <a:t>return </a:t>
            </a:r>
            <a:r>
              <a:rPr lang="en-US" sz="1600" dirty="0" err="1">
                <a:solidFill>
                  <a:srgbClr val="458383"/>
                </a:solidFill>
              </a:rPr>
              <a:t>myVar</a:t>
            </a:r>
            <a:r>
              <a:rPr lang="en-US" sz="1600" dirty="0"/>
              <a:t>;</a:t>
            </a:r>
            <a:br>
              <a:rPr lang="en-US" sz="1600" dirty="0"/>
            </a:br>
            <a:r>
              <a:rPr lang="en-US" sz="1600" dirty="0"/>
              <a:t>    }</a:t>
            </a:r>
            <a:br>
              <a:rPr lang="en-US" sz="1600" dirty="0"/>
            </a:br>
            <a:r>
              <a:rPr lang="en-US" sz="1600" dirty="0"/>
              <a:t>};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55463-6A4E-A847-AB8F-07BC8D3A3860}"/>
              </a:ext>
            </a:extLst>
          </p:cNvPr>
          <p:cNvSpPr txBox="1"/>
          <p:nvPr/>
        </p:nvSpPr>
        <p:spPr>
          <a:xfrm>
            <a:off x="1341884" y="5187271"/>
            <a:ext cx="6542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0080"/>
                </a:solidFill>
              </a:rPr>
              <a:t>const</a:t>
            </a:r>
            <a:r>
              <a:rPr lang="en-US" sz="1600" b="1" dirty="0">
                <a:solidFill>
                  <a:srgbClr val="000080"/>
                </a:solidFill>
              </a:rPr>
              <a:t> </a:t>
            </a:r>
            <a:r>
              <a:rPr lang="en-US" sz="1600" b="1" dirty="0" err="1">
                <a:solidFill>
                  <a:srgbClr val="660E7A"/>
                </a:solidFill>
              </a:rPr>
              <a:t>localModule</a:t>
            </a:r>
            <a:r>
              <a:rPr lang="en-US" sz="1600" b="1" dirty="0">
                <a:solidFill>
                  <a:srgbClr val="660E7A"/>
                </a:solidFill>
              </a:rPr>
              <a:t> </a:t>
            </a:r>
            <a:r>
              <a:rPr lang="en-US" sz="1600" dirty="0"/>
              <a:t>= require(</a:t>
            </a:r>
            <a:r>
              <a:rPr lang="en-US" sz="1600" b="1" dirty="0">
                <a:solidFill>
                  <a:srgbClr val="008000"/>
                </a:solidFill>
              </a:rPr>
              <a:t>'./local-module'</a:t>
            </a:r>
            <a:r>
              <a:rPr lang="en-US" sz="1600" dirty="0"/>
              <a:t>);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i="1" dirty="0" err="1">
                <a:solidFill>
                  <a:srgbClr val="660E7A"/>
                </a:solidFill>
              </a:rPr>
              <a:t>console</a:t>
            </a:r>
            <a:r>
              <a:rPr lang="en-US" sz="1600" dirty="0" err="1"/>
              <a:t>.</a:t>
            </a:r>
            <a:r>
              <a:rPr lang="en-US" sz="1600" dirty="0" err="1">
                <a:solidFill>
                  <a:srgbClr val="7A7A43"/>
                </a:solidFill>
              </a:rPr>
              <a:t>log</a:t>
            </a:r>
            <a:r>
              <a:rPr lang="en-US" sz="1600" dirty="0"/>
              <a:t>(</a:t>
            </a:r>
            <a:r>
              <a:rPr lang="en-US" sz="1600" b="1" dirty="0" err="1">
                <a:solidFill>
                  <a:srgbClr val="660E7A"/>
                </a:solidFill>
              </a:rPr>
              <a:t>localModule</a:t>
            </a:r>
            <a:r>
              <a:rPr lang="en-US" sz="1600" dirty="0" err="1"/>
              <a:t>.</a:t>
            </a:r>
            <a:r>
              <a:rPr lang="en-US" sz="1600" dirty="0" err="1">
                <a:solidFill>
                  <a:srgbClr val="7A7A43"/>
                </a:solidFill>
              </a:rPr>
              <a:t>getVar</a:t>
            </a:r>
            <a:r>
              <a:rPr lang="en-US" sz="1600" dirty="0"/>
              <a:t>()); </a:t>
            </a:r>
            <a:r>
              <a:rPr lang="en-US" sz="1600" i="1" dirty="0">
                <a:solidFill>
                  <a:srgbClr val="808080"/>
                </a:solidFill>
              </a:rPr>
              <a:t>// &gt; undefined</a:t>
            </a:r>
            <a:br>
              <a:rPr lang="en-US" sz="1600" i="1" dirty="0">
                <a:solidFill>
                  <a:srgbClr val="808080"/>
                </a:solidFill>
              </a:rPr>
            </a:br>
            <a:r>
              <a:rPr lang="en-US" sz="1600" b="1" dirty="0" err="1">
                <a:solidFill>
                  <a:srgbClr val="660E7A"/>
                </a:solidFill>
              </a:rPr>
              <a:t>localModule</a:t>
            </a:r>
            <a:r>
              <a:rPr lang="en-US" sz="1600" dirty="0" err="1"/>
              <a:t>.</a:t>
            </a:r>
            <a:r>
              <a:rPr lang="en-US" sz="1600" dirty="0" err="1">
                <a:solidFill>
                  <a:srgbClr val="7A7A43"/>
                </a:solidFill>
              </a:rPr>
              <a:t>setVar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8000"/>
                </a:solidFill>
              </a:rPr>
              <a:t>"Hello local module!"</a:t>
            </a:r>
            <a:r>
              <a:rPr lang="en-US" sz="1600" dirty="0"/>
              <a:t>);</a:t>
            </a:r>
            <a:br>
              <a:rPr lang="en-US" sz="1600" dirty="0"/>
            </a:br>
            <a:r>
              <a:rPr lang="en-US" sz="1600" b="1" i="1" dirty="0" err="1">
                <a:solidFill>
                  <a:srgbClr val="660E7A"/>
                </a:solidFill>
              </a:rPr>
              <a:t>console</a:t>
            </a:r>
            <a:r>
              <a:rPr lang="en-US" sz="1600" dirty="0" err="1"/>
              <a:t>.</a:t>
            </a:r>
            <a:r>
              <a:rPr lang="en-US" sz="1600" dirty="0" err="1">
                <a:solidFill>
                  <a:srgbClr val="7A7A43"/>
                </a:solidFill>
              </a:rPr>
              <a:t>log</a:t>
            </a:r>
            <a:r>
              <a:rPr lang="en-US" sz="1600" dirty="0"/>
              <a:t>(</a:t>
            </a:r>
            <a:r>
              <a:rPr lang="en-US" sz="1600" b="1" dirty="0" err="1">
                <a:solidFill>
                  <a:srgbClr val="660E7A"/>
                </a:solidFill>
              </a:rPr>
              <a:t>localModule</a:t>
            </a:r>
            <a:r>
              <a:rPr lang="en-US" sz="1600" dirty="0" err="1"/>
              <a:t>.</a:t>
            </a:r>
            <a:r>
              <a:rPr lang="en-US" sz="1600" dirty="0" err="1">
                <a:solidFill>
                  <a:srgbClr val="7A7A43"/>
                </a:solidFill>
              </a:rPr>
              <a:t>getVar</a:t>
            </a:r>
            <a:r>
              <a:rPr lang="en-US" sz="1600" dirty="0"/>
              <a:t>()); </a:t>
            </a:r>
            <a:r>
              <a:rPr lang="en-US" sz="1600" i="1" dirty="0">
                <a:solidFill>
                  <a:srgbClr val="808080"/>
                </a:solidFill>
              </a:rPr>
              <a:t>// &gt; Hello local module!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9864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Objects – process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GLOBAL</a:t>
            </a:r>
            <a:r>
              <a:rPr lang="en-US" dirty="0"/>
              <a:t> / </a:t>
            </a:r>
            <a:r>
              <a:rPr lang="en-US" b="1" dirty="0"/>
              <a:t>global</a:t>
            </a:r>
            <a:r>
              <a:rPr lang="en-US" dirty="0"/>
              <a:t> – is the main global object in node</a:t>
            </a:r>
          </a:p>
          <a:p>
            <a:r>
              <a:rPr lang="en-US" dirty="0">
                <a:hlinkClick r:id="rId2"/>
              </a:rPr>
              <a:t>process</a:t>
            </a:r>
            <a:r>
              <a:rPr lang="en-US" dirty="0"/>
              <a:t>– env &amp; program arguments, events, methods</a:t>
            </a:r>
          </a:p>
          <a:p>
            <a:pPr lvl="1"/>
            <a:r>
              <a:rPr lang="en-US" b="1" dirty="0"/>
              <a:t>process.env.MY_ENV_VARIABLE</a:t>
            </a:r>
            <a:r>
              <a:rPr lang="en-US" dirty="0"/>
              <a:t> – environment variable</a:t>
            </a:r>
          </a:p>
          <a:p>
            <a:pPr lvl="1"/>
            <a:r>
              <a:rPr lang="en-US" b="1" dirty="0"/>
              <a:t>process.argv[2] </a:t>
            </a:r>
            <a:r>
              <a:rPr lang="en-US" dirty="0"/>
              <a:t>– program variable: </a:t>
            </a:r>
          </a:p>
          <a:p>
            <a:pPr lvl="1"/>
            <a:r>
              <a:rPr lang="en-US" b="1" dirty="0"/>
              <a:t>process.pid</a:t>
            </a:r>
            <a:r>
              <a:rPr lang="en-US" dirty="0"/>
              <a:t> – process id</a:t>
            </a:r>
          </a:p>
          <a:p>
            <a:pPr lvl="1"/>
            <a:r>
              <a:rPr lang="en-US" b="1" dirty="0"/>
              <a:t>process.nextTick()</a:t>
            </a:r>
          </a:p>
          <a:p>
            <a:pPr lvl="1"/>
            <a:r>
              <a:rPr lang="en-US" b="1" dirty="0" err="1"/>
              <a:t>process.on</a:t>
            </a:r>
            <a:r>
              <a:rPr lang="en-US" b="1" dirty="0"/>
              <a:t>() </a:t>
            </a:r>
            <a:r>
              <a:rPr lang="en-US" dirty="0"/>
              <a:t>/ </a:t>
            </a:r>
            <a:r>
              <a:rPr lang="en-US" b="1" dirty="0" err="1"/>
              <a:t>process.emit</a:t>
            </a:r>
            <a:r>
              <a:rPr lang="en-US" b="1" dirty="0"/>
              <a:t>() </a:t>
            </a:r>
            <a:r>
              <a:rPr lang="en-US" dirty="0"/>
              <a:t>- events</a:t>
            </a:r>
          </a:p>
          <a:p>
            <a:r>
              <a:rPr lang="en-US" b="1" dirty="0"/>
              <a:t>console</a:t>
            </a:r>
          </a:p>
          <a:p>
            <a:r>
              <a:rPr lang="en-US" b="1" dirty="0"/>
              <a:t>setTimeout() </a:t>
            </a:r>
            <a:r>
              <a:rPr lang="en-US" dirty="0"/>
              <a:t>/ </a:t>
            </a:r>
            <a:r>
              <a:rPr lang="en-US" b="1" dirty="0"/>
              <a:t>setImmediate()</a:t>
            </a:r>
          </a:p>
          <a:p>
            <a:pPr lvl="1"/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5518348" y="3068960"/>
            <a:ext cx="2743200" cy="317500"/>
            <a:chOff x="5233336" y="3212976"/>
            <a:chExt cx="2743200" cy="3175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3336" y="3212976"/>
              <a:ext cx="2743200" cy="317500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/>
          </p:nvCxnSpPr>
          <p:spPr>
            <a:xfrm>
              <a:off x="6958508" y="3501008"/>
              <a:ext cx="86409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9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Objects – module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__</a:t>
            </a:r>
            <a:r>
              <a:rPr lang="en-US" b="1" dirty="0" err="1"/>
              <a:t>dirname</a:t>
            </a:r>
            <a:r>
              <a:rPr lang="en-US" dirty="0"/>
              <a:t> - directory of the currently executing script</a:t>
            </a:r>
          </a:p>
          <a:p>
            <a:r>
              <a:rPr lang="en-US" b="1" dirty="0"/>
              <a:t>module</a:t>
            </a:r>
            <a:r>
              <a:rPr lang="en-US" dirty="0"/>
              <a:t> – current module</a:t>
            </a:r>
          </a:p>
          <a:p>
            <a:r>
              <a:rPr lang="en-US" b="1" dirty="0"/>
              <a:t>exports</a:t>
            </a:r>
            <a:r>
              <a:rPr lang="en-US" dirty="0"/>
              <a:t> – what your module expose (reference to module.exports)</a:t>
            </a:r>
          </a:p>
          <a:p>
            <a:r>
              <a:rPr lang="en-US" b="1" dirty="0"/>
              <a:t>require() </a:t>
            </a:r>
            <a:r>
              <a:rPr lang="en-US" dirty="0"/>
              <a:t>– import other modules</a:t>
            </a:r>
          </a:p>
          <a:p>
            <a:r>
              <a:rPr lang="en-US" dirty="0"/>
              <a:t>Node wraps each module so it will have it’s own scope: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876" y="4437112"/>
            <a:ext cx="69215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7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setTimeout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setImmediate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nextTick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setTimeout() / </a:t>
            </a:r>
            <a:r>
              <a:rPr lang="en-US" b="1" dirty="0" err="1"/>
              <a:t>setInterval</a:t>
            </a:r>
            <a:r>
              <a:rPr lang="en-US" b="1" dirty="0"/>
              <a:t>()</a:t>
            </a:r>
            <a:r>
              <a:rPr lang="en-US" dirty="0"/>
              <a:t> – same as in browser</a:t>
            </a:r>
          </a:p>
          <a:p>
            <a:pPr lvl="1"/>
            <a:r>
              <a:rPr lang="en-US" dirty="0"/>
              <a:t>setTimeout().</a:t>
            </a:r>
            <a:r>
              <a:rPr lang="en-US" dirty="0" err="1"/>
              <a:t>unref</a:t>
            </a:r>
            <a:r>
              <a:rPr lang="en-US" dirty="0"/>
              <a:t>() – the process can exit without function execution</a:t>
            </a:r>
          </a:p>
          <a:p>
            <a:r>
              <a:rPr lang="en-US" b="1" dirty="0"/>
              <a:t>setImmediate()</a:t>
            </a:r>
            <a:r>
              <a:rPr lang="en-US" dirty="0"/>
              <a:t> – runs after I/O events, before** timers (setTimeout)</a:t>
            </a:r>
          </a:p>
          <a:p>
            <a:r>
              <a:rPr lang="en-US" b="1" dirty="0"/>
              <a:t>process.nextTick()</a:t>
            </a:r>
            <a:r>
              <a:rPr lang="en-US" dirty="0"/>
              <a:t> - runs before I/O events &amp; timers (+ setImmediate)</a:t>
            </a:r>
          </a:p>
          <a:p>
            <a:pPr lvl="1"/>
            <a:r>
              <a:rPr lang="en-US" dirty="0"/>
              <a:t>When used in long running (&amp; </a:t>
            </a:r>
            <a:r>
              <a:rPr lang="en-US" dirty="0" err="1"/>
              <a:t>cpu</a:t>
            </a:r>
            <a:r>
              <a:rPr lang="en-US" dirty="0"/>
              <a:t> intensive) code - I/O callbacks wouldn't get the chance to run between iterations </a:t>
            </a:r>
          </a:p>
          <a:p>
            <a:pPr lvl="1"/>
            <a:r>
              <a:rPr lang="en-US" dirty="0">
                <a:sym typeface="Wingdings"/>
              </a:rPr>
              <a:t> Async loops / recursion which use nextTick() might be an </a:t>
            </a:r>
            <a:r>
              <a:rPr lang="en-US" b="1" dirty="0">
                <a:sym typeface="Wingdings"/>
              </a:rPr>
              <a:t>I/O killer</a:t>
            </a:r>
            <a:endParaRPr lang="en-US" b="1" dirty="0"/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5212" y="6009476"/>
            <a:ext cx="632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 Within main module context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non-deterministic execution</a:t>
            </a:r>
          </a:p>
        </p:txBody>
      </p:sp>
    </p:spTree>
    <p:extLst>
      <p:ext uri="{BB962C8B-B14F-4D97-AF65-F5344CB8AC3E}">
        <p14:creationId xmlns:p14="http://schemas.microsoft.com/office/powerpoint/2010/main" val="140219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Loop deep dive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3635AF-86D1-6A44-A41D-DE133316C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43" y="1880344"/>
            <a:ext cx="5184537" cy="478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9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Loop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What’s the output?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03306-51E0-AF4F-87B0-9B8603517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662" y="2451100"/>
            <a:ext cx="3263900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7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 with require(MODULE_NAME) – no path</a:t>
            </a:r>
          </a:p>
          <a:p>
            <a:pPr lvl="1"/>
            <a:r>
              <a:rPr lang="en-US" dirty="0" err="1"/>
              <a:t>const</a:t>
            </a:r>
            <a:r>
              <a:rPr lang="en-US" dirty="0"/>
              <a:t> fs = require(“fs”)</a:t>
            </a:r>
          </a:p>
          <a:p>
            <a:r>
              <a:rPr lang="en-US" dirty="0"/>
              <a:t>Common core modules:</a:t>
            </a:r>
          </a:p>
          <a:p>
            <a:pPr lvl="1"/>
            <a:r>
              <a:rPr lang="en-US" dirty="0">
                <a:hlinkClick r:id="rId2"/>
              </a:rPr>
              <a:t>File System</a:t>
            </a:r>
            <a:r>
              <a:rPr lang="en-US" dirty="0"/>
              <a:t> – fs </a:t>
            </a:r>
            <a:r>
              <a:rPr lang="en-US" dirty="0">
                <a:sym typeface="Wingdings"/>
              </a:rPr>
              <a:t> working with files</a:t>
            </a:r>
          </a:p>
          <a:p>
            <a:pPr lvl="1"/>
            <a:r>
              <a:rPr lang="en-US" dirty="0">
                <a:sym typeface="Wingdings"/>
                <a:hlinkClick r:id="rId3"/>
              </a:rPr>
              <a:t>Path</a:t>
            </a:r>
            <a:r>
              <a:rPr lang="en-US" dirty="0">
                <a:sym typeface="Wingdings"/>
              </a:rPr>
              <a:t> – path  working with paths (cross os)</a:t>
            </a:r>
          </a:p>
          <a:p>
            <a:pPr lvl="1"/>
            <a:r>
              <a:rPr lang="en-US" dirty="0">
                <a:sym typeface="Wingdings"/>
                <a:hlinkClick r:id="rId4"/>
              </a:rPr>
              <a:t>Util</a:t>
            </a:r>
            <a:r>
              <a:rPr lang="en-US" dirty="0">
                <a:sym typeface="Wingdings"/>
              </a:rPr>
              <a:t> – util</a:t>
            </a:r>
          </a:p>
          <a:p>
            <a:pPr lvl="1"/>
            <a:r>
              <a:rPr lang="en-US" dirty="0">
                <a:sym typeface="Wingdings"/>
                <a:hlinkClick r:id="rId5"/>
              </a:rPr>
              <a:t>HTTP</a:t>
            </a:r>
            <a:r>
              <a:rPr lang="en-US" dirty="0">
                <a:sym typeface="Wingdings"/>
              </a:rPr>
              <a:t> – http  </a:t>
            </a:r>
            <a:r>
              <a:rPr lang="en-US" dirty="0"/>
              <a:t>HTTP server and client</a:t>
            </a:r>
          </a:p>
          <a:p>
            <a:pPr lvl="1"/>
            <a:r>
              <a:rPr lang="en-US" dirty="0">
                <a:sym typeface="Wingdings"/>
                <a:hlinkClick r:id="rId6"/>
              </a:rPr>
              <a:t>Cluster</a:t>
            </a:r>
            <a:r>
              <a:rPr lang="en-US" dirty="0">
                <a:sym typeface="Wingdings"/>
              </a:rPr>
              <a:t> – cluster  Allows a master process to spawn worker processes</a:t>
            </a:r>
          </a:p>
          <a:p>
            <a:pPr lvl="1"/>
            <a:r>
              <a:rPr lang="en-US" dirty="0">
                <a:sym typeface="Wingdings"/>
                <a:hlinkClick r:id="rId7"/>
              </a:rPr>
              <a:t>Events</a:t>
            </a:r>
            <a:r>
              <a:rPr lang="en-US" dirty="0">
                <a:sym typeface="Wingdings"/>
              </a:rPr>
              <a:t> – events  holds </a:t>
            </a:r>
            <a:r>
              <a:rPr lang="en-US" dirty="0"/>
              <a:t>EventEmitter class (event bus)</a:t>
            </a:r>
            <a:endParaRPr lang="en-US" dirty="0">
              <a:sym typeface="Wingdings"/>
            </a:endParaRPr>
          </a:p>
          <a:p>
            <a:pPr lvl="1"/>
            <a:r>
              <a:rPr lang="en-US" dirty="0">
                <a:sym typeface="Wingdings"/>
                <a:hlinkClick r:id="rId8"/>
              </a:rPr>
              <a:t>Crypto</a:t>
            </a:r>
            <a:r>
              <a:rPr lang="en-US" dirty="0">
                <a:sym typeface="Wingdings"/>
              </a:rPr>
              <a:t> – crypto  </a:t>
            </a:r>
            <a:r>
              <a:rPr lang="en-US" dirty="0"/>
              <a:t>cryptographic functionality</a:t>
            </a:r>
          </a:p>
          <a:p>
            <a:pPr lvl="1"/>
            <a:r>
              <a:rPr lang="en-US" dirty="0">
                <a:hlinkClick r:id="rId9"/>
              </a:rPr>
              <a:t>REPL</a:t>
            </a:r>
            <a:r>
              <a:rPr lang="en-US" dirty="0"/>
              <a:t> - Read-</a:t>
            </a:r>
            <a:r>
              <a:rPr lang="en-US" dirty="0" err="1"/>
              <a:t>Eval</a:t>
            </a:r>
            <a:r>
              <a:rPr lang="en-US" dirty="0"/>
              <a:t>-Print-Loop </a:t>
            </a:r>
            <a:r>
              <a:rPr lang="en-US" dirty="0">
                <a:sym typeface="Wingdings" pitchFamily="2" charset="2"/>
              </a:rPr>
              <a:t> allows to evaluate input before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8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Modules - </a:t>
            </a:r>
            <a:r>
              <a:rPr lang="en-US" dirty="0">
                <a:hlinkClick r:id="rId2"/>
              </a:rPr>
              <a:t>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Responsible for all the file I/O operations</a:t>
            </a:r>
          </a:p>
          <a:p>
            <a:r>
              <a:rPr lang="en-US" dirty="0"/>
              <a:t>All the methods have </a:t>
            </a:r>
            <a:r>
              <a:rPr lang="en-US" b="1" dirty="0"/>
              <a:t>asynchronous</a:t>
            </a:r>
            <a:r>
              <a:rPr lang="en-US" dirty="0"/>
              <a:t> and </a:t>
            </a:r>
            <a:r>
              <a:rPr lang="en-US" b="1" dirty="0"/>
              <a:t>synchronous</a:t>
            </a:r>
            <a:r>
              <a:rPr lang="en-US" dirty="0"/>
              <a:t> forms</a:t>
            </a:r>
          </a:p>
          <a:p>
            <a:pPr lvl="1"/>
            <a:r>
              <a:rPr lang="en-US" dirty="0"/>
              <a:t>Async style with callback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65760" lvl="1" indent="0">
              <a:buNone/>
            </a:pPr>
            <a:endParaRPr lang="en-US" dirty="0"/>
          </a:p>
          <a:p>
            <a:pPr lvl="1"/>
            <a:r>
              <a:rPr lang="en-US" dirty="0"/>
              <a:t>Sync style – blocks main thread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AB4A8-35D7-E448-8608-03841771C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595" y="3140968"/>
            <a:ext cx="4299277" cy="1031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C2A458-3B31-E04D-A33E-9B982EC5F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595" y="5013176"/>
            <a:ext cx="4766817" cy="85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9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9349680" cy="4624536"/>
          </a:xfrm>
        </p:spPr>
        <p:txBody>
          <a:bodyPr>
            <a:normAutofit/>
          </a:bodyPr>
          <a:lstStyle/>
          <a:p>
            <a:r>
              <a:rPr lang="en-US" dirty="0"/>
              <a:t>Write a Node cmd program</a:t>
            </a:r>
          </a:p>
          <a:p>
            <a:r>
              <a:rPr lang="en-US" dirty="0"/>
              <a:t>main.js need to include the following logic:</a:t>
            </a:r>
          </a:p>
          <a:p>
            <a:pPr lvl="1"/>
            <a:r>
              <a:rPr lang="en-US" dirty="0">
                <a:sym typeface="Wingdings"/>
              </a:rPr>
              <a:t>Read the desired directory (absolute path) and file pattern from program parameters</a:t>
            </a:r>
          </a:p>
          <a:p>
            <a:pPr lvl="1"/>
            <a:r>
              <a:rPr lang="en-US" dirty="0"/>
              <a:t>Search for files in the given directory</a:t>
            </a:r>
          </a:p>
          <a:p>
            <a:pPr lvl="2"/>
            <a:r>
              <a:rPr lang="en-US" dirty="0"/>
              <a:t>loop on each file in the given directory</a:t>
            </a:r>
          </a:p>
          <a:p>
            <a:pPr lvl="2"/>
            <a:r>
              <a:rPr lang="en-US" dirty="0"/>
              <a:t>If a file match the pattern </a:t>
            </a:r>
            <a:r>
              <a:rPr lang="en-US" dirty="0">
                <a:sym typeface="Wingdings"/>
              </a:rPr>
              <a:t> print it in console</a:t>
            </a:r>
          </a:p>
          <a:p>
            <a:r>
              <a:rPr lang="en-US" b="1" dirty="0">
                <a:sym typeface="Wingdings"/>
              </a:rPr>
              <a:t>Run cmd:</a:t>
            </a:r>
            <a:r>
              <a:rPr lang="en-US" dirty="0">
                <a:sym typeface="Wingdings"/>
              </a:rPr>
              <a:t> node main.js ”/Users/</a:t>
            </a:r>
            <a:r>
              <a:rPr lang="is-IS" dirty="0">
                <a:sym typeface="Wingdings"/>
              </a:rPr>
              <a:t>…/repos/cpv2/” “*.xml”</a:t>
            </a:r>
          </a:p>
          <a:p>
            <a:r>
              <a:rPr lang="is-IS" dirty="0">
                <a:sym typeface="Wingdings"/>
              </a:rPr>
              <a:t> </a:t>
            </a:r>
            <a:r>
              <a:rPr lang="en-US" dirty="0">
                <a:sym typeface="Wingdings"/>
              </a:rPr>
              <a:t>P</a:t>
            </a:r>
            <a:r>
              <a:rPr lang="is-IS" dirty="0">
                <a:sym typeface="Wingdings"/>
              </a:rPr>
              <a:t>rint content of all the .xml files located in cpv2 directory (NOT </a:t>
            </a:r>
            <a:r>
              <a:rPr lang="en-US" dirty="0">
                <a:sym typeface="Wingdings"/>
              </a:rPr>
              <a:t>recursively</a:t>
            </a:r>
            <a:r>
              <a:rPr lang="is-IS" dirty="0">
                <a:sym typeface="Wingdings"/>
              </a:rPr>
              <a:t>)</a:t>
            </a:r>
          </a:p>
          <a:p>
            <a:endParaRPr lang="is-IS" dirty="0">
              <a:sym typeface="Wingdings"/>
            </a:endParaRPr>
          </a:p>
          <a:p>
            <a:r>
              <a:rPr lang="en-US" dirty="0">
                <a:sym typeface="Wingdings"/>
              </a:rPr>
              <a:t>**Please follow the README file</a:t>
            </a:r>
            <a:endParaRPr lang="en-US" dirty="0"/>
          </a:p>
          <a:p>
            <a:endParaRPr lang="is-IS" dirty="0">
              <a:sym typeface="Wingdings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755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Modules - </a:t>
            </a:r>
            <a:r>
              <a:rPr lang="en-US" dirty="0">
                <a:hlinkClick r:id="rId2"/>
              </a:rPr>
              <a:t>http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772816"/>
            <a:ext cx="8686801" cy="4191000"/>
          </a:xfrm>
        </p:spPr>
        <p:txBody>
          <a:bodyPr>
            <a:normAutofit/>
          </a:bodyPr>
          <a:lstStyle/>
          <a:p>
            <a:r>
              <a:rPr lang="en-US" dirty="0"/>
              <a:t>Provides API for creating a low-level HTTP server or client</a:t>
            </a:r>
          </a:p>
          <a:p>
            <a:r>
              <a:rPr lang="en-US" dirty="0"/>
              <a:t>There is an equivalent module for HTTPS (same API + certificates)</a:t>
            </a:r>
          </a:p>
          <a:p>
            <a:r>
              <a:rPr lang="en-US" dirty="0"/>
              <a:t>Server: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9BE89-F7A6-574E-81E8-250411590159}"/>
              </a:ext>
            </a:extLst>
          </p:cNvPr>
          <p:cNvSpPr txBox="1"/>
          <p:nvPr/>
        </p:nvSpPr>
        <p:spPr>
          <a:xfrm>
            <a:off x="1065212" y="3432245"/>
            <a:ext cx="9001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80"/>
                </a:solidFill>
              </a:rPr>
              <a:t>const</a:t>
            </a:r>
            <a:r>
              <a:rPr lang="en-US" b="1" dirty="0">
                <a:solidFill>
                  <a:srgbClr val="000080"/>
                </a:solidFill>
              </a:rPr>
              <a:t> </a:t>
            </a:r>
            <a:r>
              <a:rPr lang="en-US" dirty="0">
                <a:solidFill>
                  <a:srgbClr val="458383"/>
                </a:solidFill>
              </a:rPr>
              <a:t>http </a:t>
            </a:r>
            <a:r>
              <a:rPr lang="en-US" dirty="0"/>
              <a:t>= require(</a:t>
            </a:r>
            <a:r>
              <a:rPr lang="en-US" b="1" dirty="0">
                <a:solidFill>
                  <a:srgbClr val="008000"/>
                </a:solidFill>
              </a:rPr>
              <a:t>'http'</a:t>
            </a:r>
            <a:r>
              <a:rPr lang="en-US" dirty="0"/>
              <a:t>);</a:t>
            </a:r>
            <a:br>
              <a:rPr lang="en-US" dirty="0"/>
            </a:br>
            <a:br>
              <a:rPr lang="en-US" dirty="0"/>
            </a:br>
            <a:r>
              <a:rPr lang="en-US" b="1" dirty="0" err="1">
                <a:solidFill>
                  <a:srgbClr val="000080"/>
                </a:solidFill>
              </a:rPr>
              <a:t>const</a:t>
            </a:r>
            <a:r>
              <a:rPr lang="en-US" b="1" dirty="0">
                <a:solidFill>
                  <a:srgbClr val="000080"/>
                </a:solidFill>
              </a:rPr>
              <a:t> </a:t>
            </a:r>
            <a:r>
              <a:rPr lang="en-US" dirty="0">
                <a:solidFill>
                  <a:srgbClr val="458383"/>
                </a:solidFill>
              </a:rPr>
              <a:t>server </a:t>
            </a:r>
            <a:r>
              <a:rPr lang="en-US" dirty="0"/>
              <a:t>= </a:t>
            </a:r>
            <a:r>
              <a:rPr lang="en-US" dirty="0" err="1">
                <a:solidFill>
                  <a:srgbClr val="458383"/>
                </a:solidFill>
              </a:rPr>
              <a:t>http</a:t>
            </a:r>
            <a:r>
              <a:rPr lang="en-US" dirty="0" err="1"/>
              <a:t>.createServer</a:t>
            </a:r>
            <a:r>
              <a:rPr lang="en-US" dirty="0"/>
              <a:t>(</a:t>
            </a:r>
            <a:r>
              <a:rPr lang="en-US" b="1" dirty="0">
                <a:solidFill>
                  <a:srgbClr val="000080"/>
                </a:solidFill>
              </a:rPr>
              <a:t>function </a:t>
            </a:r>
            <a:r>
              <a:rPr lang="en-US" dirty="0"/>
              <a:t>(</a:t>
            </a:r>
            <a:r>
              <a:rPr lang="en-US" dirty="0" err="1"/>
              <a:t>req</a:t>
            </a:r>
            <a:r>
              <a:rPr lang="en-US" dirty="0"/>
              <a:t>, res)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res.writeHead</a:t>
            </a:r>
            <a:r>
              <a:rPr lang="en-US" dirty="0"/>
              <a:t>(</a:t>
            </a:r>
            <a:r>
              <a:rPr lang="en-US" dirty="0">
                <a:solidFill>
                  <a:srgbClr val="0000FF"/>
                </a:solidFill>
              </a:rPr>
              <a:t>200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res.</a:t>
            </a:r>
            <a:r>
              <a:rPr lang="en-US" b="1" dirty="0" err="1">
                <a:solidFill>
                  <a:srgbClr val="660E7A"/>
                </a:solidFill>
              </a:rPr>
              <a:t>end</a:t>
            </a:r>
            <a:r>
              <a:rPr lang="en-US" dirty="0"/>
              <a:t>(</a:t>
            </a:r>
            <a:r>
              <a:rPr lang="en-US" b="1" dirty="0">
                <a:solidFill>
                  <a:srgbClr val="008000"/>
                </a:solidFill>
              </a:rPr>
              <a:t>"Hello Node </a:t>
            </a:r>
            <a:r>
              <a:rPr lang="en-US" b="1" dirty="0" err="1">
                <a:solidFill>
                  <a:srgbClr val="008000"/>
                </a:solidFill>
              </a:rPr>
              <a:t>js</a:t>
            </a:r>
            <a:r>
              <a:rPr lang="en-US" b="1" dirty="0">
                <a:solidFill>
                  <a:srgbClr val="008000"/>
                </a:solidFill>
              </a:rPr>
              <a:t> !!!"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});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458383"/>
                </a:solidFill>
              </a:rPr>
              <a:t>server</a:t>
            </a:r>
            <a:r>
              <a:rPr lang="en-US" dirty="0" err="1"/>
              <a:t>.listen</a:t>
            </a:r>
            <a:r>
              <a:rPr lang="en-US" dirty="0"/>
              <a:t>(</a:t>
            </a:r>
            <a:r>
              <a:rPr lang="en-US" dirty="0">
                <a:solidFill>
                  <a:srgbClr val="0000FF"/>
                </a:solidFill>
              </a:rPr>
              <a:t>3000</a:t>
            </a:r>
            <a:r>
              <a:rPr lang="en-US" dirty="0"/>
              <a:t>);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516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Modules - </a:t>
            </a:r>
            <a:r>
              <a:rPr lang="en-US" dirty="0">
                <a:hlinkClick r:id="rId2"/>
              </a:rPr>
              <a:t>http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Client: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068" y="2138626"/>
            <a:ext cx="5544616" cy="460274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703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Modules – </a:t>
            </a:r>
            <a:r>
              <a:rPr lang="en-US" dirty="0">
                <a:hlinkClick r:id="rId2"/>
              </a:rPr>
              <a:t>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Allows us to create and handle custom events easily with events.EventEmitter class</a:t>
            </a:r>
          </a:p>
          <a:p>
            <a:r>
              <a:rPr lang="en-US" dirty="0"/>
              <a:t>Used widely in Node’s core API - all objects which emit events are instances of EventEmitter (streams, process, sockets, servers</a:t>
            </a:r>
            <a:r>
              <a:rPr lang="is-IS" dirty="0"/>
              <a:t>…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0" y="3645024"/>
            <a:ext cx="6336704" cy="215753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8293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</a:t>
            </a:r>
            <a:r>
              <a:rPr lang="en-US" dirty="0"/>
              <a:t>ode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</a:t>
            </a:r>
            <a:r>
              <a:rPr lang="en-US" dirty="0"/>
              <a:t>ackage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</a:t>
            </a:r>
            <a:r>
              <a:rPr lang="en-US" dirty="0"/>
              <a:t>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Online </a:t>
            </a:r>
            <a:r>
              <a:rPr lang="en-US" dirty="0">
                <a:hlinkClick r:id="rId2"/>
              </a:rPr>
              <a:t>repository</a:t>
            </a:r>
            <a:r>
              <a:rPr lang="en-US" dirty="0"/>
              <a:t> for Node.js packages/modules (~380K)</a:t>
            </a:r>
          </a:p>
          <a:p>
            <a:r>
              <a:rPr lang="en-US" dirty="0"/>
              <a:t>Command line utility</a:t>
            </a:r>
          </a:p>
          <a:p>
            <a:pPr lvl="1"/>
            <a:r>
              <a:rPr lang="en-US" dirty="0"/>
              <a:t>Install modules</a:t>
            </a:r>
          </a:p>
          <a:p>
            <a:pPr lvl="1"/>
            <a:r>
              <a:rPr lang="en-US" dirty="0"/>
              <a:t>Version management</a:t>
            </a:r>
          </a:p>
          <a:p>
            <a:r>
              <a:rPr lang="en-US" dirty="0">
                <a:hlinkClick r:id="rId3"/>
              </a:rPr>
              <a:t>package.json</a:t>
            </a:r>
            <a:r>
              <a:rPr lang="en-US" dirty="0"/>
              <a:t> is the module descriptor</a:t>
            </a:r>
          </a:p>
          <a:p>
            <a:pPr lvl="1"/>
            <a:r>
              <a:rPr lang="en-US" dirty="0"/>
              <a:t>Dependencies, metadata, run commands</a:t>
            </a:r>
          </a:p>
          <a:p>
            <a:pPr lvl="1"/>
            <a:r>
              <a:rPr lang="en-US" dirty="0"/>
              <a:t>Located in the project root – same as pom.xml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39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NPM–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8686801" cy="4768552"/>
          </a:xfrm>
        </p:spPr>
        <p:txBody>
          <a:bodyPr>
            <a:normAutofit/>
          </a:bodyPr>
          <a:lstStyle/>
          <a:p>
            <a:r>
              <a:rPr lang="en-US" dirty="0"/>
              <a:t>Initialize with: </a:t>
            </a:r>
            <a:r>
              <a:rPr lang="en-US" b="1" i="1" dirty="0">
                <a:solidFill>
                  <a:schemeClr val="accent5"/>
                </a:solidFill>
              </a:rPr>
              <a:t>npm init</a:t>
            </a:r>
          </a:p>
          <a:p>
            <a:r>
              <a:rPr lang="en-US" dirty="0"/>
              <a:t>Install dependencies: </a:t>
            </a:r>
            <a:r>
              <a:rPr lang="en-US" b="1" i="1" dirty="0" err="1">
                <a:solidFill>
                  <a:schemeClr val="accent5"/>
                </a:solidFill>
              </a:rPr>
              <a:t>npm</a:t>
            </a:r>
            <a:r>
              <a:rPr lang="en-US" b="1" i="1" dirty="0">
                <a:solidFill>
                  <a:schemeClr val="accent5"/>
                </a:solidFill>
              </a:rPr>
              <a:t> install / </a:t>
            </a:r>
            <a:r>
              <a:rPr lang="en-US" b="1" i="1" dirty="0" err="1">
                <a:solidFill>
                  <a:schemeClr val="accent5"/>
                </a:solidFill>
              </a:rPr>
              <a:t>npm</a:t>
            </a:r>
            <a:r>
              <a:rPr lang="en-US" b="1" i="1" dirty="0">
                <a:solidFill>
                  <a:schemeClr val="accent5"/>
                </a:solidFill>
              </a:rPr>
              <a:t> </a:t>
            </a:r>
            <a:r>
              <a:rPr lang="en-US" b="1" i="1" dirty="0" err="1">
                <a:solidFill>
                  <a:schemeClr val="accent5"/>
                </a:solidFill>
              </a:rPr>
              <a:t>i</a:t>
            </a:r>
            <a:endParaRPr lang="en-US" b="1" i="1" dirty="0">
              <a:solidFill>
                <a:schemeClr val="accent5"/>
              </a:solidFill>
            </a:endParaRPr>
          </a:p>
          <a:p>
            <a:r>
              <a:rPr lang="en-US" dirty="0"/>
              <a:t>Install + add to package.json: </a:t>
            </a:r>
            <a:r>
              <a:rPr lang="en-US" b="1" i="1" dirty="0">
                <a:solidFill>
                  <a:schemeClr val="accent5"/>
                </a:solidFill>
              </a:rPr>
              <a:t>npm install MODULE_NAME –save</a:t>
            </a:r>
          </a:p>
          <a:p>
            <a:r>
              <a:rPr lang="en-US" dirty="0"/>
              <a:t>Install globally (cmd access): </a:t>
            </a:r>
            <a:r>
              <a:rPr lang="en-US" b="1" i="1" dirty="0">
                <a:solidFill>
                  <a:schemeClr val="accent5"/>
                </a:solidFill>
              </a:rPr>
              <a:t>npm install MODULE_NAME –g</a:t>
            </a:r>
          </a:p>
          <a:p>
            <a:r>
              <a:rPr lang="en-US" dirty="0"/>
              <a:t>Behind corporate proxy: </a:t>
            </a:r>
            <a:r>
              <a:rPr lang="en-US" b="1" i="1" dirty="0">
                <a:solidFill>
                  <a:schemeClr val="accent5"/>
                </a:solidFill>
              </a:rPr>
              <a:t>npm install --https-proxy=http://proxy:8080</a:t>
            </a:r>
          </a:p>
          <a:p>
            <a:r>
              <a:rPr lang="en-US" dirty="0"/>
              <a:t>Set as default proxy: </a:t>
            </a:r>
            <a:r>
              <a:rPr lang="en-US" b="1" i="1" dirty="0">
                <a:solidFill>
                  <a:schemeClr val="accent5"/>
                </a:solidFill>
              </a:rPr>
              <a:t>npm </a:t>
            </a:r>
            <a:r>
              <a:rPr lang="en-US" b="1" i="1" dirty="0" err="1">
                <a:solidFill>
                  <a:schemeClr val="accent5"/>
                </a:solidFill>
              </a:rPr>
              <a:t>config</a:t>
            </a:r>
            <a:r>
              <a:rPr lang="en-US" b="1" i="1" dirty="0">
                <a:solidFill>
                  <a:schemeClr val="accent5"/>
                </a:solidFill>
              </a:rPr>
              <a:t> set https-proxy http://proxy:8080</a:t>
            </a:r>
          </a:p>
          <a:p>
            <a:pPr lvl="1"/>
            <a:r>
              <a:rPr lang="en-US" dirty="0"/>
              <a:t>Now you can work w/o the –https-proxy=</a:t>
            </a:r>
            <a:r>
              <a:rPr lang="is-IS" dirty="0"/>
              <a:t>…</a:t>
            </a:r>
            <a:endParaRPr lang="en-US" dirty="0"/>
          </a:p>
          <a:p>
            <a:r>
              <a:rPr lang="en-US" dirty="0"/>
              <a:t>Clear default proxy: </a:t>
            </a:r>
            <a:r>
              <a:rPr lang="en-US" b="1" i="1" dirty="0">
                <a:solidFill>
                  <a:schemeClr val="accent5"/>
                </a:solidFill>
              </a:rPr>
              <a:t>npm </a:t>
            </a:r>
            <a:r>
              <a:rPr lang="en-US" b="1" i="1" dirty="0" err="1">
                <a:solidFill>
                  <a:schemeClr val="accent5"/>
                </a:solidFill>
              </a:rPr>
              <a:t>config</a:t>
            </a:r>
            <a:r>
              <a:rPr lang="en-US" b="1" i="1" dirty="0">
                <a:solidFill>
                  <a:schemeClr val="accent5"/>
                </a:solidFill>
              </a:rPr>
              <a:t> delete https-proxy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You might need to set ‘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proxy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’ in addition to ‘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https-proxy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63214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NPM–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8686801" cy="4768552"/>
          </a:xfrm>
        </p:spPr>
        <p:txBody>
          <a:bodyPr>
            <a:normAutofit/>
          </a:bodyPr>
          <a:lstStyle/>
          <a:p>
            <a:r>
              <a:rPr lang="en-US" dirty="0"/>
              <a:t>Link a module: </a:t>
            </a:r>
            <a:r>
              <a:rPr lang="en-US" b="1" i="1" dirty="0" err="1">
                <a:solidFill>
                  <a:schemeClr val="accent5"/>
                </a:solidFill>
              </a:rPr>
              <a:t>npm</a:t>
            </a:r>
            <a:r>
              <a:rPr lang="en-US" b="1" i="1" dirty="0">
                <a:solidFill>
                  <a:schemeClr val="accent5"/>
                </a:solidFill>
              </a:rPr>
              <a:t> link</a:t>
            </a:r>
          </a:p>
          <a:p>
            <a:r>
              <a:rPr lang="en-US" dirty="0"/>
              <a:t>Use a linked module from another module: </a:t>
            </a:r>
            <a:r>
              <a:rPr lang="en-US" b="1" i="1" dirty="0" err="1">
                <a:solidFill>
                  <a:schemeClr val="accent5"/>
                </a:solidFill>
              </a:rPr>
              <a:t>npm</a:t>
            </a:r>
            <a:r>
              <a:rPr lang="en-US" b="1" i="1" dirty="0">
                <a:solidFill>
                  <a:schemeClr val="accent5"/>
                </a:solidFill>
              </a:rPr>
              <a:t> link &lt;</a:t>
            </a:r>
            <a:r>
              <a:rPr lang="en-US" b="1" i="1" dirty="0" err="1">
                <a:solidFill>
                  <a:schemeClr val="accent5"/>
                </a:solidFill>
              </a:rPr>
              <a:t>linked_module_name</a:t>
            </a:r>
            <a:r>
              <a:rPr lang="en-US" b="1" i="1" dirty="0">
                <a:solidFill>
                  <a:schemeClr val="accent5"/>
                </a:solidFill>
              </a:rPr>
              <a:t>&gt;</a:t>
            </a: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Publish</a:t>
            </a:r>
            <a:r>
              <a:rPr lang="en-US" dirty="0"/>
              <a:t> your module: </a:t>
            </a:r>
            <a:r>
              <a:rPr lang="en-US" b="1" i="1" dirty="0" err="1">
                <a:solidFill>
                  <a:schemeClr val="accent5"/>
                </a:solidFill>
              </a:rPr>
              <a:t>npm</a:t>
            </a:r>
            <a:r>
              <a:rPr lang="en-US" b="1" i="1" dirty="0">
                <a:solidFill>
                  <a:schemeClr val="accent5"/>
                </a:solidFill>
              </a:rPr>
              <a:t> publish</a:t>
            </a:r>
          </a:p>
          <a:p>
            <a:r>
              <a:rPr lang="en-US" dirty="0"/>
              <a:t>Update your module: </a:t>
            </a:r>
            <a:r>
              <a:rPr lang="en-US" b="1" i="1" dirty="0">
                <a:solidFill>
                  <a:schemeClr val="accent5"/>
                </a:solidFill>
              </a:rPr>
              <a:t>npm version &lt;</a:t>
            </a:r>
            <a:r>
              <a:rPr lang="en-US" b="1" i="1" dirty="0" err="1">
                <a:solidFill>
                  <a:schemeClr val="accent5"/>
                </a:solidFill>
                <a:hlinkClick r:id="rId3"/>
              </a:rPr>
              <a:t>update_type</a:t>
            </a:r>
            <a:r>
              <a:rPr lang="en-US" b="1" i="1" dirty="0">
                <a:solidFill>
                  <a:schemeClr val="accent5"/>
                </a:solidFill>
              </a:rPr>
              <a:t>/version&gt; </a:t>
            </a:r>
            <a:r>
              <a:rPr lang="en-US" dirty="0"/>
              <a:t>and</a:t>
            </a:r>
            <a:r>
              <a:rPr lang="en-US" b="1" i="1" dirty="0"/>
              <a:t> </a:t>
            </a:r>
            <a:r>
              <a:rPr lang="en-US" b="1" i="1" dirty="0">
                <a:solidFill>
                  <a:schemeClr val="accent5"/>
                </a:solidFill>
              </a:rPr>
              <a:t>npm publish</a:t>
            </a:r>
          </a:p>
          <a:p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874615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NPM– Popular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linkClick r:id="rId2"/>
              </a:rPr>
              <a:t>Underscore</a:t>
            </a:r>
            <a:r>
              <a:rPr lang="en-US" dirty="0"/>
              <a:t> – utility-belt library for js</a:t>
            </a:r>
          </a:p>
          <a:p>
            <a:r>
              <a:rPr lang="en-US" dirty="0">
                <a:hlinkClick r:id="rId3"/>
              </a:rPr>
              <a:t>Lodash</a:t>
            </a:r>
            <a:r>
              <a:rPr lang="en-US" dirty="0"/>
              <a:t> – inspired by underscore, and now is a superior solution</a:t>
            </a:r>
          </a:p>
          <a:p>
            <a:r>
              <a:rPr lang="en-US" dirty="0">
                <a:hlinkClick r:id="rId4"/>
              </a:rPr>
              <a:t>Moment</a:t>
            </a:r>
            <a:r>
              <a:rPr lang="en-US" dirty="0"/>
              <a:t> – working with dates</a:t>
            </a:r>
          </a:p>
          <a:p>
            <a:r>
              <a:rPr lang="en-US" dirty="0">
                <a:hlinkClick r:id="rId5"/>
              </a:rPr>
              <a:t>Q</a:t>
            </a:r>
            <a:r>
              <a:rPr lang="en-US" dirty="0"/>
              <a:t> / </a:t>
            </a:r>
            <a:r>
              <a:rPr lang="en-US" dirty="0">
                <a:hlinkClick r:id="rId6"/>
              </a:rPr>
              <a:t>Bluebird</a:t>
            </a:r>
            <a:r>
              <a:rPr lang="en-US" dirty="0"/>
              <a:t>– promise libraries</a:t>
            </a:r>
          </a:p>
          <a:p>
            <a:r>
              <a:rPr lang="en-US" dirty="0" err="1">
                <a:hlinkClick r:id="rId7"/>
              </a:rPr>
              <a:t>RxJS</a:t>
            </a:r>
            <a:r>
              <a:rPr lang="en-US" dirty="0"/>
              <a:t> – Reactive Extensions library</a:t>
            </a:r>
          </a:p>
          <a:p>
            <a:r>
              <a:rPr lang="en-US" dirty="0">
                <a:hlinkClick r:id="rId8"/>
              </a:rPr>
              <a:t>Chai </a:t>
            </a:r>
            <a:r>
              <a:rPr lang="en-US" dirty="0"/>
              <a:t>– assertion library</a:t>
            </a:r>
          </a:p>
          <a:p>
            <a:r>
              <a:rPr lang="en-US" dirty="0">
                <a:hlinkClick r:id="rId9"/>
              </a:rPr>
              <a:t>Supertest</a:t>
            </a:r>
            <a:r>
              <a:rPr lang="en-US" dirty="0"/>
              <a:t> – HTTP assertions (</a:t>
            </a:r>
            <a:r>
              <a:rPr lang="en-US" dirty="0" err="1"/>
              <a:t>api</a:t>
            </a:r>
            <a:r>
              <a:rPr lang="en-US" dirty="0"/>
              <a:t> tests)</a:t>
            </a:r>
          </a:p>
          <a:p>
            <a:r>
              <a:rPr lang="en-US" dirty="0">
                <a:hlinkClick r:id="rId10"/>
              </a:rPr>
              <a:t>PM2</a:t>
            </a:r>
            <a:r>
              <a:rPr lang="en-US" dirty="0"/>
              <a:t> – production process manager</a:t>
            </a:r>
          </a:p>
          <a:p>
            <a:r>
              <a:rPr lang="en-US" dirty="0">
                <a:hlinkClick r:id="rId11"/>
              </a:rPr>
              <a:t>Commander</a:t>
            </a:r>
            <a:r>
              <a:rPr lang="en-US" dirty="0"/>
              <a:t> - for Node.js command-line programs</a:t>
            </a:r>
          </a:p>
          <a:p>
            <a:r>
              <a:rPr lang="en-US" dirty="0" err="1">
                <a:hlinkClick r:id="rId12"/>
              </a:rPr>
              <a:t>Nodemon</a:t>
            </a:r>
            <a:r>
              <a:rPr lang="en-US" dirty="0">
                <a:hlinkClick r:id="rId12"/>
              </a:rPr>
              <a:t> </a:t>
            </a:r>
            <a:r>
              <a:rPr lang="en-US" dirty="0"/>
              <a:t>– auto reload after js change </a:t>
            </a:r>
          </a:p>
        </p:txBody>
      </p:sp>
    </p:spTree>
    <p:extLst>
      <p:ext uri="{BB962C8B-B14F-4D97-AF65-F5344CB8AC3E}">
        <p14:creationId xmlns:p14="http://schemas.microsoft.com/office/powerpoint/2010/main" val="94601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Running &amp; Debugging on Intellij / Webstorm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Understanding node.js</a:t>
            </a:r>
            <a:r>
              <a:rPr lang="en-US" dirty="0"/>
              <a:t> – old (2010) but well explained</a:t>
            </a:r>
          </a:p>
          <a:p>
            <a:r>
              <a:rPr lang="en-US" dirty="0">
                <a:hlinkClick r:id="rId4"/>
              </a:rPr>
              <a:t>The Event Loop and Non-Blocking I/O in Node.js</a:t>
            </a:r>
            <a:endParaRPr lang="en-US" dirty="0"/>
          </a:p>
          <a:p>
            <a:r>
              <a:rPr lang="en-US" dirty="0">
                <a:hlinkClick r:id="rId5"/>
              </a:rPr>
              <a:t>JavaScript Clean Coding Best Practices</a:t>
            </a:r>
            <a:endParaRPr lang="en-US" dirty="0"/>
          </a:p>
          <a:p>
            <a:r>
              <a:rPr lang="en-US" dirty="0">
                <a:hlinkClick r:id="rId6"/>
              </a:rPr>
              <a:t>10 Things I Regret About Node.js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0129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D0870B-5333-4B89-B14A-85A8EA464D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0</TotalTime>
  <Words>1110</Words>
  <Application>Microsoft Macintosh PowerPoint</Application>
  <PresentationFormat>Custom</PresentationFormat>
  <Paragraphs>164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Franklin Gothic Medium</vt:lpstr>
      <vt:lpstr>Business Contrast 16x9</vt:lpstr>
      <vt:lpstr>Node JS – part 1 Intro, modules, npm</vt:lpstr>
      <vt:lpstr>Node JS - Introduction</vt:lpstr>
      <vt:lpstr>Under The Hood</vt:lpstr>
      <vt:lpstr>Processing model</vt:lpstr>
      <vt:lpstr>Multi Threaded Server</vt:lpstr>
      <vt:lpstr>Node JS Server - Event-based Execution</vt:lpstr>
      <vt:lpstr>Modules</vt:lpstr>
      <vt:lpstr>Local Modules</vt:lpstr>
      <vt:lpstr>Local Modules</vt:lpstr>
      <vt:lpstr>Global Objects – process level</vt:lpstr>
      <vt:lpstr>Global Objects – module level</vt:lpstr>
      <vt:lpstr>setTimeout, setImmediate, nextTick </vt:lpstr>
      <vt:lpstr>Event Loop deep dive</vt:lpstr>
      <vt:lpstr>Event Loop deep dive</vt:lpstr>
      <vt:lpstr>Core Modules</vt:lpstr>
      <vt:lpstr>Core Modules - fs</vt:lpstr>
      <vt:lpstr>Exercise</vt:lpstr>
      <vt:lpstr>Core Modules - http</vt:lpstr>
      <vt:lpstr>Core Modules - http</vt:lpstr>
      <vt:lpstr>Core Modules – events</vt:lpstr>
      <vt:lpstr>Node Package Manager</vt:lpstr>
      <vt:lpstr>NPM– CLI</vt:lpstr>
      <vt:lpstr>NPM– CLI</vt:lpstr>
      <vt:lpstr>NPM– Popular Modules</vt:lpstr>
      <vt:lpstr>Links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cp:lastPrinted>2016-12-05T07:44:24Z</cp:lastPrinted>
  <dcterms:created xsi:type="dcterms:W3CDTF">2016-03-15T13:03:36Z</dcterms:created>
  <dcterms:modified xsi:type="dcterms:W3CDTF">2019-03-19T01:07:21Z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TC028952669991</vt:lpwstr>
  </property>
</Properties>
</file>