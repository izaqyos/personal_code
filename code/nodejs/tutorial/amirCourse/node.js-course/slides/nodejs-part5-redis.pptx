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4"/>
  </p:notesMasterIdLst>
  <p:handoutMasterIdLst>
    <p:handoutMasterId r:id="rId15"/>
  </p:handoutMasterIdLst>
  <p:sldIdLst>
    <p:sldId id="256" r:id="rId3"/>
    <p:sldId id="340" r:id="rId4"/>
    <p:sldId id="341" r:id="rId5"/>
    <p:sldId id="342" r:id="rId6"/>
    <p:sldId id="346" r:id="rId7"/>
    <p:sldId id="347" r:id="rId8"/>
    <p:sldId id="348" r:id="rId9"/>
    <p:sldId id="349" r:id="rId10"/>
    <p:sldId id="345" r:id="rId11"/>
    <p:sldId id="280" r:id="rId12"/>
    <p:sldId id="277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9" autoAdjust="0"/>
    <p:restoredTop sz="94660"/>
  </p:normalViewPr>
  <p:slideViewPr>
    <p:cSldViewPr showGuides="1">
      <p:cViewPr varScale="1">
        <p:scale>
          <a:sx n="112" d="100"/>
          <a:sy n="112" d="100"/>
        </p:scale>
        <p:origin x="312" y="19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12/5/16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12/5/16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12/5/16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12/5/16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topics/pubsub" TargetMode="External"/><Relationship Id="rId4" Type="http://schemas.openxmlformats.org/officeDocument/2006/relationships/hyperlink" Target="https://redis.io/commands/expire" TargetMode="External"/><Relationship Id="rId5" Type="http://schemas.openxmlformats.org/officeDocument/2006/relationships/hyperlink" Target="https://github.com/tj/connect-redis" TargetMode="External"/><Relationship Id="rId6" Type="http://schemas.openxmlformats.org/officeDocument/2006/relationships/hyperlink" Target="https://github.com/azuqua/jwt-redis-session" TargetMode="External"/><Relationship Id="rId7" Type="http://schemas.openxmlformats.org/officeDocument/2006/relationships/hyperlink" Target="https://github.com/socketio/socket.io-redis" TargetMode="External"/><Relationship Id="rId8" Type="http://schemas.openxmlformats.org/officeDocument/2006/relationships/hyperlink" Target="https://redis.io/commands" TargetMode="External"/><Relationship Id="rId9" Type="http://schemas.openxmlformats.org/officeDocument/2006/relationships/hyperlink" Target="https://redis.io/topics/rediscli" TargetMode="External"/><Relationship Id="rId10" Type="http://schemas.openxmlformats.org/officeDocument/2006/relationships/hyperlink" Target="https://redis.io/commands/eva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deRedis/node_redis" TargetMode="External"/><Relationship Id="rId4" Type="http://schemas.openxmlformats.org/officeDocument/2006/relationships/hyperlink" Target="http://bluebirdjs.com/docs/getting-started.html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commands#string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commands#hash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commands#list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commands#set" TargetMode="Externa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edis.io/" TargetMode="External"/><Relationship Id="rId3" Type="http://schemas.openxmlformats.org/officeDocument/2006/relationships/hyperlink" Target="https://github.com/NodeRedis/node_redis#publish--subscrib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commands" TargetMode="External"/><Relationship Id="rId4" Type="http://schemas.openxmlformats.org/officeDocument/2006/relationships/hyperlink" Target="https://www.sitepoint.com/using-redis-node-js/" TargetMode="External"/><Relationship Id="rId5" Type="http://schemas.openxmlformats.org/officeDocument/2006/relationships/hyperlink" Target="https://codeforgeek.com/2015/07/using-redis-to-handle-session-in-node-js/" TargetMode="External"/><Relationship Id="rId6" Type="http://schemas.openxmlformats.org/officeDocument/2006/relationships/hyperlink" Target="http://redistogo.com/" TargetMode="External"/><Relationship Id="rId7" Type="http://schemas.openxmlformats.org/officeDocument/2006/relationships/hyperlink" Target="https://redislabs.com/pricing?service=redis" TargetMode="External"/><Relationship Id="rId8" Type="http://schemas.openxmlformats.org/officeDocument/2006/relationships/hyperlink" Target="http://apmblog.dynatrace.com/2015/11/04/understanding-garbage-collection-and-hunting-memory-leaks-in-node-js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ry.redis.io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10285782" cy="2514601"/>
          </a:xfrm>
        </p:spPr>
        <p:txBody>
          <a:bodyPr/>
          <a:lstStyle/>
          <a:p>
            <a:r>
              <a:rPr lang="en-US" dirty="0" smtClean="0"/>
              <a:t>Node JS - part 5 </a:t>
            </a:r>
            <a:r>
              <a:rPr lang="en-US" smtClean="0"/>
              <a:t/>
            </a:r>
            <a:br>
              <a:rPr lang="en-US" smtClean="0"/>
            </a:br>
            <a:r>
              <a:rPr lang="en-US" sz="4400" smtClean="0"/>
              <a:t>Redis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 smtClean="0"/>
              <a:t>Amir Yahalom, SAP.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8686801" cy="4768552"/>
          </a:xfrm>
        </p:spPr>
        <p:txBody>
          <a:bodyPr>
            <a:normAutofit/>
          </a:bodyPr>
          <a:lstStyle/>
          <a:p>
            <a:r>
              <a:rPr lang="en-US" dirty="0" smtClean="0"/>
              <a:t>Fast key-value </a:t>
            </a:r>
            <a:r>
              <a:rPr lang="en-US" dirty="0"/>
              <a:t>database</a:t>
            </a:r>
          </a:p>
          <a:p>
            <a:r>
              <a:rPr lang="en-US" dirty="0" smtClean="0"/>
              <a:t>Provides cool features such as:</a:t>
            </a:r>
          </a:p>
          <a:p>
            <a:pPr lvl="1"/>
            <a:r>
              <a:rPr lang="en-US" dirty="0" smtClean="0">
                <a:hlinkClick r:id="rId3"/>
              </a:rPr>
              <a:t>pub/sub </a:t>
            </a:r>
            <a:r>
              <a:rPr lang="en-US" dirty="0">
                <a:hlinkClick r:id="rId3"/>
              </a:rPr>
              <a:t>messaging </a:t>
            </a:r>
            <a:endParaRPr lang="en-US" dirty="0" smtClean="0"/>
          </a:p>
          <a:p>
            <a:pPr lvl="1"/>
            <a:r>
              <a:rPr lang="en-US" dirty="0" err="1" smtClean="0">
                <a:hlinkClick r:id="rId4"/>
              </a:rPr>
              <a:t>ttl</a:t>
            </a:r>
            <a:r>
              <a:rPr lang="en-US" dirty="0">
                <a:hlinkClick r:id="rId4"/>
              </a:rPr>
              <a:t> </a:t>
            </a:r>
            <a:r>
              <a:rPr lang="en-US" dirty="0" smtClean="0">
                <a:hlinkClick r:id="rId4"/>
              </a:rPr>
              <a:t>for keys</a:t>
            </a:r>
            <a:endParaRPr lang="en-US" dirty="0" smtClean="0"/>
          </a:p>
          <a:p>
            <a:r>
              <a:rPr lang="en-US" dirty="0" smtClean="0"/>
              <a:t>Used </a:t>
            </a:r>
            <a:r>
              <a:rPr lang="en-US" dirty="0"/>
              <a:t>as a </a:t>
            </a:r>
            <a:r>
              <a:rPr lang="en-US" b="1" dirty="0"/>
              <a:t>database</a:t>
            </a:r>
            <a:r>
              <a:rPr lang="en-US" dirty="0"/>
              <a:t>, </a:t>
            </a:r>
            <a:r>
              <a:rPr lang="en-US" b="1" dirty="0"/>
              <a:t>cache</a:t>
            </a:r>
            <a:r>
              <a:rPr lang="en-US" dirty="0"/>
              <a:t> </a:t>
            </a:r>
            <a:r>
              <a:rPr lang="en-US" dirty="0" smtClean="0"/>
              <a:t>or </a:t>
            </a:r>
            <a:r>
              <a:rPr lang="en-US" b="1" dirty="0"/>
              <a:t>message </a:t>
            </a:r>
            <a:r>
              <a:rPr lang="en-US" b="1" dirty="0" smtClean="0"/>
              <a:t>broker</a:t>
            </a:r>
          </a:p>
          <a:p>
            <a:pPr lvl="1"/>
            <a:r>
              <a:rPr lang="en-US" dirty="0" smtClean="0">
                <a:hlinkClick r:id="rId5"/>
              </a:rPr>
              <a:t>connect-redis</a:t>
            </a:r>
            <a:r>
              <a:rPr lang="en-US" dirty="0" smtClean="0"/>
              <a:t> – session store for express/connect</a:t>
            </a:r>
          </a:p>
          <a:p>
            <a:pPr lvl="1"/>
            <a:r>
              <a:rPr lang="en-US" dirty="0" smtClean="0">
                <a:hlinkClick r:id="rId6"/>
              </a:rPr>
              <a:t>jwt-redis-session</a:t>
            </a:r>
            <a:r>
              <a:rPr lang="en-US" dirty="0" smtClean="0"/>
              <a:t> - </a:t>
            </a:r>
            <a:r>
              <a:rPr lang="en-US" dirty="0"/>
              <a:t>JSON Web Token session middleware</a:t>
            </a:r>
            <a:endParaRPr lang="en-US" dirty="0" smtClean="0"/>
          </a:p>
          <a:p>
            <a:pPr lvl="1"/>
            <a:r>
              <a:rPr lang="en-US" dirty="0" smtClean="0">
                <a:hlinkClick r:id="rId7"/>
              </a:rPr>
              <a:t>socket.io-redis</a:t>
            </a:r>
            <a:r>
              <a:rPr lang="en-US" dirty="0" smtClean="0"/>
              <a:t> </a:t>
            </a:r>
            <a:r>
              <a:rPr lang="en-US" dirty="0"/>
              <a:t>– enables to run multiple </a:t>
            </a:r>
            <a:r>
              <a:rPr lang="en-US" dirty="0" smtClean="0"/>
              <a:t>Socket.io instances</a:t>
            </a:r>
          </a:p>
          <a:p>
            <a:r>
              <a:rPr lang="en-US" dirty="0" smtClean="0"/>
              <a:t>Rich set of </a:t>
            </a:r>
            <a:r>
              <a:rPr lang="en-US" dirty="0" smtClean="0">
                <a:hlinkClick r:id="rId8"/>
              </a:rPr>
              <a:t>commands</a:t>
            </a:r>
            <a:endParaRPr lang="en-US" dirty="0" smtClean="0"/>
          </a:p>
          <a:p>
            <a:r>
              <a:rPr lang="en-US" dirty="0" smtClean="0">
                <a:hlinkClick r:id="rId9"/>
              </a:rPr>
              <a:t>CLI</a:t>
            </a:r>
            <a:endParaRPr lang="en-US" dirty="0"/>
          </a:p>
          <a:p>
            <a:r>
              <a:rPr lang="en-US" dirty="0" smtClean="0">
                <a:hlinkClick r:id="rId10"/>
              </a:rPr>
              <a:t>Lua scripting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74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</a:t>
            </a:r>
            <a:r>
              <a:rPr lang="en-US" dirty="0" smtClean="0"/>
              <a:t>– Node.js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9853736" cy="4191000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node_redis</a:t>
            </a:r>
            <a:r>
              <a:rPr lang="en-US" dirty="0" smtClean="0"/>
              <a:t> is a Redis client for Node.js</a:t>
            </a:r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dirty="0" smtClean="0"/>
              <a:t>The API </a:t>
            </a:r>
            <a:r>
              <a:rPr lang="en-US" dirty="0"/>
              <a:t>is entirely asynchronous </a:t>
            </a:r>
            <a:r>
              <a:rPr lang="en-US" dirty="0" smtClean="0"/>
              <a:t>and includes all </a:t>
            </a:r>
            <a:r>
              <a:rPr lang="en-US" dirty="0" err="1" smtClean="0"/>
              <a:t>redis</a:t>
            </a:r>
            <a:r>
              <a:rPr lang="en-US" dirty="0" smtClean="0"/>
              <a:t> commands (lower cased) :</a:t>
            </a:r>
          </a:p>
          <a:p>
            <a:pPr lvl="1"/>
            <a:r>
              <a:rPr lang="en-US" dirty="0"/>
              <a:t>node style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err="1" smtClean="0"/>
              <a:t>client.get</a:t>
            </a:r>
            <a:r>
              <a:rPr lang="en-US" dirty="0" smtClean="0"/>
              <a:t>(key, function </a:t>
            </a:r>
            <a:r>
              <a:rPr lang="en-US" dirty="0"/>
              <a:t>(</a:t>
            </a:r>
            <a:r>
              <a:rPr lang="en-US" dirty="0"/>
              <a:t>err</a:t>
            </a:r>
            <a:r>
              <a:rPr lang="en-US" dirty="0"/>
              <a:t>, </a:t>
            </a:r>
            <a:r>
              <a:rPr lang="en-US" dirty="0" smtClean="0"/>
              <a:t>replies) {</a:t>
            </a:r>
            <a:r>
              <a:rPr lang="is-IS" dirty="0" smtClean="0"/>
              <a:t>…</a:t>
            </a:r>
            <a:r>
              <a:rPr lang="en-US" dirty="0" smtClean="0"/>
              <a:t>})</a:t>
            </a:r>
            <a:endParaRPr lang="en-US" b="1" dirty="0"/>
          </a:p>
          <a:p>
            <a:pPr lvl="1"/>
            <a:r>
              <a:rPr lang="en-US" dirty="0" smtClean="0"/>
              <a:t>You can use q to </a:t>
            </a:r>
            <a:r>
              <a:rPr lang="en-US" dirty="0" err="1" smtClean="0"/>
              <a:t>promisify</a:t>
            </a:r>
            <a:r>
              <a:rPr lang="en-US" dirty="0" smtClean="0"/>
              <a:t> </a:t>
            </a:r>
            <a:r>
              <a:rPr lang="en-US" dirty="0" smtClean="0"/>
              <a:t>desired methods (or </a:t>
            </a:r>
            <a:r>
              <a:rPr lang="en-US" dirty="0" smtClean="0">
                <a:hlinkClick r:id="rId4"/>
              </a:rPr>
              <a:t>bluebird </a:t>
            </a:r>
            <a:r>
              <a:rPr lang="en-US" dirty="0" smtClean="0"/>
              <a:t>to </a:t>
            </a:r>
            <a:r>
              <a:rPr lang="en-US" dirty="0" err="1" smtClean="0"/>
              <a:t>promisifyAll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341884" y="2276872"/>
            <a:ext cx="5516984" cy="723900"/>
            <a:chOff x="3136900" y="3060700"/>
            <a:chExt cx="5516984" cy="7239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66" t="877" r="6643" b="-877"/>
            <a:stretch/>
          </p:blipFill>
          <p:spPr>
            <a:xfrm>
              <a:off x="3136900" y="3060700"/>
              <a:ext cx="5516984" cy="7239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2084" y="3422650"/>
              <a:ext cx="5511800" cy="355600"/>
            </a:xfrm>
            <a:prstGeom prst="rect">
              <a:avLst/>
            </a:prstGeom>
          </p:spPr>
        </p:pic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868" y="5356225"/>
            <a:ext cx="7023100" cy="1333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868" y="4543768"/>
            <a:ext cx="54610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/>
              <a:t>Storing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</a:t>
            </a:r>
            <a:r>
              <a:rPr lang="en-US" dirty="0" smtClean="0">
                <a:hlinkClick r:id="rId3"/>
              </a:rPr>
              <a:t>Strings</a:t>
            </a:r>
            <a:endParaRPr lang="en-US" dirty="0" smtClean="0"/>
          </a:p>
          <a:p>
            <a:pPr lvl="1"/>
            <a:r>
              <a:rPr lang="en-US" dirty="0" smtClean="0"/>
              <a:t>You can use both array or </a:t>
            </a:r>
            <a:r>
              <a:rPr lang="en-US" dirty="0" err="1" smtClean="0"/>
              <a:t>args</a:t>
            </a:r>
            <a:r>
              <a:rPr lang="en-US" dirty="0" smtClean="0"/>
              <a:t> to provide parameters</a:t>
            </a:r>
          </a:p>
          <a:p>
            <a:pPr lvl="1"/>
            <a:endParaRPr lang="en-US" b="1" dirty="0"/>
          </a:p>
          <a:p>
            <a:pPr lvl="1"/>
            <a:endParaRPr lang="en-US" b="1" dirty="0" smtClean="0"/>
          </a:p>
          <a:p>
            <a:pPr lvl="1"/>
            <a:endParaRPr lang="en-US" b="1" dirty="0"/>
          </a:p>
          <a:p>
            <a:pPr lvl="1"/>
            <a:r>
              <a:rPr lang="en-US" dirty="0" smtClean="0"/>
              <a:t>If you want to get notified once the operation is completed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Retrieve value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192" y="2600960"/>
            <a:ext cx="4673600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192" y="3137535"/>
            <a:ext cx="4864100" cy="393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08" y="4153892"/>
            <a:ext cx="7366000" cy="1003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08" y="5746750"/>
            <a:ext cx="57785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6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/>
              <a:t>Storing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</a:t>
            </a:r>
            <a:r>
              <a:rPr lang="en-US" dirty="0" smtClean="0">
                <a:hlinkClick r:id="rId3"/>
              </a:rPr>
              <a:t>Hashes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Or </a:t>
            </a:r>
          </a:p>
          <a:p>
            <a:pPr lvl="1"/>
            <a:endParaRPr lang="en-US" dirty="0"/>
          </a:p>
          <a:p>
            <a:r>
              <a:rPr lang="en-US" dirty="0" smtClean="0"/>
              <a:t>Retrieve the whole hash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92" y="3943702"/>
            <a:ext cx="7378700" cy="419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92" y="4869160"/>
            <a:ext cx="6515100" cy="1016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000" y="1988840"/>
            <a:ext cx="3746500" cy="158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67228" y="1989544"/>
            <a:ext cx="3369569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Use </a:t>
            </a:r>
            <a:r>
              <a:rPr lang="en-US" sz="2000" b="1" i="1" dirty="0" err="1" smtClean="0"/>
              <a:t>hset</a:t>
            </a:r>
            <a:r>
              <a:rPr lang="en-US" sz="2000" b="1" i="1" dirty="0" smtClean="0"/>
              <a:t>()</a:t>
            </a:r>
            <a:r>
              <a:rPr lang="en-US" sz="2000" dirty="0" smtClean="0"/>
              <a:t> / </a:t>
            </a:r>
            <a:r>
              <a:rPr lang="en-US" sz="2000" b="1" i="1" dirty="0" err="1" smtClean="0"/>
              <a:t>hget</a:t>
            </a:r>
            <a:r>
              <a:rPr lang="en-US" sz="2000" b="1" i="1" dirty="0" smtClean="0"/>
              <a:t>()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2000" dirty="0" smtClean="0"/>
              <a:t>for single hash property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0679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/>
              <a:t>Storing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</a:t>
            </a:r>
            <a:r>
              <a:rPr lang="en-US" dirty="0">
                <a:hlinkClick r:id="rId3"/>
              </a:rPr>
              <a:t>Lists</a:t>
            </a:r>
            <a:endParaRPr lang="en-US" dirty="0"/>
          </a:p>
          <a:p>
            <a:pPr lvl="1"/>
            <a:r>
              <a:rPr lang="en-US" b="1" i="1" dirty="0" smtClean="0"/>
              <a:t>RPUSH</a:t>
            </a:r>
            <a:r>
              <a:rPr lang="en-US" dirty="0" smtClean="0"/>
              <a:t> </a:t>
            </a:r>
            <a:r>
              <a:rPr lang="en-US" dirty="0" smtClean="0">
                <a:sym typeface="Wingdings"/>
              </a:rPr>
              <a:t> append to list; </a:t>
            </a:r>
            <a:r>
              <a:rPr lang="en-US" b="1" i="1" dirty="0" smtClean="0">
                <a:sym typeface="Wingdings"/>
              </a:rPr>
              <a:t>LPUSH</a:t>
            </a:r>
            <a:r>
              <a:rPr lang="en-US" dirty="0" smtClean="0">
                <a:sym typeface="Wingdings"/>
              </a:rPr>
              <a:t>  prepend to list</a:t>
            </a:r>
          </a:p>
          <a:p>
            <a:pPr lvl="1"/>
            <a:endParaRPr lang="en-US" dirty="0">
              <a:sym typeface="Wingdings"/>
            </a:endParaRPr>
          </a:p>
          <a:p>
            <a:pPr lvl="1"/>
            <a:endParaRPr lang="en-US" dirty="0" smtClean="0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Retrieve elements from </a:t>
            </a:r>
            <a:r>
              <a:rPr lang="en-US" dirty="0" smtClean="0">
                <a:sym typeface="Wingdings"/>
              </a:rPr>
              <a:t>a list by start &amp; end indexes, (-1 </a:t>
            </a:r>
            <a:r>
              <a:rPr lang="en-US" dirty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all)</a:t>
            </a:r>
            <a:endParaRPr lang="en-US" dirty="0"/>
          </a:p>
          <a:p>
            <a:pPr lvl="1"/>
            <a:endParaRPr lang="en-US" dirty="0">
              <a:sym typeface="Wingdings"/>
            </a:endParaRPr>
          </a:p>
          <a:p>
            <a:pPr lvl="1"/>
            <a:endParaRPr lang="en-US" dirty="0" smtClean="0">
              <a:sym typeface="Wingdings"/>
            </a:endParaRPr>
          </a:p>
          <a:p>
            <a:pPr lvl="1"/>
            <a:endParaRPr lang="en-US" b="1" i="1" dirty="0" smtClean="0">
              <a:sym typeface="Wingdings"/>
            </a:endParaRPr>
          </a:p>
          <a:p>
            <a:pPr lvl="1"/>
            <a:r>
              <a:rPr lang="en-US" b="1" i="1" dirty="0" smtClean="0">
                <a:sym typeface="Wingdings"/>
              </a:rPr>
              <a:t>LPOP</a:t>
            </a:r>
            <a:r>
              <a:rPr lang="en-US" dirty="0" smtClean="0">
                <a:sym typeface="Wingdings"/>
              </a:rPr>
              <a:t> </a:t>
            </a:r>
            <a:r>
              <a:rPr lang="en-US" dirty="0">
                <a:sym typeface="Wingdings"/>
              </a:rPr>
              <a:t> remove and get first element; </a:t>
            </a:r>
            <a:r>
              <a:rPr lang="en-US" b="1" i="1" dirty="0">
                <a:sym typeface="Wingdings"/>
              </a:rPr>
              <a:t>RPOP</a:t>
            </a:r>
            <a:r>
              <a:rPr lang="en-US" dirty="0">
                <a:sym typeface="Wingdings"/>
              </a:rPr>
              <a:t>  remove and get last element</a:t>
            </a:r>
          </a:p>
          <a:p>
            <a:pPr lvl="1"/>
            <a:endParaRPr lang="en-US" dirty="0">
              <a:sym typeface="Wingding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68" y="2564904"/>
            <a:ext cx="9448800" cy="1041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68" y="4122353"/>
            <a:ext cx="7073900" cy="977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68" y="5616302"/>
            <a:ext cx="6019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8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/>
              <a:t>Storing Key-Value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</a:t>
            </a:r>
            <a:r>
              <a:rPr lang="en-US" dirty="0" smtClean="0">
                <a:hlinkClick r:id="rId3"/>
              </a:rPr>
              <a:t>Sets</a:t>
            </a:r>
            <a:endParaRPr lang="en-US" dirty="0" smtClean="0"/>
          </a:p>
          <a:p>
            <a:pPr lvl="1"/>
            <a:r>
              <a:rPr lang="en-US" b="1" i="1" dirty="0" smtClean="0"/>
              <a:t>SADD </a:t>
            </a:r>
            <a:r>
              <a:rPr lang="en-US" dirty="0" smtClean="0">
                <a:sym typeface="Wingdings"/>
              </a:rPr>
              <a:t> add one or more members to a set</a:t>
            </a:r>
          </a:p>
          <a:p>
            <a:pPr lvl="1"/>
            <a:endParaRPr lang="en-US" dirty="0">
              <a:sym typeface="Wingdings"/>
            </a:endParaRPr>
          </a:p>
          <a:p>
            <a:pPr lvl="1"/>
            <a:endParaRPr lang="en-US" dirty="0" smtClean="0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  <a:p>
            <a:pPr lvl="1"/>
            <a:r>
              <a:rPr lang="en-US" b="1" i="1" dirty="0" smtClean="0">
                <a:sym typeface="Wingdings"/>
              </a:rPr>
              <a:t>SMEMBERS </a:t>
            </a:r>
            <a:r>
              <a:rPr lang="en-US" dirty="0" smtClean="0">
                <a:sym typeface="Wingdings"/>
              </a:rPr>
              <a:t> get all members in a set</a:t>
            </a:r>
          </a:p>
          <a:p>
            <a:pPr lvl="1"/>
            <a:endParaRPr lang="en-US" dirty="0">
              <a:sym typeface="Wingdings"/>
            </a:endParaRPr>
          </a:p>
          <a:p>
            <a:pPr lvl="1"/>
            <a:endParaRPr lang="en-US" dirty="0" smtClean="0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  <a:p>
            <a:pPr lvl="1"/>
            <a:r>
              <a:rPr lang="en-US" b="1" i="1" dirty="0" smtClean="0">
                <a:sym typeface="Wingdings"/>
              </a:rPr>
              <a:t>SISMEMBER key member</a:t>
            </a:r>
            <a:r>
              <a:rPr lang="en-US" dirty="0" smtClean="0">
                <a:sym typeface="Wingdings"/>
              </a:rPr>
              <a:t> </a:t>
            </a:r>
            <a:r>
              <a:rPr lang="en-US" dirty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determine if a given value is a member of a set</a:t>
            </a:r>
            <a:endParaRPr lang="en-US" dirty="0"/>
          </a:p>
          <a:p>
            <a:pPr lvl="1"/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4149080"/>
            <a:ext cx="5765800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2608108"/>
            <a:ext cx="10058400" cy="94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9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</a:t>
            </a:r>
            <a:r>
              <a:rPr lang="en-US" dirty="0" smtClean="0"/>
              <a:t>– </a:t>
            </a:r>
            <a:r>
              <a:rPr lang="en-US" dirty="0" smtClean="0"/>
              <a:t>More </a:t>
            </a:r>
            <a:r>
              <a:rPr lang="en-US" dirty="0"/>
              <a:t>C</a:t>
            </a:r>
            <a:r>
              <a:rPr lang="en-US" dirty="0" smtClean="0"/>
              <a:t>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 smtClean="0"/>
              <a:t>EXISTS </a:t>
            </a:r>
            <a:r>
              <a:rPr lang="en-US" dirty="0" smtClean="0">
                <a:sym typeface="Wingdings"/>
              </a:rPr>
              <a:t> determine if a key exists</a:t>
            </a:r>
            <a:r>
              <a:rPr lang="en-US" dirty="0">
                <a:sym typeface="Wingdings"/>
              </a:rPr>
              <a:t>; </a:t>
            </a:r>
            <a:r>
              <a:rPr lang="en-US" b="1" i="1" dirty="0" smtClean="0">
                <a:sym typeface="Wingdings"/>
              </a:rPr>
              <a:t>HEXISTS </a:t>
            </a:r>
            <a:r>
              <a:rPr lang="en-US" dirty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if a hash field exists</a:t>
            </a:r>
          </a:p>
          <a:p>
            <a:endParaRPr lang="en-US" dirty="0" smtClean="0">
              <a:sym typeface="Wingdings"/>
            </a:endParaRPr>
          </a:p>
          <a:p>
            <a:endParaRPr lang="en-US" dirty="0">
              <a:sym typeface="Wingdings"/>
            </a:endParaRPr>
          </a:p>
          <a:p>
            <a:r>
              <a:rPr lang="en-US" b="1" i="1" dirty="0" smtClean="0">
                <a:sym typeface="Wingdings"/>
              </a:rPr>
              <a:t>DEL </a:t>
            </a:r>
            <a:r>
              <a:rPr lang="en-US" dirty="0" smtClean="0">
                <a:sym typeface="Wingdings"/>
              </a:rPr>
              <a:t> delete a key; </a:t>
            </a:r>
            <a:r>
              <a:rPr lang="en-US" b="1" i="1" dirty="0" smtClean="0">
                <a:sym typeface="Wingdings"/>
              </a:rPr>
              <a:t>HDEL </a:t>
            </a:r>
            <a:r>
              <a:rPr lang="en-US" dirty="0">
                <a:sym typeface="Wingdings"/>
              </a:rPr>
              <a:t> </a:t>
            </a:r>
            <a:r>
              <a:rPr lang="en-US" dirty="0" smtClean="0">
                <a:sym typeface="Wingdings"/>
              </a:rPr>
              <a:t>delete one or more hash fields</a:t>
            </a:r>
          </a:p>
          <a:p>
            <a:endParaRPr lang="en-US" dirty="0">
              <a:sym typeface="Wingdings"/>
            </a:endParaRPr>
          </a:p>
          <a:p>
            <a:endParaRPr lang="en-US" dirty="0">
              <a:sym typeface="Wingdings"/>
            </a:endParaRPr>
          </a:p>
          <a:p>
            <a:r>
              <a:rPr lang="en-US" b="1" i="1" dirty="0" smtClean="0">
                <a:sym typeface="Wingdings"/>
              </a:rPr>
              <a:t>EXPIRE </a:t>
            </a:r>
            <a:r>
              <a:rPr lang="en-US" dirty="0" smtClean="0">
                <a:sym typeface="Wingdings"/>
              </a:rPr>
              <a:t> set time to live (sec); PEXPIRE  same in ms</a:t>
            </a:r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76" y="2165608"/>
            <a:ext cx="5461000" cy="1092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76" y="3789040"/>
            <a:ext cx="5880100" cy="101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76" y="5341868"/>
            <a:ext cx="34798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7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Redis</a:t>
            </a:r>
            <a:r>
              <a:rPr lang="en-US" dirty="0" smtClean="0"/>
              <a:t> – </a:t>
            </a:r>
            <a:r>
              <a:rPr lang="en-US" dirty="0" smtClean="0">
                <a:hlinkClick r:id="rId3"/>
              </a:rPr>
              <a:t>pub/sub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868" y="1844824"/>
            <a:ext cx="9433048" cy="4191000"/>
          </a:xfrm>
        </p:spPr>
        <p:txBody>
          <a:bodyPr/>
          <a:lstStyle/>
          <a:p>
            <a:r>
              <a:rPr lang="en-US" dirty="0"/>
              <a:t>pub/sub </a:t>
            </a:r>
            <a:r>
              <a:rPr lang="en-US" dirty="0" smtClean="0"/>
              <a:t>is </a:t>
            </a:r>
            <a:r>
              <a:rPr lang="en-US" dirty="0"/>
              <a:t>a messaging </a:t>
            </a:r>
            <a:r>
              <a:rPr lang="en-US" dirty="0" smtClean="0"/>
              <a:t>pattern. Publisher/s </a:t>
            </a:r>
            <a:r>
              <a:rPr lang="en-US" dirty="0"/>
              <a:t>sending messages to multiple subscribers listening for messages on specific channels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13892" y="2708920"/>
            <a:ext cx="7416824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71D5D"/>
                </a:solidFill>
              </a:rPr>
              <a:t>var</a:t>
            </a:r>
            <a:r>
              <a:rPr lang="en-US" dirty="0"/>
              <a:t> </a:t>
            </a:r>
            <a:r>
              <a:rPr lang="en-US" dirty="0" err="1"/>
              <a:t>redis</a:t>
            </a:r>
            <a:r>
              <a:rPr lang="en-US" dirty="0"/>
              <a:t> </a:t>
            </a:r>
            <a:r>
              <a:rPr lang="en-US" dirty="0">
                <a:solidFill>
                  <a:srgbClr val="A71D5D"/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0086B3"/>
                </a:solidFill>
              </a:rPr>
              <a:t>require</a:t>
            </a:r>
            <a:r>
              <a:rPr lang="en-US" dirty="0"/>
              <a:t>(</a:t>
            </a:r>
            <a:r>
              <a:rPr lang="en-US" dirty="0">
                <a:solidFill>
                  <a:srgbClr val="183691"/>
                </a:solidFill>
              </a:rPr>
              <a:t>"</a:t>
            </a:r>
            <a:r>
              <a:rPr lang="en-US" dirty="0" err="1">
                <a:solidFill>
                  <a:srgbClr val="183691"/>
                </a:solidFill>
              </a:rPr>
              <a:t>redis</a:t>
            </a:r>
            <a:r>
              <a:rPr lang="en-US" dirty="0">
                <a:solidFill>
                  <a:srgbClr val="183691"/>
                </a:solidFill>
              </a:rPr>
              <a:t>"</a:t>
            </a:r>
            <a:r>
              <a:rPr lang="en-US" dirty="0"/>
              <a:t>); </a:t>
            </a:r>
            <a:endParaRPr lang="en-US" dirty="0" smtClean="0"/>
          </a:p>
          <a:p>
            <a:r>
              <a:rPr lang="en-US" dirty="0" smtClean="0">
                <a:solidFill>
                  <a:srgbClr val="A71D5D"/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/>
              <a:t>sub </a:t>
            </a:r>
            <a:r>
              <a:rPr lang="en-US" dirty="0">
                <a:solidFill>
                  <a:srgbClr val="A71D5D"/>
                </a:solidFill>
              </a:rPr>
              <a:t>=</a:t>
            </a:r>
            <a:r>
              <a:rPr lang="en-US" dirty="0"/>
              <a:t> </a:t>
            </a:r>
            <a:r>
              <a:rPr lang="en-US" dirty="0" err="1">
                <a:solidFill>
                  <a:srgbClr val="333333"/>
                </a:solidFill>
              </a:rPr>
              <a:t>redis</a:t>
            </a:r>
            <a:r>
              <a:rPr lang="en-US" dirty="0" err="1"/>
              <a:t>.</a:t>
            </a:r>
            <a:r>
              <a:rPr lang="en-US" dirty="0" err="1">
                <a:solidFill>
                  <a:srgbClr val="795DA3"/>
                </a:solidFill>
              </a:rPr>
              <a:t>createClient</a:t>
            </a:r>
            <a:r>
              <a:rPr lang="en-US" dirty="0"/>
              <a:t>(), pub </a:t>
            </a:r>
            <a:r>
              <a:rPr lang="en-US" dirty="0">
                <a:solidFill>
                  <a:srgbClr val="A71D5D"/>
                </a:solidFill>
              </a:rPr>
              <a:t>=</a:t>
            </a:r>
            <a:r>
              <a:rPr lang="en-US" dirty="0"/>
              <a:t> </a:t>
            </a:r>
            <a:r>
              <a:rPr lang="en-US" dirty="0" err="1">
                <a:solidFill>
                  <a:srgbClr val="333333"/>
                </a:solidFill>
              </a:rPr>
              <a:t>redis</a:t>
            </a:r>
            <a:r>
              <a:rPr lang="en-US" dirty="0" err="1"/>
              <a:t>.</a:t>
            </a:r>
            <a:r>
              <a:rPr lang="en-US" dirty="0" err="1">
                <a:solidFill>
                  <a:srgbClr val="795DA3"/>
                </a:solidFill>
              </a:rPr>
              <a:t>createClient</a:t>
            </a:r>
            <a:r>
              <a:rPr lang="en-US" dirty="0"/>
              <a:t>(); </a:t>
            </a:r>
          </a:p>
          <a:p>
            <a:endParaRPr lang="en-US" dirty="0">
              <a:solidFill>
                <a:srgbClr val="333333"/>
              </a:solidFill>
            </a:endParaRPr>
          </a:p>
          <a:p>
            <a:r>
              <a:rPr lang="en-US" dirty="0" err="1" smtClean="0">
                <a:solidFill>
                  <a:srgbClr val="333333"/>
                </a:solidFill>
              </a:rPr>
              <a:t>sub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rgbClr val="795DA3"/>
                </a:solidFill>
              </a:rPr>
              <a:t>on</a:t>
            </a:r>
            <a:r>
              <a:rPr lang="en-US" dirty="0"/>
              <a:t>(</a:t>
            </a:r>
            <a:r>
              <a:rPr lang="en-US" dirty="0">
                <a:solidFill>
                  <a:srgbClr val="183691"/>
                </a:solidFill>
              </a:rPr>
              <a:t>"subscribe"</a:t>
            </a:r>
            <a:r>
              <a:rPr lang="en-US" dirty="0"/>
              <a:t>, </a:t>
            </a:r>
            <a:r>
              <a:rPr lang="en-US" dirty="0">
                <a:solidFill>
                  <a:srgbClr val="A71D5D"/>
                </a:solidFill>
              </a:rPr>
              <a:t>function</a:t>
            </a:r>
            <a:r>
              <a:rPr lang="en-US" dirty="0"/>
              <a:t> (</a:t>
            </a:r>
            <a:r>
              <a:rPr lang="en-US" dirty="0">
                <a:solidFill>
                  <a:srgbClr val="333333"/>
                </a:solidFill>
              </a:rPr>
              <a:t>channel</a:t>
            </a:r>
            <a:r>
              <a:rPr lang="en-US" dirty="0"/>
              <a:t>, </a:t>
            </a:r>
            <a:r>
              <a:rPr lang="en-US" dirty="0">
                <a:solidFill>
                  <a:srgbClr val="333333"/>
                </a:solidFill>
              </a:rPr>
              <a:t>count</a:t>
            </a:r>
            <a:r>
              <a:rPr lang="en-US" dirty="0"/>
              <a:t>) </a:t>
            </a:r>
            <a:r>
              <a:rPr lang="en-US" dirty="0" smtClean="0"/>
              <a:t>{</a:t>
            </a:r>
          </a:p>
          <a:p>
            <a:r>
              <a:rPr lang="en-US" dirty="0">
                <a:solidFill>
                  <a:srgbClr val="333333"/>
                </a:solidFill>
              </a:rPr>
              <a:t>	</a:t>
            </a:r>
            <a:r>
              <a:rPr lang="en-US" dirty="0" err="1" smtClean="0">
                <a:solidFill>
                  <a:srgbClr val="333333"/>
                </a:solidFill>
              </a:rPr>
              <a:t>pub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rgbClr val="795DA3"/>
                </a:solidFill>
              </a:rPr>
              <a:t>publish</a:t>
            </a:r>
            <a:r>
              <a:rPr lang="en-US" dirty="0"/>
              <a:t>(</a:t>
            </a:r>
            <a:r>
              <a:rPr lang="en-US" dirty="0">
                <a:solidFill>
                  <a:srgbClr val="183691"/>
                </a:solidFill>
              </a:rPr>
              <a:t>"a nice channel"</a:t>
            </a:r>
            <a:r>
              <a:rPr lang="en-US" dirty="0"/>
              <a:t>, </a:t>
            </a:r>
            <a:r>
              <a:rPr lang="en-US" dirty="0">
                <a:solidFill>
                  <a:srgbClr val="183691"/>
                </a:solidFill>
              </a:rPr>
              <a:t>"I am sending a message</a:t>
            </a:r>
            <a:r>
              <a:rPr lang="en-US" dirty="0" smtClean="0">
                <a:solidFill>
                  <a:srgbClr val="183691"/>
                </a:solidFill>
              </a:rPr>
              <a:t>."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}); </a:t>
            </a:r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333333"/>
                </a:solidFill>
              </a:rPr>
              <a:t>sub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rgbClr val="795DA3"/>
                </a:solidFill>
              </a:rPr>
              <a:t>on</a:t>
            </a:r>
            <a:r>
              <a:rPr lang="en-US" dirty="0"/>
              <a:t>(</a:t>
            </a:r>
            <a:r>
              <a:rPr lang="en-US" dirty="0">
                <a:solidFill>
                  <a:srgbClr val="183691"/>
                </a:solidFill>
              </a:rPr>
              <a:t>"message"</a:t>
            </a:r>
            <a:r>
              <a:rPr lang="en-US" dirty="0"/>
              <a:t>, </a:t>
            </a:r>
            <a:r>
              <a:rPr lang="en-US" dirty="0">
                <a:solidFill>
                  <a:srgbClr val="A71D5D"/>
                </a:solidFill>
              </a:rPr>
              <a:t>function</a:t>
            </a:r>
            <a:r>
              <a:rPr lang="en-US" dirty="0"/>
              <a:t> (</a:t>
            </a:r>
            <a:r>
              <a:rPr lang="en-US" dirty="0">
                <a:solidFill>
                  <a:srgbClr val="333333"/>
                </a:solidFill>
              </a:rPr>
              <a:t>channel</a:t>
            </a:r>
            <a:r>
              <a:rPr lang="en-US" dirty="0"/>
              <a:t>, </a:t>
            </a:r>
            <a:r>
              <a:rPr lang="en-US" dirty="0">
                <a:solidFill>
                  <a:srgbClr val="333333"/>
                </a:solidFill>
              </a:rPr>
              <a:t>message</a:t>
            </a:r>
            <a:r>
              <a:rPr lang="en-US" dirty="0"/>
              <a:t>) </a:t>
            </a:r>
            <a:r>
              <a:rPr lang="en-US" dirty="0" smtClean="0"/>
              <a:t>{</a:t>
            </a:r>
          </a:p>
          <a:p>
            <a:r>
              <a:rPr lang="en-US" dirty="0" smtClean="0">
                <a:solidFill>
                  <a:srgbClr val="795DA3"/>
                </a:solidFill>
              </a:rPr>
              <a:t>	</a:t>
            </a:r>
            <a:r>
              <a:rPr lang="en-US" dirty="0" err="1" smtClean="0">
                <a:solidFill>
                  <a:srgbClr val="795DA3"/>
                </a:solidFill>
              </a:rPr>
              <a:t>console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rgbClr val="0086B3"/>
                </a:solidFill>
              </a:rPr>
              <a:t>log</a:t>
            </a:r>
            <a:r>
              <a:rPr lang="en-US" dirty="0"/>
              <a:t>(</a:t>
            </a:r>
            <a:r>
              <a:rPr lang="en-US" dirty="0">
                <a:solidFill>
                  <a:srgbClr val="183691"/>
                </a:solidFill>
              </a:rPr>
              <a:t>"sub channel "</a:t>
            </a:r>
            <a:r>
              <a:rPr lang="en-US" dirty="0"/>
              <a:t> </a:t>
            </a:r>
            <a:r>
              <a:rPr lang="en-US" dirty="0">
                <a:solidFill>
                  <a:srgbClr val="A71D5D"/>
                </a:solidFill>
              </a:rPr>
              <a:t>+</a:t>
            </a:r>
            <a:r>
              <a:rPr lang="en-US" dirty="0"/>
              <a:t> channel </a:t>
            </a:r>
            <a:r>
              <a:rPr lang="en-US" dirty="0">
                <a:solidFill>
                  <a:srgbClr val="A71D5D"/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rgbClr val="183691"/>
                </a:solidFill>
              </a:rPr>
              <a:t>": "</a:t>
            </a:r>
            <a:r>
              <a:rPr lang="en-US" dirty="0"/>
              <a:t> </a:t>
            </a:r>
            <a:r>
              <a:rPr lang="en-US" dirty="0">
                <a:solidFill>
                  <a:srgbClr val="A71D5D"/>
                </a:solidFill>
              </a:rPr>
              <a:t>+</a:t>
            </a:r>
            <a:r>
              <a:rPr lang="en-US" dirty="0"/>
              <a:t> message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}); </a:t>
            </a:r>
          </a:p>
          <a:p>
            <a:endParaRPr lang="en-US" dirty="0" smtClean="0">
              <a:solidFill>
                <a:srgbClr val="333333"/>
              </a:solidFill>
            </a:endParaRPr>
          </a:p>
          <a:p>
            <a:r>
              <a:rPr lang="en-US" dirty="0" err="1" smtClean="0">
                <a:solidFill>
                  <a:srgbClr val="333333"/>
                </a:solidFill>
              </a:rPr>
              <a:t>sub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rgbClr val="795DA3"/>
                </a:solidFill>
              </a:rPr>
              <a:t>subscribe</a:t>
            </a:r>
            <a:r>
              <a:rPr lang="en-US" dirty="0"/>
              <a:t>(</a:t>
            </a:r>
            <a:r>
              <a:rPr lang="en-US" dirty="0">
                <a:solidFill>
                  <a:srgbClr val="183691"/>
                </a:solidFill>
              </a:rPr>
              <a:t>"a nice channel"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7237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2"/>
              </a:rPr>
              <a:t>Try Redis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Redis Commands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Using Redis with Node.js</a:t>
            </a:r>
            <a:endParaRPr lang="en-US" dirty="0" smtClean="0"/>
          </a:p>
          <a:p>
            <a:r>
              <a:rPr lang="en-US" dirty="0">
                <a:hlinkClick r:id="rId5"/>
              </a:rPr>
              <a:t>Using Redis to handle Session in </a:t>
            </a:r>
            <a:r>
              <a:rPr lang="en-US" dirty="0" smtClean="0">
                <a:hlinkClick r:id="rId5"/>
              </a:rPr>
              <a:t>Node.js</a:t>
            </a:r>
            <a:endParaRPr lang="en-US" dirty="0" smtClean="0"/>
          </a:p>
          <a:p>
            <a:r>
              <a:rPr lang="en-US" dirty="0" smtClean="0"/>
              <a:t>Redis as a service (including free plans):</a:t>
            </a:r>
          </a:p>
          <a:p>
            <a:pPr lvl="1"/>
            <a:r>
              <a:rPr lang="en-US" dirty="0" smtClean="0">
                <a:hlinkClick r:id="rId6"/>
              </a:rPr>
              <a:t>REDIS TO GO</a:t>
            </a:r>
            <a:r>
              <a:rPr lang="en-US" dirty="0" smtClean="0"/>
              <a:t>, </a:t>
            </a:r>
            <a:r>
              <a:rPr lang="en-US" dirty="0" smtClean="0">
                <a:hlinkClick r:id="rId7"/>
              </a:rPr>
              <a:t>Redis Cloud</a:t>
            </a:r>
            <a:endParaRPr lang="en-US" dirty="0" smtClean="0"/>
          </a:p>
          <a:p>
            <a:r>
              <a:rPr lang="en-US" dirty="0" smtClean="0">
                <a:hlinkClick r:id="rId8"/>
              </a:rPr>
              <a:t>Understanding </a:t>
            </a:r>
            <a:r>
              <a:rPr lang="en-US" dirty="0">
                <a:hlinkClick r:id="rId8"/>
              </a:rPr>
              <a:t>Garbage Collection and hunting Memory Leaks in Node.js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389</Words>
  <Application>Microsoft Macintosh PowerPoint</Application>
  <PresentationFormat>Custom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Franklin Gothic Medium</vt:lpstr>
      <vt:lpstr>Wingdings</vt:lpstr>
      <vt:lpstr>Arial</vt:lpstr>
      <vt:lpstr>Business Contrast 16x9</vt:lpstr>
      <vt:lpstr>Node JS - part 5  Redis</vt:lpstr>
      <vt:lpstr>Redis</vt:lpstr>
      <vt:lpstr>Redis – Node.js</vt:lpstr>
      <vt:lpstr>Redis – Storing Key-Value Pairs</vt:lpstr>
      <vt:lpstr>Redis – Storing Key-Value Pairs</vt:lpstr>
      <vt:lpstr>Redis – Storing Key-Value Pairs</vt:lpstr>
      <vt:lpstr>Redis – Storing Key-Value Pairs</vt:lpstr>
      <vt:lpstr>Redis – More Commands</vt:lpstr>
      <vt:lpstr>Redis – pub/sub</vt:lpstr>
      <vt:lpstr>Links</vt:lpstr>
      <vt:lpstr>Thank You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2016-03-15T13:03:36Z</dcterms:created>
  <dcterms:modified xsi:type="dcterms:W3CDTF">2016-12-07T01:53:03Z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